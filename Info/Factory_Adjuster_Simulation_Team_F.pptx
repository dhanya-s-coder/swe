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microsoft.com/office/2011/relationships/webextensiontaskpanes" Target="ppt/webextensions/taskpanes.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01ABFE58-A644-45E8-B757-77E2D667BCE6}"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0" y="0"/>
            <a:ext cx="0" cy="0"/>
          </a:xfrm>
          <a:prstGeom prst="rect">
            <a:avLst/>
          </a:prstGeom>
          <a:ln w="0">
            <a:noFill/>
          </a:ln>
        </p:spPr>
      </p:sp>
      <p:sp>
        <p:nvSpPr>
          <p:cNvPr id="6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Introduce the project name and its purpose. Fill in team member names and guide name on this slide.</a:t>
            </a:r>
            <a:endParaRPr lang="en-IN" sz="2000" b="0" u="none" strike="noStrike">
              <a:solidFill>
                <a:srgbClr val="000000"/>
              </a:solidFill>
              <a:effectLst/>
              <a:uFillTx/>
              <a:latin typeface="Arial"/>
            </a:endParaRPr>
          </a:p>
        </p:txBody>
      </p:sp>
      <p:sp>
        <p:nvSpPr>
          <p:cNvPr id="700"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686780D-4D3A-4907-9E77-484144D11BEF}"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0" y="0"/>
            <a:ext cx="0" cy="0"/>
          </a:xfrm>
          <a:prstGeom prst="rect">
            <a:avLst/>
          </a:prstGeom>
          <a:ln w="0">
            <a:noFill/>
          </a:ln>
        </p:spPr>
      </p:sp>
      <p:sp>
        <p:nvSpPr>
          <p:cNvPr id="7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Read the statement box, then the six problems. Every problem on the right is one that the simulator helps study.</a:t>
            </a:r>
            <a:endParaRPr lang="en-IN" sz="2000" b="0" u="none" strike="noStrike">
              <a:solidFill>
                <a:srgbClr val="000000"/>
              </a:solidFill>
              <a:effectLst/>
              <a:uFillTx/>
              <a:latin typeface="Arial"/>
            </a:endParaRPr>
          </a:p>
        </p:txBody>
      </p:sp>
      <p:sp>
        <p:nvSpPr>
          <p:cNvPr id="703"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58E5B5D9-5B59-4325-9D56-D3E0DA123E0A}"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0" y="0"/>
            <a:ext cx="0" cy="0"/>
          </a:xfrm>
          <a:prstGeom prst="rect">
            <a:avLst/>
          </a:prstGeom>
          <a:ln w="0">
            <a:noFill/>
          </a:ln>
        </p:spPr>
      </p:sp>
      <p:sp>
        <p:nvSpPr>
          <p:cNvPr id="7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State the main objective first, then the seven specific objectives.</a:t>
            </a:r>
            <a:endParaRPr lang="en-IN" sz="2000" b="0" u="none" strike="noStrike">
              <a:solidFill>
                <a:srgbClr val="000000"/>
              </a:solidFill>
              <a:effectLst/>
              <a:uFillTx/>
              <a:latin typeface="Arial"/>
            </a:endParaRPr>
          </a:p>
        </p:txBody>
      </p:sp>
      <p:sp>
        <p:nvSpPr>
          <p:cNvPr id="706"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CC78D37-390C-4C37-9626-9FCDB3FCF668}"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0" y="0"/>
            <a:ext cx="0" cy="0"/>
          </a:xfrm>
          <a:prstGeom prst="rect">
            <a:avLst/>
          </a:prstGeom>
          <a:ln w="0">
            <a:noFill/>
          </a:ln>
        </p:spPr>
      </p:sp>
      <p:sp>
        <p:nvSpPr>
          <p:cNvPr id="70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Machines break, adjusters fix them, and the simulator estimates utilization, waiting and downtime without touching a real factory.</a:t>
            </a:r>
            <a:endParaRPr lang="en-IN" sz="2000" b="0" u="none" strike="noStrike">
              <a:solidFill>
                <a:srgbClr val="000000"/>
              </a:solidFill>
              <a:effectLst/>
              <a:uFillTx/>
              <a:latin typeface="Arial"/>
            </a:endParaRPr>
          </a:p>
        </p:txBody>
      </p:sp>
      <p:sp>
        <p:nvSpPr>
          <p:cNvPr id="709"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64B56E00-A24C-4F02-A397-EAC9C74994FD}"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0" y="0"/>
            <a:ext cx="0" cy="0"/>
          </a:xfrm>
          <a:prstGeom prst="rect">
            <a:avLst/>
          </a:prstGeom>
          <a:ln w="0">
            <a:noFill/>
          </a:ln>
        </p:spPr>
      </p:sp>
      <p:sp>
        <p:nvSpPr>
          <p:cNvPr id="71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dashboard blocks running when no machine groups exist and checks unique adjuster IDs.</a:t>
            </a:r>
            <a:endParaRPr lang="en-IN" sz="2000" b="0" u="none" strike="noStrike">
              <a:solidFill>
                <a:srgbClr val="000000"/>
              </a:solidFill>
              <a:effectLst/>
              <a:uFillTx/>
              <a:latin typeface="Arial"/>
            </a:endParaRPr>
          </a:p>
        </p:txBody>
      </p:sp>
      <p:sp>
        <p:nvSpPr>
          <p:cNvPr id="712"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96B065E-ECF1-4F15-8C7B-AA92D7DFBE28}"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0" y="0"/>
            <a:ext cx="0" cy="0"/>
          </a:xfrm>
          <a:prstGeom prst="rect">
            <a:avLst/>
          </a:prstGeom>
          <a:ln w="0">
            <a:noFill/>
          </a:ln>
        </p:spPr>
      </p:sp>
      <p:sp>
        <p:nvSpPr>
          <p:cNvPr id="71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dashboard calls /simulate and displays the returned metrics.</a:t>
            </a:r>
            <a:endParaRPr lang="en-IN" sz="2000" b="0" u="none" strike="noStrike">
              <a:solidFill>
                <a:srgbClr val="000000"/>
              </a:solidFill>
              <a:effectLst/>
              <a:uFillTx/>
              <a:latin typeface="Arial"/>
            </a:endParaRPr>
          </a:p>
        </p:txBody>
      </p:sp>
      <p:sp>
        <p:nvSpPr>
          <p:cNvPr id="715"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59C9D480-3F43-428A-AB07-CED93A8E3BF0}"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0" y="0"/>
            <a:ext cx="0" cy="0"/>
          </a:xfrm>
          <a:prstGeom prst="rect">
            <a:avLst/>
          </a:prstGeom>
          <a:ln w="0">
            <a:noFill/>
          </a:ln>
        </p:spPr>
      </p:sp>
      <p:sp>
        <p:nvSpPr>
          <p:cNvPr id="71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Experiments are available through the API only; the dashboard does not expose them yet.</a:t>
            </a:r>
            <a:endParaRPr lang="en-IN" sz="2000" b="0" u="none" strike="noStrike">
              <a:solidFill>
                <a:srgbClr val="000000"/>
              </a:solidFill>
              <a:effectLst/>
              <a:uFillTx/>
              <a:latin typeface="Arial"/>
            </a:endParaRPr>
          </a:p>
        </p:txBody>
      </p:sp>
      <p:sp>
        <p:nvSpPr>
          <p:cNvPr id="718"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57E93D3-CD1D-4388-B7CA-26428B42672E}"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0" y="0"/>
            <a:ext cx="0" cy="0"/>
          </a:xfrm>
          <a:prstGeom prst="rect">
            <a:avLst/>
          </a:prstGeom>
          <a:ln w="0">
            <a:noFill/>
          </a:ln>
        </p:spPr>
      </p:sp>
      <p:sp>
        <p:nvSpPr>
          <p:cNvPr id="72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Six modules connected through the API; events are ordered by time with a sequence number for ties.</a:t>
            </a:r>
            <a:endParaRPr lang="en-IN" sz="2000" b="0" u="none" strike="noStrike">
              <a:solidFill>
                <a:srgbClr val="000000"/>
              </a:solidFill>
              <a:effectLst/>
              <a:uFillTx/>
              <a:latin typeface="Arial"/>
            </a:endParaRPr>
          </a:p>
        </p:txBody>
      </p:sp>
      <p:sp>
        <p:nvSpPr>
          <p:cNvPr id="721"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C5A9370-4740-46BA-A282-64D5CBC7F9B0}"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0" y="0"/>
            <a:ext cx="0" cy="0"/>
          </a:xfrm>
          <a:prstGeom prst="rect">
            <a:avLst/>
          </a:prstGeom>
          <a:ln w="0">
            <a:noFill/>
          </a:ln>
        </p:spPr>
      </p:sp>
      <p:sp>
        <p:nvSpPr>
          <p:cNvPr id="72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Three endpoints. /simulate runs one scenario; /experiment runs factor combinations.</a:t>
            </a:r>
            <a:endParaRPr lang="en-IN" sz="2000" b="0" u="none" strike="noStrike">
              <a:solidFill>
                <a:srgbClr val="000000"/>
              </a:solidFill>
              <a:effectLst/>
              <a:uFillTx/>
              <a:latin typeface="Arial"/>
            </a:endParaRPr>
          </a:p>
        </p:txBody>
      </p:sp>
      <p:sp>
        <p:nvSpPr>
          <p:cNvPr id="724"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58122D2F-355E-47BE-A30D-33472DD55EEB}"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0" y="0"/>
            <a:ext cx="0" cy="0"/>
          </a:xfrm>
          <a:prstGeom prst="rect">
            <a:avLst/>
          </a:prstGeom>
          <a:ln w="0">
            <a:noFill/>
          </a:ln>
        </p:spPr>
      </p:sp>
      <p:sp>
        <p:nvSpPr>
          <p:cNvPr id="72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UI, API, simulation core and persistence are separate modules.</a:t>
            </a:r>
            <a:endParaRPr lang="en-IN" sz="2000" b="0" u="none" strike="noStrike">
              <a:solidFill>
                <a:srgbClr val="000000"/>
              </a:solidFill>
              <a:effectLst/>
              <a:uFillTx/>
              <a:latin typeface="Arial"/>
            </a:endParaRPr>
          </a:p>
        </p:txBody>
      </p:sp>
      <p:sp>
        <p:nvSpPr>
          <p:cNvPr id="727"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5750F4D-BF28-48AE-A80E-E022E1602EE2}"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0" y="0"/>
            <a:ext cx="0" cy="0"/>
          </a:xfrm>
          <a:prstGeom prst="rect">
            <a:avLst/>
          </a:prstGeom>
          <a:ln w="0">
            <a:noFill/>
          </a:ln>
        </p:spPr>
      </p:sp>
      <p:sp>
        <p:nvSpPr>
          <p:cNvPr id="72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Numbering follows the specification document.</a:t>
            </a:r>
            <a:endParaRPr lang="en-IN" sz="2000" b="0" u="none" strike="noStrike">
              <a:solidFill>
                <a:srgbClr val="000000"/>
              </a:solidFill>
              <a:effectLst/>
              <a:uFillTx/>
              <a:latin typeface="Arial"/>
            </a:endParaRPr>
          </a:p>
        </p:txBody>
      </p:sp>
      <p:sp>
        <p:nvSpPr>
          <p:cNvPr id="730"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325E59E-5389-485E-AA38-108AB2984910}"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0" y="0"/>
            <a:ext cx="0" cy="0"/>
          </a:xfrm>
          <a:prstGeom prst="rect">
            <a:avLst/>
          </a:prstGeom>
          <a:ln w="0">
            <a:noFill/>
          </a:ln>
        </p:spPr>
      </p:sp>
      <p:sp>
        <p:nvSpPr>
          <p:cNvPr id="73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Follows the specification document.</a:t>
            </a:r>
            <a:endParaRPr lang="en-IN" sz="2000" b="0" u="none" strike="noStrike">
              <a:solidFill>
                <a:srgbClr val="000000"/>
              </a:solidFill>
              <a:effectLst/>
              <a:uFillTx/>
              <a:latin typeface="Arial"/>
            </a:endParaRPr>
          </a:p>
        </p:txBody>
      </p:sp>
      <p:sp>
        <p:nvSpPr>
          <p:cNvPr id="733"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5DF82D4-9BC5-497A-AE1A-D8A90F7C3DA2}"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0" y="0"/>
            <a:ext cx="0" cy="0"/>
          </a:xfrm>
          <a:prstGeom prst="rect">
            <a:avLst/>
          </a:prstGeom>
          <a:ln w="0">
            <a:noFill/>
          </a:ln>
        </p:spPr>
      </p:sp>
      <p:sp>
        <p:nvSpPr>
          <p:cNvPr id="73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One actor. Comparing experiments goes through the API, not the dashboard.</a:t>
            </a:r>
            <a:endParaRPr lang="en-IN" sz="2000" b="0" u="none" strike="noStrike">
              <a:solidFill>
                <a:srgbClr val="000000"/>
              </a:solidFill>
              <a:effectLst/>
              <a:uFillTx/>
              <a:latin typeface="Arial"/>
            </a:endParaRPr>
          </a:p>
        </p:txBody>
      </p:sp>
      <p:sp>
        <p:nvSpPr>
          <p:cNvPr id="736"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2242369-C176-4859-A41B-289E3E3E174D}"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0" y="0"/>
            <a:ext cx="0" cy="0"/>
          </a:xfrm>
          <a:prstGeom prst="rect">
            <a:avLst/>
          </a:prstGeom>
          <a:ln w="0">
            <a:noFill/>
          </a:ln>
        </p:spPr>
      </p:sp>
      <p:sp>
        <p:nvSpPr>
          <p:cNvPr id="73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Scenario contains machine and adjuster configs; the simulator creates machines and adjusters; the service calls the simulator and optionally saves.</a:t>
            </a:r>
            <a:endParaRPr lang="en-IN" sz="2000" b="0" u="none" strike="noStrike">
              <a:solidFill>
                <a:srgbClr val="000000"/>
              </a:solidFill>
              <a:effectLst/>
              <a:uFillTx/>
              <a:latin typeface="Arial"/>
            </a:endParaRPr>
          </a:p>
        </p:txBody>
      </p:sp>
      <p:sp>
        <p:nvSpPr>
          <p:cNvPr id="739"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0484E7C-CA71-4391-9FBA-09742C1D4FB6}"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0" y="0"/>
            <a:ext cx="0" cy="0"/>
          </a:xfrm>
          <a:prstGeom prst="rect">
            <a:avLst/>
          </a:prstGeom>
          <a:ln w="0">
            <a:noFill/>
          </a:ln>
        </p:spPr>
      </p:sp>
      <p:sp>
        <p:nvSpPr>
          <p:cNvPr id="74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Full /simulate flow: validation, event loop, failure and repair handling, then results and optional save.</a:t>
            </a:r>
            <a:endParaRPr lang="en-IN" sz="2000" b="0" u="none" strike="noStrike">
              <a:solidFill>
                <a:srgbClr val="000000"/>
              </a:solidFill>
              <a:effectLst/>
              <a:uFillTx/>
              <a:latin typeface="Arial"/>
            </a:endParaRPr>
          </a:p>
        </p:txBody>
      </p:sp>
      <p:sp>
        <p:nvSpPr>
          <p:cNvPr id="742"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6514A1B-82C9-448B-B360-101EBD21672A}"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0" y="0"/>
            <a:ext cx="0" cy="0"/>
          </a:xfrm>
          <a:prstGeom prst="rect">
            <a:avLst/>
          </a:prstGeom>
          <a:ln w="0">
            <a:noFill/>
          </a:ln>
        </p:spPr>
      </p:sp>
      <p:sp>
        <p:nvSpPr>
          <p:cNvPr id="74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endParaRPr lang="en-IN" sz="1800" b="0" u="none" strike="noStrike">
              <a:solidFill>
                <a:srgbClr val="000000"/>
              </a:solidFill>
              <a:effectLst/>
              <a:uFillTx/>
              <a:latin typeface="Arial"/>
            </a:endParaRPr>
          </a:p>
        </p:txBody>
      </p:sp>
      <p:sp>
        <p:nvSpPr>
          <p:cNvPr id="745"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285D40AB-0A01-4D1E-AE49-4BF9170B81F4}" type="slidenum">
              <a:rPr lang="en-US" sz="1800" b="0" u="none" strike="noStrike">
                <a:solidFill>
                  <a:schemeClr val="dk1"/>
                </a:solidFill>
                <a:effectLst/>
                <a:uFillTx/>
                <a:latin typeface="+mn-lt"/>
                <a:ea typeface="+mn-ea"/>
              </a:rPr>
              <a:t>1</a:t>
            </a:fld>
            <a:endParaRPr lang="en-IN"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0" y="0"/>
            <a:ext cx="0" cy="0"/>
          </a:xfrm>
          <a:prstGeom prst="rect">
            <a:avLst/>
          </a:prstGeom>
          <a:ln w="0">
            <a:noFill/>
          </a:ln>
        </p:spPr>
      </p:sp>
      <p:sp>
        <p:nvSpPr>
          <p:cNvPr id="74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State charts for the machine and adjuster lifecycles from the specification.</a:t>
            </a:r>
            <a:endParaRPr lang="en-IN" sz="2000" b="0" u="none" strike="noStrike">
              <a:solidFill>
                <a:srgbClr val="000000"/>
              </a:solidFill>
              <a:effectLst/>
              <a:uFillTx/>
              <a:latin typeface="Arial"/>
            </a:endParaRPr>
          </a:p>
        </p:txBody>
      </p:sp>
      <p:sp>
        <p:nvSpPr>
          <p:cNvPr id="748"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9E641870-FB5D-4FC1-971D-28393CCA0340}"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0" y="0"/>
            <a:ext cx="0" cy="0"/>
          </a:xfrm>
          <a:prstGeom prst="rect">
            <a:avLst/>
          </a:prstGeom>
          <a:ln w="0">
            <a:noFill/>
          </a:ln>
        </p:spPr>
      </p:sp>
      <p:sp>
        <p:nvSpPr>
          <p:cNvPr id="75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Follows the specification sequence diagram.</a:t>
            </a:r>
            <a:endParaRPr lang="en-IN" sz="2000" b="0" u="none" strike="noStrike">
              <a:solidFill>
                <a:srgbClr val="000000"/>
              </a:solidFill>
              <a:effectLst/>
              <a:uFillTx/>
              <a:latin typeface="Arial"/>
            </a:endParaRPr>
          </a:p>
        </p:txBody>
      </p:sp>
      <p:sp>
        <p:nvSpPr>
          <p:cNvPr id="751"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BAE53ED-F74B-40B4-A7D1-66E3CA1516D1}"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0" y="0"/>
            <a:ext cx="0" cy="0"/>
          </a:xfrm>
          <a:prstGeom prst="rect">
            <a:avLst/>
          </a:prstGeom>
          <a:ln w="0">
            <a:noFill/>
          </a:ln>
        </p:spPr>
      </p:sp>
      <p:sp>
        <p:nvSpPr>
          <p:cNvPr id="75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Experiment flow through the API.</a:t>
            </a:r>
            <a:endParaRPr lang="en-IN" sz="2000" b="0" u="none" strike="noStrike">
              <a:solidFill>
                <a:srgbClr val="000000"/>
              </a:solidFill>
              <a:effectLst/>
              <a:uFillTx/>
              <a:latin typeface="Arial"/>
            </a:endParaRPr>
          </a:p>
        </p:txBody>
      </p:sp>
      <p:sp>
        <p:nvSpPr>
          <p:cNvPr id="754"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DBD0A19-DD02-41F8-B659-0CC140D133A4}"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0" y="0"/>
            <a:ext cx="0" cy="0"/>
          </a:xfrm>
          <a:prstGeom prst="rect">
            <a:avLst/>
          </a:prstGeom>
          <a:ln w="0">
            <a:noFill/>
          </a:ln>
        </p:spPr>
      </p:sp>
      <p:sp>
        <p:nvSpPr>
          <p:cNvPr id="75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Normal flow from the specification.</a:t>
            </a:r>
            <a:endParaRPr lang="en-IN" sz="2000" b="0" u="none" strike="noStrike">
              <a:solidFill>
                <a:srgbClr val="000000"/>
              </a:solidFill>
              <a:effectLst/>
              <a:uFillTx/>
              <a:latin typeface="Arial"/>
            </a:endParaRPr>
          </a:p>
        </p:txBody>
      </p:sp>
      <p:sp>
        <p:nvSpPr>
          <p:cNvPr id="757"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642C45AC-8F9D-4C30-87E8-596CB37DB787}"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0" y="0"/>
            <a:ext cx="0" cy="0"/>
          </a:xfrm>
          <a:prstGeom prst="rect">
            <a:avLst/>
          </a:prstGeom>
          <a:ln w="0">
            <a:noFill/>
          </a:ln>
        </p:spPr>
      </p:sp>
      <p:sp>
        <p:nvSpPr>
          <p:cNvPr id="75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Derived from the specification. Only data crossing the boundary is shown.</a:t>
            </a:r>
            <a:endParaRPr lang="en-IN" sz="2000" b="0" u="none" strike="noStrike">
              <a:solidFill>
                <a:srgbClr val="000000"/>
              </a:solidFill>
              <a:effectLst/>
              <a:uFillTx/>
              <a:latin typeface="Arial"/>
            </a:endParaRPr>
          </a:p>
        </p:txBody>
      </p:sp>
      <p:sp>
        <p:nvSpPr>
          <p:cNvPr id="760"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6DA5F71-F8E0-4D67-85DD-4E0EFB5B3F3F}"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Img"/>
          </p:nvPr>
        </p:nvSpPr>
        <p:spPr>
          <a:xfrm>
            <a:off x="0" y="0"/>
            <a:ext cx="0" cy="0"/>
          </a:xfrm>
          <a:prstGeom prst="rect">
            <a:avLst/>
          </a:prstGeom>
          <a:ln w="0">
            <a:noFill/>
          </a:ln>
        </p:spPr>
      </p:sp>
      <p:sp>
        <p:nvSpPr>
          <p:cNvPr id="76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Derived from the specification: four processes and three stores.</a:t>
            </a:r>
            <a:endParaRPr lang="en-IN" sz="2000" b="0" u="none" strike="noStrike">
              <a:solidFill>
                <a:srgbClr val="000000"/>
              </a:solidFill>
              <a:effectLst/>
              <a:uFillTx/>
              <a:latin typeface="Arial"/>
            </a:endParaRPr>
          </a:p>
        </p:txBody>
      </p:sp>
      <p:sp>
        <p:nvSpPr>
          <p:cNvPr id="763"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06117CC-D454-4CFD-B293-57DA0269F5A8}"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PlaceHolder 1"/>
          <p:cNvSpPr>
            <a:spLocks noGrp="1"/>
          </p:cNvSpPr>
          <p:nvPr>
            <p:ph type="sldImg"/>
          </p:nvPr>
        </p:nvSpPr>
        <p:spPr>
          <a:xfrm>
            <a:off x="0" y="0"/>
            <a:ext cx="0" cy="0"/>
          </a:xfrm>
          <a:prstGeom prst="rect">
            <a:avLst/>
          </a:prstGeom>
          <a:ln w="0">
            <a:noFill/>
          </a:ln>
        </p:spPr>
      </p:sp>
      <p:sp>
        <p:nvSpPr>
          <p:cNvPr id="76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Process 2.0 opened into six sub-processes.</a:t>
            </a:r>
            <a:endParaRPr lang="en-IN" sz="2000" b="0" u="none" strike="noStrike">
              <a:solidFill>
                <a:srgbClr val="000000"/>
              </a:solidFill>
              <a:effectLst/>
              <a:uFillTx/>
              <a:latin typeface="Arial"/>
            </a:endParaRPr>
          </a:p>
        </p:txBody>
      </p:sp>
      <p:sp>
        <p:nvSpPr>
          <p:cNvPr id="766"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E95539D-9FB3-4B35-8A45-23521F1C66F5}"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0" y="0"/>
            <a:ext cx="0" cy="0"/>
          </a:xfrm>
          <a:prstGeom prst="rect">
            <a:avLst/>
          </a:prstGeom>
          <a:ln w="0">
            <a:noFill/>
          </a:ln>
        </p:spPr>
      </p:sp>
      <p:sp>
        <p:nvSpPr>
          <p:cNvPr id="76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Process 4.0 opened into six sub-processes.</a:t>
            </a:r>
            <a:endParaRPr lang="en-IN" sz="2000" b="0" u="none" strike="noStrike">
              <a:solidFill>
                <a:srgbClr val="000000"/>
              </a:solidFill>
              <a:effectLst/>
              <a:uFillTx/>
              <a:latin typeface="Arial"/>
            </a:endParaRPr>
          </a:p>
        </p:txBody>
      </p:sp>
      <p:sp>
        <p:nvSpPr>
          <p:cNvPr id="769"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E7B2944-062D-4EF3-8792-E6DA20FCF37C}"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sldImg"/>
          </p:nvPr>
        </p:nvSpPr>
        <p:spPr>
          <a:xfrm>
            <a:off x="0" y="0"/>
            <a:ext cx="0" cy="0"/>
          </a:xfrm>
          <a:prstGeom prst="rect">
            <a:avLst/>
          </a:prstGeom>
          <a:ln w="0">
            <a:noFill/>
          </a:ln>
        </p:spPr>
      </p:sp>
      <p:sp>
        <p:nvSpPr>
          <p:cNvPr id="77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Scenarios follow the acceptance criteria in the specification. No measured results are claimed.</a:t>
            </a:r>
            <a:endParaRPr lang="en-IN" sz="2000" b="0" u="none" strike="noStrike">
              <a:solidFill>
                <a:srgbClr val="000000"/>
              </a:solidFill>
              <a:effectLst/>
              <a:uFillTx/>
              <a:latin typeface="Arial"/>
            </a:endParaRPr>
          </a:p>
        </p:txBody>
      </p:sp>
      <p:sp>
        <p:nvSpPr>
          <p:cNvPr id="772"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6649EB0E-9C69-49CD-A231-D11A835197CE}"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0" y="0"/>
            <a:ext cx="0" cy="0"/>
          </a:xfrm>
          <a:prstGeom prst="rect">
            <a:avLst/>
          </a:prstGeom>
          <a:ln w="0">
            <a:noFill/>
          </a:ln>
        </p:spPr>
      </p:sp>
      <p:sp>
        <p:nvSpPr>
          <p:cNvPr id="77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Limitations come from the specification. Precision-sensitive staffing decisions need the horizon fix first.</a:t>
            </a:r>
            <a:endParaRPr lang="en-IN" sz="2000" b="0" u="none" strike="noStrike">
              <a:solidFill>
                <a:srgbClr val="000000"/>
              </a:solidFill>
              <a:effectLst/>
              <a:uFillTx/>
              <a:latin typeface="Arial"/>
            </a:endParaRPr>
          </a:p>
        </p:txBody>
      </p:sp>
      <p:sp>
        <p:nvSpPr>
          <p:cNvPr id="775"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92077482-D6EC-4932-8EEF-474D0AF4968F}"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sldImg"/>
          </p:nvPr>
        </p:nvSpPr>
        <p:spPr>
          <a:xfrm>
            <a:off x="0" y="0"/>
            <a:ext cx="0" cy="0"/>
          </a:xfrm>
          <a:prstGeom prst="rect">
            <a:avLst/>
          </a:prstGeom>
          <a:ln w="0">
            <a:noFill/>
          </a:ln>
        </p:spPr>
      </p:sp>
      <p:sp>
        <p:nvSpPr>
          <p:cNvPr id="77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Summarize in three sentences and invite questions.</a:t>
            </a:r>
            <a:endParaRPr lang="en-IN" sz="2000" b="0" u="none" strike="noStrike">
              <a:solidFill>
                <a:srgbClr val="000000"/>
              </a:solidFill>
              <a:effectLst/>
              <a:uFillTx/>
              <a:latin typeface="Arial"/>
            </a:endParaRPr>
          </a:p>
        </p:txBody>
      </p:sp>
      <p:sp>
        <p:nvSpPr>
          <p:cNvPr id="778"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FF8F79E-926C-4F2E-BC62-E4DDB6D147CE}"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10" name="Text 0"/>
          <p:cNvSpPr/>
          <p:nvPr/>
        </p:nvSpPr>
        <p:spPr>
          <a:xfrm>
            <a:off x="731520" y="1188720"/>
            <a:ext cx="100580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F28C28"/>
                </a:solidFill>
                <a:effectLst/>
                <a:uFillTx/>
                <a:latin typeface="Georgia"/>
                <a:ea typeface="Georgia"/>
              </a:rPr>
              <a:t>Factory Adjuster </a:t>
            </a:r>
            <a:r>
              <a:rPr lang="en-US" sz="4400" b="1" u="none" strike="noStrike">
                <a:solidFill>
                  <a:srgbClr val="F28C28"/>
                </a:solidFill>
                <a:effectLst/>
                <a:uFillTx/>
                <a:latin typeface="Georgia"/>
                <a:ea typeface="Georgia"/>
              </a:rPr>
              <a:t>Simulation</a:t>
            </a:r>
            <a:endParaRPr lang="en-IN" sz="4400" b="0" u="none" strike="noStrike">
              <a:solidFill>
                <a:srgbClr val="FFFFFF"/>
              </a:solidFill>
              <a:effectLst/>
              <a:uFillTx/>
              <a:latin typeface="Arial"/>
            </a:endParaRPr>
          </a:p>
        </p:txBody>
      </p:sp>
      <p:sp>
        <p:nvSpPr>
          <p:cNvPr id="11" name="Text 1"/>
          <p:cNvSpPr/>
          <p:nvPr/>
        </p:nvSpPr>
        <p:spPr>
          <a:xfrm>
            <a:off x="731520" y="2194560"/>
            <a:ext cx="10058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FFFFFF"/>
                </a:solidFill>
                <a:effectLst/>
                <a:uFillTx/>
                <a:latin typeface="Georgia"/>
                <a:ea typeface="Georgia"/>
              </a:rPr>
              <a:t>Discrete-Event Simulation</a:t>
            </a:r>
            <a:endParaRPr lang="en-IN" sz="2600" b="0" u="none" strike="noStrike">
              <a:solidFill>
                <a:srgbClr val="FFFFFF"/>
              </a:solidFill>
              <a:effectLst/>
              <a:uFillTx/>
              <a:latin typeface="Arial"/>
            </a:endParaRPr>
          </a:p>
        </p:txBody>
      </p:sp>
      <p:sp>
        <p:nvSpPr>
          <p:cNvPr id="12" name="Text 2"/>
          <p:cNvSpPr/>
          <p:nvPr/>
        </p:nvSpPr>
        <p:spPr>
          <a:xfrm>
            <a:off x="731520" y="2834640"/>
            <a:ext cx="10058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F7F1E3"/>
                </a:solidFill>
                <a:effectLst/>
                <a:uFillTx/>
                <a:latin typeface="Calibri"/>
                <a:ea typeface="Calibri"/>
              </a:rPr>
              <a:t>Software Engineering Project</a:t>
            </a:r>
            <a:endParaRPr lang="en-IN" sz="1600" b="0" u="none" strike="noStrike">
              <a:solidFill>
                <a:srgbClr val="FFFFFF"/>
              </a:solidFill>
              <a:effectLst/>
              <a:uFillTx/>
              <a:latin typeface="Arial"/>
            </a:endParaRPr>
          </a:p>
        </p:txBody>
      </p:sp>
      <p:sp>
        <p:nvSpPr>
          <p:cNvPr id="13" name="Text 3"/>
          <p:cNvSpPr/>
          <p:nvPr/>
        </p:nvSpPr>
        <p:spPr>
          <a:xfrm>
            <a:off x="731520" y="420624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8C28"/>
                </a:solidFill>
                <a:effectLst/>
                <a:uFillTx/>
                <a:latin typeface="Calibri"/>
                <a:ea typeface="Calibri"/>
              </a:rPr>
              <a:t>Team members:</a:t>
            </a:r>
            <a:endParaRPr lang="en-IN" sz="1400" b="0" u="none" strike="noStrike">
              <a:solidFill>
                <a:srgbClr val="FFFFFF"/>
              </a:solidFill>
              <a:effectLst/>
              <a:uFillTx/>
              <a:latin typeface="Arial"/>
            </a:endParaRPr>
          </a:p>
        </p:txBody>
      </p:sp>
      <p:sp>
        <p:nvSpPr>
          <p:cNvPr id="14" name="Text 4"/>
          <p:cNvSpPr/>
          <p:nvPr/>
        </p:nvSpPr>
        <p:spPr>
          <a:xfrm>
            <a:off x="731520" y="4572000"/>
            <a:ext cx="5486040" cy="1462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F7F1E3"/>
                </a:solidFill>
                <a:effectLst/>
                <a:uFillTx/>
                <a:latin typeface="Calibri"/>
                <a:ea typeface="Calibri"/>
              </a:rPr>
              <a:t>Dhanya Gautam  24je0613</a:t>
            </a:r>
            <a:endParaRPr lang="en-IN"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7F1E3"/>
                </a:solidFill>
                <a:effectLst/>
                <a:uFillTx/>
                <a:latin typeface="Calibri"/>
                <a:ea typeface="Calibri"/>
              </a:rPr>
              <a:t>Dharavat Hrishikesh 24je0614</a:t>
            </a:r>
            <a:endParaRPr lang="en-IN"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7F1E3"/>
                </a:solidFill>
                <a:effectLst/>
                <a:uFillTx/>
                <a:latin typeface="Calibri"/>
                <a:ea typeface="Calibri"/>
              </a:rPr>
              <a:t>Dhruv Thakkar 24je0615</a:t>
            </a:r>
            <a:endParaRPr lang="en-IN"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7F1E3"/>
                </a:solidFill>
                <a:effectLst/>
                <a:uFillTx/>
                <a:latin typeface="Calibri"/>
                <a:ea typeface="Calibri"/>
              </a:rPr>
              <a:t>Dipesh Jain 24je0616</a:t>
            </a:r>
            <a:endParaRPr lang="en-IN"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7F1E3"/>
                </a:solidFill>
                <a:effectLst/>
                <a:uFillTx/>
                <a:latin typeface="Calibri"/>
                <a:ea typeface="Calibri"/>
              </a:rPr>
              <a:t>Dwibhashyam S S S Aravind 24je0617</a:t>
            </a:r>
            <a:endParaRPr lang="en-IN"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7F1E3"/>
                </a:solidFill>
                <a:effectLst/>
                <a:uFillTx/>
                <a:latin typeface="Calibri"/>
                <a:ea typeface="Calibri"/>
              </a:rPr>
              <a:t>Gattu Sri Harsha 24je0618</a:t>
            </a:r>
            <a:endParaRPr lang="en-IN"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15"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Problem Statement</a:t>
            </a:r>
            <a:endParaRPr lang="en-IN" sz="3000" b="0" u="none" strike="noStrike">
              <a:solidFill>
                <a:srgbClr val="000000"/>
              </a:solidFill>
              <a:effectLst/>
              <a:uFillTx/>
              <a:latin typeface="Arial"/>
            </a:endParaRPr>
          </a:p>
        </p:txBody>
      </p:sp>
      <p:sp>
        <p:nvSpPr>
          <p:cNvPr id="16"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a:t>
            </a:r>
            <a:endParaRPr lang="en-IN" sz="1100" b="0" u="none" strike="noStrike">
              <a:solidFill>
                <a:srgbClr val="000000"/>
              </a:solidFill>
              <a:effectLst/>
              <a:uFillTx/>
              <a:latin typeface="Arial"/>
            </a:endParaRPr>
          </a:p>
        </p:txBody>
      </p:sp>
      <p:sp>
        <p:nvSpPr>
          <p:cNvPr id="17" name="Shape 2"/>
          <p:cNvSpPr/>
          <p:nvPr/>
        </p:nvSpPr>
        <p:spPr>
          <a:xfrm>
            <a:off x="548640" y="1371600"/>
            <a:ext cx="4937400" cy="4480200"/>
          </a:xfrm>
          <a:prstGeom prst="roundRect">
            <a:avLst>
              <a:gd name="adj" fmla="val 1633"/>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8" name="Text 3"/>
          <p:cNvSpPr/>
          <p:nvPr/>
        </p:nvSpPr>
        <p:spPr>
          <a:xfrm>
            <a:off x="822960" y="160020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8C28"/>
                </a:solidFill>
                <a:effectLst/>
                <a:uFillTx/>
                <a:latin typeface="Calibri"/>
                <a:ea typeface="Calibri"/>
              </a:rPr>
              <a:t>THE </a:t>
            </a:r>
            <a:r>
              <a:rPr lang="en-US" sz="1400" b="1" u="none" strike="noStrike">
                <a:solidFill>
                  <a:srgbClr val="F28C28"/>
                </a:solidFill>
                <a:effectLst/>
                <a:uFillTx/>
                <a:latin typeface="Calibri"/>
                <a:ea typeface="Calibri"/>
              </a:rPr>
              <a:t>PRO</a:t>
            </a:r>
            <a:r>
              <a:rPr lang="en-US" sz="1400" b="1" u="none" strike="noStrike">
                <a:solidFill>
                  <a:srgbClr val="F28C28"/>
                </a:solidFill>
                <a:effectLst/>
                <a:uFillTx/>
                <a:latin typeface="Calibri"/>
                <a:ea typeface="Calibri"/>
              </a:rPr>
              <a:t>BLE</a:t>
            </a:r>
            <a:r>
              <a:rPr lang="en-US" sz="1400" b="1" u="none" strike="noStrike">
                <a:solidFill>
                  <a:srgbClr val="F28C28"/>
                </a:solidFill>
                <a:effectLst/>
                <a:uFillTx/>
                <a:latin typeface="Calibri"/>
                <a:ea typeface="Calibri"/>
              </a:rPr>
              <a:t>M</a:t>
            </a:r>
            <a:endParaRPr lang="en-IN" sz="1400" b="0" u="none" strike="noStrike">
              <a:solidFill>
                <a:srgbClr val="000000"/>
              </a:solidFill>
              <a:effectLst/>
              <a:uFillTx/>
              <a:latin typeface="Arial"/>
            </a:endParaRPr>
          </a:p>
        </p:txBody>
      </p:sp>
      <p:sp>
        <p:nvSpPr>
          <p:cNvPr id="19" name="Text 4"/>
          <p:cNvSpPr/>
          <p:nvPr/>
        </p:nvSpPr>
        <p:spPr>
          <a:xfrm>
            <a:off x="822960" y="2011680"/>
            <a:ext cx="4388760" cy="3657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2B2B2B"/>
                </a:solidFill>
                <a:effectLst/>
                <a:uFillTx/>
                <a:latin typeface="Calibri"/>
                <a:ea typeface="Calibri"/>
              </a:rPr>
              <a:t>A </a:t>
            </a:r>
            <a:r>
              <a:rPr lang="en-US" sz="1500" b="0" u="none" strike="noStrike">
                <a:solidFill>
                  <a:srgbClr val="2B2B2B"/>
                </a:solidFill>
                <a:effectLst/>
                <a:uFillTx/>
                <a:latin typeface="Calibri"/>
                <a:ea typeface="Calibri"/>
              </a:rPr>
              <a:t>fact</a:t>
            </a:r>
            <a:r>
              <a:rPr lang="en-US" sz="1500" b="0" u="none" strike="noStrike">
                <a:solidFill>
                  <a:srgbClr val="2B2B2B"/>
                </a:solidFill>
                <a:effectLst/>
                <a:uFillTx/>
                <a:latin typeface="Calibri"/>
                <a:ea typeface="Calibri"/>
              </a:rPr>
              <a:t>ory </a:t>
            </a:r>
            <a:r>
              <a:rPr lang="en-US" sz="1500" b="0" u="none" strike="noStrike">
                <a:solidFill>
                  <a:srgbClr val="2B2B2B"/>
                </a:solidFill>
                <a:effectLst/>
                <a:uFillTx/>
                <a:latin typeface="Calibri"/>
                <a:ea typeface="Calibri"/>
              </a:rPr>
              <a:t>has </a:t>
            </a:r>
            <a:r>
              <a:rPr lang="en-US" sz="1500" b="0" u="none" strike="noStrike">
                <a:solidFill>
                  <a:srgbClr val="2B2B2B"/>
                </a:solidFill>
                <a:effectLst/>
                <a:uFillTx/>
                <a:latin typeface="Calibri"/>
                <a:ea typeface="Calibri"/>
              </a:rPr>
              <a:t>diff</a:t>
            </a:r>
            <a:r>
              <a:rPr lang="en-US" sz="1500" b="0" u="none" strike="noStrike">
                <a:solidFill>
                  <a:srgbClr val="2B2B2B"/>
                </a:solidFill>
                <a:effectLst/>
                <a:uFillTx/>
                <a:latin typeface="Calibri"/>
                <a:ea typeface="Calibri"/>
              </a:rPr>
              <a:t>ere</a:t>
            </a:r>
            <a:r>
              <a:rPr lang="en-US" sz="1500" b="0" u="none" strike="noStrike">
                <a:solidFill>
                  <a:srgbClr val="2B2B2B"/>
                </a:solidFill>
                <a:effectLst/>
                <a:uFillTx/>
                <a:latin typeface="Calibri"/>
                <a:ea typeface="Calibri"/>
              </a:rPr>
              <a:t>nt </a:t>
            </a:r>
            <a:r>
              <a:rPr lang="en-US" sz="1500" b="0" u="none" strike="noStrike">
                <a:solidFill>
                  <a:srgbClr val="2B2B2B"/>
                </a:solidFill>
                <a:effectLst/>
                <a:uFillTx/>
                <a:latin typeface="Calibri"/>
                <a:ea typeface="Calibri"/>
              </a:rPr>
              <a:t>cate</a:t>
            </a:r>
            <a:r>
              <a:rPr lang="en-US" sz="1500" b="0" u="none" strike="noStrike">
                <a:solidFill>
                  <a:srgbClr val="2B2B2B"/>
                </a:solidFill>
                <a:effectLst/>
                <a:uFillTx/>
                <a:latin typeface="Calibri"/>
                <a:ea typeface="Calibri"/>
              </a:rPr>
              <a:t>gori</a:t>
            </a:r>
            <a:r>
              <a:rPr lang="en-US" sz="1500" b="0" u="none" strike="noStrike">
                <a:solidFill>
                  <a:srgbClr val="2B2B2B"/>
                </a:solidFill>
                <a:effectLst/>
                <a:uFillTx/>
                <a:latin typeface="Calibri"/>
                <a:ea typeface="Calibri"/>
              </a:rPr>
              <a:t>es </a:t>
            </a:r>
            <a:r>
              <a:rPr lang="en-US" sz="1500" b="0" u="none" strike="noStrike">
                <a:solidFill>
                  <a:srgbClr val="2B2B2B"/>
                </a:solidFill>
                <a:effectLst/>
                <a:uFillTx/>
                <a:latin typeface="Calibri"/>
                <a:ea typeface="Calibri"/>
              </a:rPr>
              <a:t>of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es, </a:t>
            </a:r>
            <a:r>
              <a:rPr lang="en-US" sz="1500" b="0" u="none" strike="noStrike">
                <a:solidFill>
                  <a:srgbClr val="2B2B2B"/>
                </a:solidFill>
                <a:effectLst/>
                <a:uFillTx/>
                <a:latin typeface="Calibri"/>
                <a:ea typeface="Calibri"/>
              </a:rPr>
              <a:t>suc</a:t>
            </a:r>
            <a:r>
              <a:rPr lang="en-US" sz="1500" b="0" u="none" strike="noStrike">
                <a:solidFill>
                  <a:srgbClr val="2B2B2B"/>
                </a:solidFill>
                <a:effectLst/>
                <a:uFillTx/>
                <a:latin typeface="Calibri"/>
                <a:ea typeface="Calibri"/>
              </a:rPr>
              <a:t>h as </a:t>
            </a:r>
            <a:r>
              <a:rPr lang="en-US" sz="1500" b="0" u="none" strike="noStrike">
                <a:solidFill>
                  <a:srgbClr val="2B2B2B"/>
                </a:solidFill>
                <a:effectLst/>
                <a:uFillTx/>
                <a:latin typeface="Calibri"/>
                <a:ea typeface="Calibri"/>
              </a:rPr>
              <a:t>lath</a:t>
            </a:r>
            <a:r>
              <a:rPr lang="en-US" sz="1500" b="0" u="none" strike="noStrike">
                <a:solidFill>
                  <a:srgbClr val="2B2B2B"/>
                </a:solidFill>
                <a:effectLst/>
                <a:uFillTx/>
                <a:latin typeface="Calibri"/>
                <a:ea typeface="Calibri"/>
              </a:rPr>
              <a:t>e, </a:t>
            </a:r>
            <a:r>
              <a:rPr lang="en-US" sz="1500" b="0" u="none" strike="noStrike">
                <a:solidFill>
                  <a:srgbClr val="2B2B2B"/>
                </a:solidFill>
                <a:effectLst/>
                <a:uFillTx/>
                <a:latin typeface="Calibri"/>
                <a:ea typeface="Calibri"/>
              </a:rPr>
              <a:t>tur</a:t>
            </a:r>
            <a:r>
              <a:rPr lang="en-US" sz="1500" b="0" u="none" strike="noStrike">
                <a:solidFill>
                  <a:srgbClr val="2B2B2B"/>
                </a:solidFill>
                <a:effectLst/>
                <a:uFillTx/>
                <a:latin typeface="Calibri"/>
                <a:ea typeface="Calibri"/>
              </a:rPr>
              <a:t>nin</a:t>
            </a:r>
            <a:r>
              <a:rPr lang="en-US" sz="1500" b="0" u="none" strike="noStrike">
                <a:solidFill>
                  <a:srgbClr val="2B2B2B"/>
                </a:solidFill>
                <a:effectLst/>
                <a:uFillTx/>
                <a:latin typeface="Calibri"/>
                <a:ea typeface="Calibri"/>
              </a:rPr>
              <a:t>g, </a:t>
            </a:r>
            <a:r>
              <a:rPr lang="en-US" sz="1500" b="0" u="none" strike="noStrike">
                <a:solidFill>
                  <a:srgbClr val="2B2B2B"/>
                </a:solidFill>
                <a:effectLst/>
                <a:uFillTx/>
                <a:latin typeface="Calibri"/>
                <a:ea typeface="Calibri"/>
              </a:rPr>
              <a:t>drill</a:t>
            </a:r>
            <a:r>
              <a:rPr lang="en-US" sz="1500" b="0" u="none" strike="noStrike">
                <a:solidFill>
                  <a:srgbClr val="2B2B2B"/>
                </a:solidFill>
                <a:effectLst/>
                <a:uFillTx/>
                <a:latin typeface="Calibri"/>
                <a:ea typeface="Calibri"/>
              </a:rPr>
              <a:t>ing </a:t>
            </a:r>
            <a:r>
              <a:rPr lang="en-US" sz="1500" b="0" u="none" strike="noStrike">
                <a:solidFill>
                  <a:srgbClr val="2B2B2B"/>
                </a:solidFill>
                <a:effectLst/>
                <a:uFillTx/>
                <a:latin typeface="Calibri"/>
                <a:ea typeface="Calibri"/>
              </a:rPr>
              <a:t>and </a:t>
            </a:r>
            <a:r>
              <a:rPr lang="en-US" sz="1500" b="0" u="none" strike="noStrike">
                <a:solidFill>
                  <a:srgbClr val="2B2B2B"/>
                </a:solidFill>
                <a:effectLst/>
                <a:uFillTx/>
                <a:latin typeface="Calibri"/>
                <a:ea typeface="Calibri"/>
              </a:rPr>
              <a:t>sold</a:t>
            </a:r>
            <a:r>
              <a:rPr lang="en-US" sz="1500" b="0" u="none" strike="noStrike">
                <a:solidFill>
                  <a:srgbClr val="2B2B2B"/>
                </a:solidFill>
                <a:effectLst/>
                <a:uFillTx/>
                <a:latin typeface="Calibri"/>
                <a:ea typeface="Calibri"/>
              </a:rPr>
              <a:t>erin</a:t>
            </a:r>
            <a:r>
              <a:rPr lang="en-US" sz="1500" b="0" u="none" strike="noStrike">
                <a:solidFill>
                  <a:srgbClr val="2B2B2B"/>
                </a:solidFill>
                <a:effectLst/>
                <a:uFillTx/>
                <a:latin typeface="Calibri"/>
                <a:ea typeface="Calibri"/>
              </a:rPr>
              <a:t>g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es, </a:t>
            </a:r>
            <a:r>
              <a:rPr lang="en-US" sz="1500" b="0" u="none" strike="noStrike">
                <a:solidFill>
                  <a:srgbClr val="2B2B2B"/>
                </a:solidFill>
                <a:effectLst/>
                <a:uFillTx/>
                <a:latin typeface="Calibri"/>
                <a:ea typeface="Calibri"/>
              </a:rPr>
              <a:t>in </a:t>
            </a:r>
            <a:r>
              <a:rPr lang="en-US" sz="1500" b="0" u="none" strike="noStrike">
                <a:solidFill>
                  <a:srgbClr val="2B2B2B"/>
                </a:solidFill>
                <a:effectLst/>
                <a:uFillTx/>
                <a:latin typeface="Calibri"/>
                <a:ea typeface="Calibri"/>
              </a:rPr>
              <a:t>diff</a:t>
            </a:r>
            <a:r>
              <a:rPr lang="en-US" sz="1500" b="0" u="none" strike="noStrike">
                <a:solidFill>
                  <a:srgbClr val="2B2B2B"/>
                </a:solidFill>
                <a:effectLst/>
                <a:uFillTx/>
                <a:latin typeface="Calibri"/>
                <a:ea typeface="Calibri"/>
              </a:rPr>
              <a:t>ere</a:t>
            </a:r>
            <a:r>
              <a:rPr lang="en-US" sz="1500" b="0" u="none" strike="noStrike">
                <a:solidFill>
                  <a:srgbClr val="2B2B2B"/>
                </a:solidFill>
                <a:effectLst/>
                <a:uFillTx/>
                <a:latin typeface="Calibri"/>
                <a:ea typeface="Calibri"/>
              </a:rPr>
              <a:t>nt </a:t>
            </a:r>
            <a:r>
              <a:rPr lang="en-US" sz="1500" b="0" u="none" strike="noStrike">
                <a:solidFill>
                  <a:srgbClr val="2B2B2B"/>
                </a:solidFill>
                <a:effectLst/>
                <a:uFillTx/>
                <a:latin typeface="Calibri"/>
                <a:ea typeface="Calibri"/>
              </a:rPr>
              <a:t>nu</a:t>
            </a:r>
            <a:r>
              <a:rPr lang="en-US" sz="1500" b="0" u="none" strike="noStrike">
                <a:solidFill>
                  <a:srgbClr val="2B2B2B"/>
                </a:solidFill>
                <a:effectLst/>
                <a:uFillTx/>
                <a:latin typeface="Calibri"/>
                <a:ea typeface="Calibri"/>
              </a:rPr>
              <a:t>mb</a:t>
            </a:r>
            <a:r>
              <a:rPr lang="en-US" sz="1500" b="0" u="none" strike="noStrike">
                <a:solidFill>
                  <a:srgbClr val="2B2B2B"/>
                </a:solidFill>
                <a:effectLst/>
                <a:uFillTx/>
                <a:latin typeface="Calibri"/>
                <a:ea typeface="Calibri"/>
              </a:rPr>
              <a:t>ers </a:t>
            </a:r>
            <a:r>
              <a:rPr lang="en-US" sz="1500" b="0" u="none" strike="noStrike">
                <a:solidFill>
                  <a:srgbClr val="2B2B2B"/>
                </a:solidFill>
                <a:effectLst/>
                <a:uFillTx/>
                <a:latin typeface="Calibri"/>
                <a:ea typeface="Calibri"/>
              </a:rPr>
              <a:t>per </a:t>
            </a:r>
            <a:r>
              <a:rPr lang="en-US" sz="1500" b="0" u="none" strike="noStrike">
                <a:solidFill>
                  <a:srgbClr val="2B2B2B"/>
                </a:solidFill>
                <a:effectLst/>
                <a:uFillTx/>
                <a:latin typeface="Calibri"/>
                <a:ea typeface="Calibri"/>
              </a:rPr>
              <a:t>cate</a:t>
            </a:r>
            <a:r>
              <a:rPr lang="en-US" sz="1500" b="0" u="none" strike="noStrike">
                <a:solidFill>
                  <a:srgbClr val="2B2B2B"/>
                </a:solidFill>
                <a:effectLst/>
                <a:uFillTx/>
                <a:latin typeface="Calibri"/>
                <a:ea typeface="Calibri"/>
              </a:rPr>
              <a:t>gory</a:t>
            </a:r>
            <a:r>
              <a:rPr lang="en-US" sz="1500" b="0" u="none" strike="noStrike">
                <a:solidFill>
                  <a:srgbClr val="2B2B2B"/>
                </a:solidFill>
                <a:effectLst/>
                <a:uFillTx/>
                <a:latin typeface="Calibri"/>
                <a:ea typeface="Calibri"/>
              </a:rPr>
              <a:t>. </a:t>
            </a:r>
            <a:r>
              <a:rPr lang="en-US" sz="1500" b="0" u="none" strike="noStrike">
                <a:solidFill>
                  <a:srgbClr val="2B2B2B"/>
                </a:solidFill>
                <a:effectLst/>
                <a:uFillTx/>
                <a:latin typeface="Calibri"/>
                <a:ea typeface="Calibri"/>
              </a:rPr>
              <a:t>The</a:t>
            </a:r>
            <a:r>
              <a:rPr lang="en-US" sz="1500" b="0" u="none" strike="noStrike">
                <a:solidFill>
                  <a:srgbClr val="2B2B2B"/>
                </a:solidFill>
                <a:effectLst/>
                <a:uFillTx/>
                <a:latin typeface="Calibri"/>
                <a:ea typeface="Calibri"/>
              </a:rPr>
              <a:t>se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es </a:t>
            </a:r>
            <a:r>
              <a:rPr lang="en-US" sz="1500" b="0" u="none" strike="noStrike">
                <a:solidFill>
                  <a:srgbClr val="2B2B2B"/>
                </a:solidFill>
                <a:effectLst/>
                <a:uFillTx/>
                <a:latin typeface="Calibri"/>
                <a:ea typeface="Calibri"/>
              </a:rPr>
              <a:t>req</a:t>
            </a:r>
            <a:r>
              <a:rPr lang="en-US" sz="1500" b="0" u="none" strike="noStrike">
                <a:solidFill>
                  <a:srgbClr val="2B2B2B"/>
                </a:solidFill>
                <a:effectLst/>
                <a:uFillTx/>
                <a:latin typeface="Calibri"/>
                <a:ea typeface="Calibri"/>
              </a:rPr>
              <a:t>uire </a:t>
            </a:r>
            <a:r>
              <a:rPr lang="en-US" sz="1500" b="0" u="none" strike="noStrike">
                <a:solidFill>
                  <a:srgbClr val="2B2B2B"/>
                </a:solidFill>
                <a:effectLst/>
                <a:uFillTx/>
                <a:latin typeface="Calibri"/>
                <a:ea typeface="Calibri"/>
              </a:rPr>
              <a:t>freq</a:t>
            </a:r>
            <a:r>
              <a:rPr lang="en-US" sz="1500" b="0" u="none" strike="noStrike">
                <a:solidFill>
                  <a:srgbClr val="2B2B2B"/>
                </a:solidFill>
                <a:effectLst/>
                <a:uFillTx/>
                <a:latin typeface="Calibri"/>
                <a:ea typeface="Calibri"/>
              </a:rPr>
              <a:t>uen</a:t>
            </a:r>
            <a:r>
              <a:rPr lang="en-US" sz="1500" b="0" u="none" strike="noStrike">
                <a:solidFill>
                  <a:srgbClr val="2B2B2B"/>
                </a:solidFill>
                <a:effectLst/>
                <a:uFillTx/>
                <a:latin typeface="Calibri"/>
                <a:ea typeface="Calibri"/>
              </a:rPr>
              <a:t>t </a:t>
            </a:r>
            <a:r>
              <a:rPr lang="en-US" sz="1500" b="0" u="none" strike="noStrike">
                <a:solidFill>
                  <a:srgbClr val="2B2B2B"/>
                </a:solidFill>
                <a:effectLst/>
                <a:uFillTx/>
                <a:latin typeface="Calibri"/>
                <a:ea typeface="Calibri"/>
              </a:rPr>
              <a:t>adj</a:t>
            </a:r>
            <a:r>
              <a:rPr lang="en-US" sz="1500" b="0" u="none" strike="noStrike">
                <a:solidFill>
                  <a:srgbClr val="2B2B2B"/>
                </a:solidFill>
                <a:effectLst/>
                <a:uFillTx/>
                <a:latin typeface="Calibri"/>
                <a:ea typeface="Calibri"/>
              </a:rPr>
              <a:t>ust</a:t>
            </a:r>
            <a:r>
              <a:rPr lang="en-US" sz="1500" b="0" u="none" strike="noStrike">
                <a:solidFill>
                  <a:srgbClr val="2B2B2B"/>
                </a:solidFill>
                <a:effectLst/>
                <a:uFillTx/>
                <a:latin typeface="Calibri"/>
                <a:ea typeface="Calibri"/>
              </a:rPr>
              <a:t>me</a:t>
            </a:r>
            <a:r>
              <a:rPr lang="en-US" sz="1500" b="0" u="none" strike="noStrike">
                <a:solidFill>
                  <a:srgbClr val="2B2B2B"/>
                </a:solidFill>
                <a:effectLst/>
                <a:uFillTx/>
                <a:latin typeface="Calibri"/>
                <a:ea typeface="Calibri"/>
              </a:rPr>
              <a:t>nts </a:t>
            </a:r>
            <a:r>
              <a:rPr lang="en-US" sz="1500" b="0" u="none" strike="noStrike">
                <a:solidFill>
                  <a:srgbClr val="2B2B2B"/>
                </a:solidFill>
                <a:effectLst/>
                <a:uFillTx/>
                <a:latin typeface="Calibri"/>
                <a:ea typeface="Calibri"/>
              </a:rPr>
              <a:t>and </a:t>
            </a:r>
            <a:r>
              <a:rPr lang="en-US" sz="1500" b="0" u="none" strike="noStrike">
                <a:solidFill>
                  <a:srgbClr val="2B2B2B"/>
                </a:solidFill>
                <a:effectLst/>
                <a:uFillTx/>
                <a:latin typeface="Calibri"/>
                <a:ea typeface="Calibri"/>
              </a:rPr>
              <a:t>rep</a:t>
            </a:r>
            <a:r>
              <a:rPr lang="en-US" sz="1500" b="0" u="none" strike="noStrike">
                <a:solidFill>
                  <a:srgbClr val="2B2B2B"/>
                </a:solidFill>
                <a:effectLst/>
                <a:uFillTx/>
                <a:latin typeface="Calibri"/>
                <a:ea typeface="Calibri"/>
              </a:rPr>
              <a:t>air. </a:t>
            </a:r>
            <a:r>
              <a:rPr lang="en-US" sz="1500" b="0" u="none" strike="noStrike">
                <a:solidFill>
                  <a:srgbClr val="2B2B2B"/>
                </a:solidFill>
                <a:effectLst/>
                <a:uFillTx/>
                <a:latin typeface="Calibri"/>
                <a:ea typeface="Calibri"/>
              </a:rPr>
              <a:t>Eac</a:t>
            </a:r>
            <a:r>
              <a:rPr lang="en-US" sz="1500" b="0" u="none" strike="noStrike">
                <a:solidFill>
                  <a:srgbClr val="2B2B2B"/>
                </a:solidFill>
                <a:effectLst/>
                <a:uFillTx/>
                <a:latin typeface="Calibri"/>
                <a:ea typeface="Calibri"/>
              </a:rPr>
              <a:t>h </a:t>
            </a:r>
            <a:r>
              <a:rPr lang="en-US" sz="1500" b="0" u="none" strike="noStrike">
                <a:solidFill>
                  <a:srgbClr val="2B2B2B"/>
                </a:solidFill>
                <a:effectLst/>
                <a:uFillTx/>
                <a:latin typeface="Calibri"/>
                <a:ea typeface="Calibri"/>
              </a:rPr>
              <a:t>cate</a:t>
            </a:r>
            <a:r>
              <a:rPr lang="en-US" sz="1500" b="0" u="none" strike="noStrike">
                <a:solidFill>
                  <a:srgbClr val="2B2B2B"/>
                </a:solidFill>
                <a:effectLst/>
                <a:uFillTx/>
                <a:latin typeface="Calibri"/>
                <a:ea typeface="Calibri"/>
              </a:rPr>
              <a:t>gor</a:t>
            </a:r>
            <a:r>
              <a:rPr lang="en-US" sz="1500" b="0" u="none" strike="noStrike">
                <a:solidFill>
                  <a:srgbClr val="2B2B2B"/>
                </a:solidFill>
                <a:effectLst/>
                <a:uFillTx/>
                <a:latin typeface="Calibri"/>
                <a:ea typeface="Calibri"/>
              </a:rPr>
              <a:t>y </a:t>
            </a:r>
            <a:r>
              <a:rPr lang="en-US" sz="1500" b="0" u="none" strike="noStrike">
                <a:solidFill>
                  <a:srgbClr val="2B2B2B"/>
                </a:solidFill>
                <a:effectLst/>
                <a:uFillTx/>
                <a:latin typeface="Calibri"/>
                <a:ea typeface="Calibri"/>
              </a:rPr>
              <a:t>fails </a:t>
            </a:r>
            <a:r>
              <a:rPr lang="en-US" sz="1500" b="0" u="none" strike="noStrike">
                <a:solidFill>
                  <a:srgbClr val="2B2B2B"/>
                </a:solidFill>
                <a:effectLst/>
                <a:uFillTx/>
                <a:latin typeface="Calibri"/>
                <a:ea typeface="Calibri"/>
              </a:rPr>
              <a:t>afte</a:t>
            </a:r>
            <a:r>
              <a:rPr lang="en-US" sz="1500" b="0" u="none" strike="noStrike">
                <a:solidFill>
                  <a:srgbClr val="2B2B2B"/>
                </a:solidFill>
                <a:effectLst/>
                <a:uFillTx/>
                <a:latin typeface="Calibri"/>
                <a:ea typeface="Calibri"/>
              </a:rPr>
              <a:t>r </a:t>
            </a:r>
            <a:r>
              <a:rPr lang="en-US" sz="1500" b="0" u="none" strike="noStrike">
                <a:solidFill>
                  <a:srgbClr val="2B2B2B"/>
                </a:solidFill>
                <a:effectLst/>
                <a:uFillTx/>
                <a:latin typeface="Calibri"/>
                <a:ea typeface="Calibri"/>
              </a:rPr>
              <a:t>con</a:t>
            </a:r>
            <a:r>
              <a:rPr lang="en-US" sz="1500" b="0" u="none" strike="noStrike">
                <a:solidFill>
                  <a:srgbClr val="2B2B2B"/>
                </a:solidFill>
                <a:effectLst/>
                <a:uFillTx/>
                <a:latin typeface="Calibri"/>
                <a:ea typeface="Calibri"/>
              </a:rPr>
              <a:t>tinu</a:t>
            </a:r>
            <a:r>
              <a:rPr lang="en-US" sz="1500" b="0" u="none" strike="noStrike">
                <a:solidFill>
                  <a:srgbClr val="2B2B2B"/>
                </a:solidFill>
                <a:effectLst/>
                <a:uFillTx/>
                <a:latin typeface="Calibri"/>
                <a:ea typeface="Calibri"/>
              </a:rPr>
              <a:t>ous </a:t>
            </a:r>
            <a:r>
              <a:rPr lang="en-US" sz="1500" b="0" u="none" strike="noStrike">
                <a:solidFill>
                  <a:srgbClr val="2B2B2B"/>
                </a:solidFill>
                <a:effectLst/>
                <a:uFillTx/>
                <a:latin typeface="Calibri"/>
                <a:ea typeface="Calibri"/>
              </a:rPr>
              <a:t>ope</a:t>
            </a:r>
            <a:r>
              <a:rPr lang="en-US" sz="1500" b="0" u="none" strike="noStrike">
                <a:solidFill>
                  <a:srgbClr val="2B2B2B"/>
                </a:solidFill>
                <a:effectLst/>
                <a:uFillTx/>
                <a:latin typeface="Calibri"/>
                <a:ea typeface="Calibri"/>
              </a:rPr>
              <a:t>rati</a:t>
            </a:r>
            <a:r>
              <a:rPr lang="en-US" sz="1500" b="0" u="none" strike="noStrike">
                <a:solidFill>
                  <a:srgbClr val="2B2B2B"/>
                </a:solidFill>
                <a:effectLst/>
                <a:uFillTx/>
                <a:latin typeface="Calibri"/>
                <a:ea typeface="Calibri"/>
              </a:rPr>
              <a:t>on, </a:t>
            </a:r>
            <a:r>
              <a:rPr lang="en-US" sz="1500" b="0" u="none" strike="noStrike">
                <a:solidFill>
                  <a:srgbClr val="2B2B2B"/>
                </a:solidFill>
                <a:effectLst/>
                <a:uFillTx/>
                <a:latin typeface="Calibri"/>
                <a:ea typeface="Calibri"/>
              </a:rPr>
              <a:t>wit</a:t>
            </a:r>
            <a:r>
              <a:rPr lang="en-US" sz="1500" b="0" u="none" strike="noStrike">
                <a:solidFill>
                  <a:srgbClr val="2B2B2B"/>
                </a:solidFill>
                <a:effectLst/>
                <a:uFillTx/>
                <a:latin typeface="Calibri"/>
                <a:ea typeface="Calibri"/>
              </a:rPr>
              <a:t>h a </a:t>
            </a:r>
            <a:r>
              <a:rPr lang="en-US" sz="1500" b="0" u="none" strike="noStrike">
                <a:solidFill>
                  <a:srgbClr val="2B2B2B"/>
                </a:solidFill>
                <a:effectLst/>
                <a:uFillTx/>
                <a:latin typeface="Calibri"/>
                <a:ea typeface="Calibri"/>
              </a:rPr>
              <a:t>fail</a:t>
            </a:r>
            <a:r>
              <a:rPr lang="en-US" sz="1500" b="0" u="none" strike="noStrike">
                <a:solidFill>
                  <a:srgbClr val="2B2B2B"/>
                </a:solidFill>
                <a:effectLst/>
                <a:uFillTx/>
                <a:latin typeface="Calibri"/>
                <a:ea typeface="Calibri"/>
              </a:rPr>
              <a:t>ure </a:t>
            </a:r>
            <a:r>
              <a:rPr lang="en-US" sz="1500" b="0" u="none" strike="noStrike">
                <a:solidFill>
                  <a:srgbClr val="2B2B2B"/>
                </a:solidFill>
                <a:effectLst/>
                <a:uFillTx/>
                <a:latin typeface="Calibri"/>
                <a:ea typeface="Calibri"/>
              </a:rPr>
              <a:t>prof</a:t>
            </a:r>
            <a:r>
              <a:rPr lang="en-US" sz="1500" b="0" u="none" strike="noStrike">
                <a:solidFill>
                  <a:srgbClr val="2B2B2B"/>
                </a:solidFill>
                <a:effectLst/>
                <a:uFillTx/>
                <a:latin typeface="Calibri"/>
                <a:ea typeface="Calibri"/>
              </a:rPr>
              <a:t>ile </a:t>
            </a:r>
            <a:r>
              <a:rPr lang="en-US" sz="1500" b="0" u="none" strike="noStrike">
                <a:solidFill>
                  <a:srgbClr val="2B2B2B"/>
                </a:solidFill>
                <a:effectLst/>
                <a:uFillTx/>
                <a:latin typeface="Calibri"/>
                <a:ea typeface="Calibri"/>
              </a:rPr>
              <a:t>give</a:t>
            </a:r>
            <a:r>
              <a:rPr lang="en-US" sz="1500" b="0" u="none" strike="noStrike">
                <a:solidFill>
                  <a:srgbClr val="2B2B2B"/>
                </a:solidFill>
                <a:effectLst/>
                <a:uFillTx/>
                <a:latin typeface="Calibri"/>
                <a:ea typeface="Calibri"/>
              </a:rPr>
              <a:t>n by </a:t>
            </a:r>
            <a:r>
              <a:rPr lang="en-US" sz="1500" b="0" u="none" strike="noStrike">
                <a:solidFill>
                  <a:srgbClr val="2B2B2B"/>
                </a:solidFill>
                <a:effectLst/>
                <a:uFillTx/>
                <a:latin typeface="Calibri"/>
                <a:ea typeface="Calibri"/>
              </a:rPr>
              <a:t>its </a:t>
            </a:r>
            <a:r>
              <a:rPr lang="en-US" sz="1500" b="0" u="none" strike="noStrike">
                <a:solidFill>
                  <a:srgbClr val="2B2B2B"/>
                </a:solidFill>
                <a:effectLst/>
                <a:uFillTx/>
                <a:latin typeface="Calibri"/>
                <a:ea typeface="Calibri"/>
              </a:rPr>
              <a:t>me</a:t>
            </a:r>
            <a:r>
              <a:rPr lang="en-US" sz="1500" b="0" u="none" strike="noStrike">
                <a:solidFill>
                  <a:srgbClr val="2B2B2B"/>
                </a:solidFill>
                <a:effectLst/>
                <a:uFillTx/>
                <a:latin typeface="Calibri"/>
                <a:ea typeface="Calibri"/>
              </a:rPr>
              <a:t>an </a:t>
            </a:r>
            <a:r>
              <a:rPr lang="en-US" sz="1500" b="0" u="none" strike="noStrike">
                <a:solidFill>
                  <a:srgbClr val="2B2B2B"/>
                </a:solidFill>
                <a:effectLst/>
                <a:uFillTx/>
                <a:latin typeface="Calibri"/>
                <a:ea typeface="Calibri"/>
              </a:rPr>
              <a:t>tim</a:t>
            </a:r>
            <a:r>
              <a:rPr lang="en-US" sz="1500" b="0" u="none" strike="noStrike">
                <a:solidFill>
                  <a:srgbClr val="2B2B2B"/>
                </a:solidFill>
                <a:effectLst/>
                <a:uFillTx/>
                <a:latin typeface="Calibri"/>
                <a:ea typeface="Calibri"/>
              </a:rPr>
              <a:t>e to </a:t>
            </a:r>
            <a:r>
              <a:rPr lang="en-US" sz="1500" b="0" u="none" strike="noStrike">
                <a:solidFill>
                  <a:srgbClr val="2B2B2B"/>
                </a:solidFill>
                <a:effectLst/>
                <a:uFillTx/>
                <a:latin typeface="Calibri"/>
                <a:ea typeface="Calibri"/>
              </a:rPr>
              <a:t>fail</a:t>
            </a:r>
            <a:r>
              <a:rPr lang="en-US" sz="1500" b="0" u="none" strike="noStrike">
                <a:solidFill>
                  <a:srgbClr val="2B2B2B"/>
                </a:solidFill>
                <a:effectLst/>
                <a:uFillTx/>
                <a:latin typeface="Calibri"/>
                <a:ea typeface="Calibri"/>
              </a:rPr>
              <a:t>ure </a:t>
            </a:r>
            <a:r>
              <a:rPr lang="en-US" sz="1500" b="0" u="none" strike="noStrike">
                <a:solidFill>
                  <a:srgbClr val="2B2B2B"/>
                </a:solidFill>
                <a:effectLst/>
                <a:uFillTx/>
                <a:latin typeface="Calibri"/>
                <a:ea typeface="Calibri"/>
              </a:rPr>
              <a:t>(MT</a:t>
            </a:r>
            <a:r>
              <a:rPr lang="en-US" sz="1500" b="0" u="none" strike="noStrike">
                <a:solidFill>
                  <a:srgbClr val="2B2B2B"/>
                </a:solidFill>
                <a:effectLst/>
                <a:uFillTx/>
                <a:latin typeface="Calibri"/>
                <a:ea typeface="Calibri"/>
              </a:rPr>
              <a:t>TF). </a:t>
            </a:r>
            <a:r>
              <a:rPr lang="en-US" sz="1500" b="0" u="none" strike="noStrike">
                <a:solidFill>
                  <a:srgbClr val="2B2B2B"/>
                </a:solidFill>
                <a:effectLst/>
                <a:uFillTx/>
                <a:latin typeface="Calibri"/>
                <a:ea typeface="Calibri"/>
              </a:rPr>
              <a:t>A </a:t>
            </a:r>
            <a:r>
              <a:rPr lang="en-US" sz="1500" b="0" u="none" strike="noStrike">
                <a:solidFill>
                  <a:srgbClr val="2B2B2B"/>
                </a:solidFill>
                <a:effectLst/>
                <a:uFillTx/>
                <a:latin typeface="Calibri"/>
                <a:ea typeface="Calibri"/>
              </a:rPr>
              <a:t>poo</a:t>
            </a:r>
            <a:r>
              <a:rPr lang="en-US" sz="1500" b="0" u="none" strike="noStrike">
                <a:solidFill>
                  <a:srgbClr val="2B2B2B"/>
                </a:solidFill>
                <a:effectLst/>
                <a:uFillTx/>
                <a:latin typeface="Calibri"/>
                <a:ea typeface="Calibri"/>
              </a:rPr>
              <a:t>l of </a:t>
            </a:r>
            <a:r>
              <a:rPr lang="en-US" sz="1500" b="0" u="none" strike="noStrike">
                <a:solidFill>
                  <a:srgbClr val="2B2B2B"/>
                </a:solidFill>
                <a:effectLst/>
                <a:uFillTx/>
                <a:latin typeface="Calibri"/>
                <a:ea typeface="Calibri"/>
              </a:rPr>
              <a:t>adj</a:t>
            </a:r>
            <a:r>
              <a:rPr lang="en-US" sz="1500" b="0" u="none" strike="noStrike">
                <a:solidFill>
                  <a:srgbClr val="2B2B2B"/>
                </a:solidFill>
                <a:effectLst/>
                <a:uFillTx/>
                <a:latin typeface="Calibri"/>
                <a:ea typeface="Calibri"/>
              </a:rPr>
              <a:t>uste</a:t>
            </a:r>
            <a:r>
              <a:rPr lang="en-US" sz="1500" b="0" u="none" strike="noStrike">
                <a:solidFill>
                  <a:srgbClr val="2B2B2B"/>
                </a:solidFill>
                <a:effectLst/>
                <a:uFillTx/>
                <a:latin typeface="Calibri"/>
                <a:ea typeface="Calibri"/>
              </a:rPr>
              <a:t>rs, </a:t>
            </a:r>
            <a:r>
              <a:rPr lang="en-US" sz="1500" b="0" u="none" strike="noStrike">
                <a:solidFill>
                  <a:srgbClr val="2B2B2B"/>
                </a:solidFill>
                <a:effectLst/>
                <a:uFillTx/>
                <a:latin typeface="Calibri"/>
                <a:ea typeface="Calibri"/>
              </a:rPr>
              <a:t>som</a:t>
            </a:r>
            <a:r>
              <a:rPr lang="en-US" sz="1500" b="0" u="none" strike="noStrike">
                <a:solidFill>
                  <a:srgbClr val="2B2B2B"/>
                </a:solidFill>
                <a:effectLst/>
                <a:uFillTx/>
                <a:latin typeface="Calibri"/>
                <a:ea typeface="Calibri"/>
              </a:rPr>
              <a:t>e </a:t>
            </a:r>
            <a:r>
              <a:rPr lang="en-US" sz="1500" b="0" u="none" strike="noStrike">
                <a:solidFill>
                  <a:srgbClr val="2B2B2B"/>
                </a:solidFill>
                <a:effectLst/>
                <a:uFillTx/>
                <a:latin typeface="Calibri"/>
                <a:ea typeface="Calibri"/>
              </a:rPr>
              <a:t>exp</a:t>
            </a:r>
            <a:r>
              <a:rPr lang="en-US" sz="1500" b="0" u="none" strike="noStrike">
                <a:solidFill>
                  <a:srgbClr val="2B2B2B"/>
                </a:solidFill>
                <a:effectLst/>
                <a:uFillTx/>
                <a:latin typeface="Calibri"/>
                <a:ea typeface="Calibri"/>
              </a:rPr>
              <a:t>ert </a:t>
            </a:r>
            <a:r>
              <a:rPr lang="en-US" sz="1500" b="0" u="none" strike="noStrike">
                <a:solidFill>
                  <a:srgbClr val="2B2B2B"/>
                </a:solidFill>
                <a:effectLst/>
                <a:uFillTx/>
                <a:latin typeface="Calibri"/>
                <a:ea typeface="Calibri"/>
              </a:rPr>
              <a:t>in </a:t>
            </a:r>
            <a:r>
              <a:rPr lang="en-US" sz="1500" b="0" u="none" strike="noStrike">
                <a:solidFill>
                  <a:srgbClr val="2B2B2B"/>
                </a:solidFill>
                <a:effectLst/>
                <a:uFillTx/>
                <a:latin typeface="Calibri"/>
                <a:ea typeface="Calibri"/>
              </a:rPr>
              <a:t>mor</a:t>
            </a:r>
            <a:r>
              <a:rPr lang="en-US" sz="1500" b="0" u="none" strike="noStrike">
                <a:solidFill>
                  <a:srgbClr val="2B2B2B"/>
                </a:solidFill>
                <a:effectLst/>
                <a:uFillTx/>
                <a:latin typeface="Calibri"/>
                <a:ea typeface="Calibri"/>
              </a:rPr>
              <a:t>e </a:t>
            </a:r>
            <a:r>
              <a:rPr lang="en-US" sz="1500" b="0" u="none" strike="noStrike">
                <a:solidFill>
                  <a:srgbClr val="2B2B2B"/>
                </a:solidFill>
                <a:effectLst/>
                <a:uFillTx/>
                <a:latin typeface="Calibri"/>
                <a:ea typeface="Calibri"/>
              </a:rPr>
              <a:t>tha</a:t>
            </a:r>
            <a:r>
              <a:rPr lang="en-US" sz="1500" b="0" u="none" strike="noStrike">
                <a:solidFill>
                  <a:srgbClr val="2B2B2B"/>
                </a:solidFill>
                <a:effectLst/>
                <a:uFillTx/>
                <a:latin typeface="Calibri"/>
                <a:ea typeface="Calibri"/>
              </a:rPr>
              <a:t>n </a:t>
            </a:r>
            <a:r>
              <a:rPr lang="en-US" sz="1500" b="0" u="none" strike="noStrike">
                <a:solidFill>
                  <a:srgbClr val="2B2B2B"/>
                </a:solidFill>
                <a:effectLst/>
                <a:uFillTx/>
                <a:latin typeface="Calibri"/>
                <a:ea typeface="Calibri"/>
              </a:rPr>
              <a:t>one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 </a:t>
            </a:r>
            <a:r>
              <a:rPr lang="en-US" sz="1500" b="0" u="none" strike="noStrike">
                <a:solidFill>
                  <a:srgbClr val="2B2B2B"/>
                </a:solidFill>
                <a:effectLst/>
                <a:uFillTx/>
                <a:latin typeface="Calibri"/>
                <a:ea typeface="Calibri"/>
              </a:rPr>
              <a:t>typ</a:t>
            </a:r>
            <a:r>
              <a:rPr lang="en-US" sz="1500" b="0" u="none" strike="noStrike">
                <a:solidFill>
                  <a:srgbClr val="2B2B2B"/>
                </a:solidFill>
                <a:effectLst/>
                <a:uFillTx/>
                <a:latin typeface="Calibri"/>
                <a:ea typeface="Calibri"/>
              </a:rPr>
              <a:t>e, </a:t>
            </a:r>
            <a:r>
              <a:rPr lang="en-US" sz="1500" b="0" u="none" strike="noStrike">
                <a:solidFill>
                  <a:srgbClr val="2B2B2B"/>
                </a:solidFill>
                <a:effectLst/>
                <a:uFillTx/>
                <a:latin typeface="Calibri"/>
                <a:ea typeface="Calibri"/>
              </a:rPr>
              <a:t>kee</a:t>
            </a:r>
            <a:r>
              <a:rPr lang="en-US" sz="1500" b="0" u="none" strike="noStrike">
                <a:solidFill>
                  <a:srgbClr val="2B2B2B"/>
                </a:solidFill>
                <a:effectLst/>
                <a:uFillTx/>
                <a:latin typeface="Calibri"/>
                <a:ea typeface="Calibri"/>
              </a:rPr>
              <a:t>ps </a:t>
            </a:r>
            <a:r>
              <a:rPr lang="en-US" sz="1500" b="0" u="none" strike="noStrike">
                <a:solidFill>
                  <a:srgbClr val="2B2B2B"/>
                </a:solidFill>
                <a:effectLst/>
                <a:uFillTx/>
                <a:latin typeface="Calibri"/>
                <a:ea typeface="Calibri"/>
              </a:rPr>
              <a:t>the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es </a:t>
            </a:r>
            <a:r>
              <a:rPr lang="en-US" sz="1500" b="0" u="none" strike="noStrike">
                <a:solidFill>
                  <a:srgbClr val="2B2B2B"/>
                </a:solidFill>
                <a:effectLst/>
                <a:uFillTx/>
                <a:latin typeface="Calibri"/>
                <a:ea typeface="Calibri"/>
              </a:rPr>
              <a:t>run</a:t>
            </a:r>
            <a:r>
              <a:rPr lang="en-US" sz="1500" b="0" u="none" strike="noStrike">
                <a:solidFill>
                  <a:srgbClr val="2B2B2B"/>
                </a:solidFill>
                <a:effectLst/>
                <a:uFillTx/>
                <a:latin typeface="Calibri"/>
                <a:ea typeface="Calibri"/>
              </a:rPr>
              <a:t>nin</a:t>
            </a:r>
            <a:r>
              <a:rPr lang="en-US" sz="1500" b="0" u="none" strike="noStrike">
                <a:solidFill>
                  <a:srgbClr val="2B2B2B"/>
                </a:solidFill>
                <a:effectLst/>
                <a:uFillTx/>
                <a:latin typeface="Calibri"/>
                <a:ea typeface="Calibri"/>
              </a:rPr>
              <a:t>g.</a:t>
            </a:r>
            <a:endParaRPr lang="en-IN" sz="1500" b="0" u="none" strike="noStrike">
              <a:solidFill>
                <a:srgbClr val="000000"/>
              </a:solidFill>
              <a:effectLst/>
              <a:uFillTx/>
              <a:latin typeface="Arial"/>
            </a:endParaRPr>
          </a:p>
          <a:p>
            <a:pPr defTabSz="914400">
              <a:lnSpc>
                <a:spcPct val="100000"/>
              </a:lnSpc>
              <a:tabLst>
                <a:tab pos="0" algn="l"/>
              </a:tabLst>
            </a:pPr>
            <a:endParaRPr lang="en-IN" sz="15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2B2B2B"/>
                </a:solidFill>
                <a:effectLst/>
                <a:uFillTx/>
                <a:latin typeface="Calibri"/>
                <a:ea typeface="Calibri"/>
              </a:rPr>
              <a:t>Goa</a:t>
            </a:r>
            <a:r>
              <a:rPr lang="en-US" sz="1500" b="0" u="none" strike="noStrike">
                <a:solidFill>
                  <a:srgbClr val="2B2B2B"/>
                </a:solidFill>
                <a:effectLst/>
                <a:uFillTx/>
                <a:latin typeface="Calibri"/>
                <a:ea typeface="Calibri"/>
              </a:rPr>
              <a:t>l: </a:t>
            </a:r>
            <a:r>
              <a:rPr lang="en-US" sz="1500" b="0" u="none" strike="noStrike">
                <a:solidFill>
                  <a:srgbClr val="2B2B2B"/>
                </a:solidFill>
                <a:effectLst/>
                <a:uFillTx/>
                <a:latin typeface="Calibri"/>
                <a:ea typeface="Calibri"/>
              </a:rPr>
              <a:t>see </a:t>
            </a:r>
            <a:r>
              <a:rPr lang="en-US" sz="1500" b="0" u="none" strike="noStrike">
                <a:solidFill>
                  <a:srgbClr val="2B2B2B"/>
                </a:solidFill>
                <a:effectLst/>
                <a:uFillTx/>
                <a:latin typeface="Calibri"/>
                <a:ea typeface="Calibri"/>
              </a:rPr>
              <a:t>ho</a:t>
            </a:r>
            <a:r>
              <a:rPr lang="en-US" sz="1500" b="0" u="none" strike="noStrike">
                <a:solidFill>
                  <a:srgbClr val="2B2B2B"/>
                </a:solidFill>
                <a:effectLst/>
                <a:uFillTx/>
                <a:latin typeface="Calibri"/>
                <a:ea typeface="Calibri"/>
              </a:rPr>
              <a:t>w </a:t>
            </a:r>
            <a:r>
              <a:rPr lang="en-US" sz="1500" b="0" u="none" strike="noStrike">
                <a:solidFill>
                  <a:srgbClr val="2B2B2B"/>
                </a:solidFill>
                <a:effectLst/>
                <a:uFillTx/>
                <a:latin typeface="Calibri"/>
                <a:ea typeface="Calibri"/>
              </a:rPr>
              <a:t>aver</a:t>
            </a:r>
            <a:r>
              <a:rPr lang="en-US" sz="1500" b="0" u="none" strike="noStrike">
                <a:solidFill>
                  <a:srgbClr val="2B2B2B"/>
                </a:solidFill>
                <a:effectLst/>
                <a:uFillTx/>
                <a:latin typeface="Calibri"/>
                <a:ea typeface="Calibri"/>
              </a:rPr>
              <a:t>age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 </a:t>
            </a:r>
            <a:r>
              <a:rPr lang="en-US" sz="1500" b="0" u="none" strike="noStrike">
                <a:solidFill>
                  <a:srgbClr val="2B2B2B"/>
                </a:solidFill>
                <a:effectLst/>
                <a:uFillTx/>
                <a:latin typeface="Calibri"/>
                <a:ea typeface="Calibri"/>
              </a:rPr>
              <a:t>utili</a:t>
            </a:r>
            <a:r>
              <a:rPr lang="en-US" sz="1500" b="0" u="none" strike="noStrike">
                <a:solidFill>
                  <a:srgbClr val="2B2B2B"/>
                </a:solidFill>
                <a:effectLst/>
                <a:uFillTx/>
                <a:latin typeface="Calibri"/>
                <a:ea typeface="Calibri"/>
              </a:rPr>
              <a:t>zati</a:t>
            </a:r>
            <a:r>
              <a:rPr lang="en-US" sz="1500" b="0" u="none" strike="noStrike">
                <a:solidFill>
                  <a:srgbClr val="2B2B2B"/>
                </a:solidFill>
                <a:effectLst/>
                <a:uFillTx/>
                <a:latin typeface="Calibri"/>
                <a:ea typeface="Calibri"/>
              </a:rPr>
              <a:t>on </a:t>
            </a:r>
            <a:r>
              <a:rPr lang="en-US" sz="1500" b="0" u="none" strike="noStrike">
                <a:solidFill>
                  <a:srgbClr val="2B2B2B"/>
                </a:solidFill>
                <a:effectLst/>
                <a:uFillTx/>
                <a:latin typeface="Calibri"/>
                <a:ea typeface="Calibri"/>
              </a:rPr>
              <a:t>and </a:t>
            </a:r>
            <a:r>
              <a:rPr lang="en-US" sz="1500" b="0" u="none" strike="noStrike">
                <a:solidFill>
                  <a:srgbClr val="2B2B2B"/>
                </a:solidFill>
                <a:effectLst/>
                <a:uFillTx/>
                <a:latin typeface="Calibri"/>
                <a:ea typeface="Calibri"/>
              </a:rPr>
              <a:t>adj</a:t>
            </a:r>
            <a:r>
              <a:rPr lang="en-US" sz="1500" b="0" u="none" strike="noStrike">
                <a:solidFill>
                  <a:srgbClr val="2B2B2B"/>
                </a:solidFill>
                <a:effectLst/>
                <a:uFillTx/>
                <a:latin typeface="Calibri"/>
                <a:ea typeface="Calibri"/>
              </a:rPr>
              <a:t>uste</a:t>
            </a:r>
            <a:r>
              <a:rPr lang="en-US" sz="1500" b="0" u="none" strike="noStrike">
                <a:solidFill>
                  <a:srgbClr val="2B2B2B"/>
                </a:solidFill>
                <a:effectLst/>
                <a:uFillTx/>
                <a:latin typeface="Calibri"/>
                <a:ea typeface="Calibri"/>
              </a:rPr>
              <a:t>r </a:t>
            </a:r>
            <a:r>
              <a:rPr lang="en-US" sz="1500" b="0" u="none" strike="noStrike">
                <a:solidFill>
                  <a:srgbClr val="2B2B2B"/>
                </a:solidFill>
                <a:effectLst/>
                <a:uFillTx/>
                <a:latin typeface="Calibri"/>
                <a:ea typeface="Calibri"/>
              </a:rPr>
              <a:t>utili</a:t>
            </a:r>
            <a:r>
              <a:rPr lang="en-US" sz="1500" b="0" u="none" strike="noStrike">
                <a:solidFill>
                  <a:srgbClr val="2B2B2B"/>
                </a:solidFill>
                <a:effectLst/>
                <a:uFillTx/>
                <a:latin typeface="Calibri"/>
                <a:ea typeface="Calibri"/>
              </a:rPr>
              <a:t>zati</a:t>
            </a:r>
            <a:r>
              <a:rPr lang="en-US" sz="1500" b="0" u="none" strike="noStrike">
                <a:solidFill>
                  <a:srgbClr val="2B2B2B"/>
                </a:solidFill>
                <a:effectLst/>
                <a:uFillTx/>
                <a:latin typeface="Calibri"/>
                <a:ea typeface="Calibri"/>
              </a:rPr>
              <a:t>on </a:t>
            </a:r>
            <a:r>
              <a:rPr lang="en-US" sz="1500" b="0" u="none" strike="noStrike">
                <a:solidFill>
                  <a:srgbClr val="2B2B2B"/>
                </a:solidFill>
                <a:effectLst/>
                <a:uFillTx/>
                <a:latin typeface="Calibri"/>
                <a:ea typeface="Calibri"/>
              </a:rPr>
              <a:t>dep</a:t>
            </a:r>
            <a:r>
              <a:rPr lang="en-US" sz="1500" b="0" u="none" strike="noStrike">
                <a:solidFill>
                  <a:srgbClr val="2B2B2B"/>
                </a:solidFill>
                <a:effectLst/>
                <a:uFillTx/>
                <a:latin typeface="Calibri"/>
                <a:ea typeface="Calibri"/>
              </a:rPr>
              <a:t>end </a:t>
            </a:r>
            <a:r>
              <a:rPr lang="en-US" sz="1500" b="0" u="none" strike="noStrike">
                <a:solidFill>
                  <a:srgbClr val="2B2B2B"/>
                </a:solidFill>
                <a:effectLst/>
                <a:uFillTx/>
                <a:latin typeface="Calibri"/>
                <a:ea typeface="Calibri"/>
              </a:rPr>
              <a:t>on </a:t>
            </a:r>
            <a:r>
              <a:rPr lang="en-US" sz="1500" b="0" u="none" strike="noStrike">
                <a:solidFill>
                  <a:srgbClr val="2B2B2B"/>
                </a:solidFill>
                <a:effectLst/>
                <a:uFillTx/>
                <a:latin typeface="Calibri"/>
                <a:ea typeface="Calibri"/>
              </a:rPr>
              <a:t>the </a:t>
            </a:r>
            <a:r>
              <a:rPr lang="en-US" sz="1500" b="0" u="none" strike="noStrike">
                <a:solidFill>
                  <a:srgbClr val="2B2B2B"/>
                </a:solidFill>
                <a:effectLst/>
                <a:uFillTx/>
                <a:latin typeface="Calibri"/>
                <a:ea typeface="Calibri"/>
              </a:rPr>
              <a:t>nu</a:t>
            </a:r>
            <a:r>
              <a:rPr lang="en-US" sz="1500" b="0" u="none" strike="noStrike">
                <a:solidFill>
                  <a:srgbClr val="2B2B2B"/>
                </a:solidFill>
                <a:effectLst/>
                <a:uFillTx/>
                <a:latin typeface="Calibri"/>
                <a:ea typeface="Calibri"/>
              </a:rPr>
              <a:t>mb</a:t>
            </a:r>
            <a:r>
              <a:rPr lang="en-US" sz="1500" b="0" u="none" strike="noStrike">
                <a:solidFill>
                  <a:srgbClr val="2B2B2B"/>
                </a:solidFill>
                <a:effectLst/>
                <a:uFillTx/>
                <a:latin typeface="Calibri"/>
                <a:ea typeface="Calibri"/>
              </a:rPr>
              <a:t>er </a:t>
            </a:r>
            <a:r>
              <a:rPr lang="en-US" sz="1500" b="0" u="none" strike="noStrike">
                <a:solidFill>
                  <a:srgbClr val="2B2B2B"/>
                </a:solidFill>
                <a:effectLst/>
                <a:uFillTx/>
                <a:latin typeface="Calibri"/>
                <a:ea typeface="Calibri"/>
              </a:rPr>
              <a:t>of </a:t>
            </a:r>
            <a:r>
              <a:rPr lang="en-US" sz="1500" b="0" u="none" strike="noStrike">
                <a:solidFill>
                  <a:srgbClr val="2B2B2B"/>
                </a:solidFill>
                <a:effectLst/>
                <a:uFillTx/>
                <a:latin typeface="Calibri"/>
                <a:ea typeface="Calibri"/>
              </a:rPr>
              <a:t>mac</a:t>
            </a:r>
            <a:r>
              <a:rPr lang="en-US" sz="1500" b="0" u="none" strike="noStrike">
                <a:solidFill>
                  <a:srgbClr val="2B2B2B"/>
                </a:solidFill>
                <a:effectLst/>
                <a:uFillTx/>
                <a:latin typeface="Calibri"/>
                <a:ea typeface="Calibri"/>
              </a:rPr>
              <a:t>hin</a:t>
            </a:r>
            <a:r>
              <a:rPr lang="en-US" sz="1500" b="0" u="none" strike="noStrike">
                <a:solidFill>
                  <a:srgbClr val="2B2B2B"/>
                </a:solidFill>
                <a:effectLst/>
                <a:uFillTx/>
                <a:latin typeface="Calibri"/>
                <a:ea typeface="Calibri"/>
              </a:rPr>
              <a:t>es, </a:t>
            </a:r>
            <a:r>
              <a:rPr lang="en-US" sz="1500" b="0" u="none" strike="noStrike">
                <a:solidFill>
                  <a:srgbClr val="2B2B2B"/>
                </a:solidFill>
                <a:effectLst/>
                <a:uFillTx/>
                <a:latin typeface="Calibri"/>
                <a:ea typeface="Calibri"/>
              </a:rPr>
              <a:t>the </a:t>
            </a:r>
            <a:r>
              <a:rPr lang="en-US" sz="1500" b="0" u="none" strike="noStrike">
                <a:solidFill>
                  <a:srgbClr val="2B2B2B"/>
                </a:solidFill>
                <a:effectLst/>
                <a:uFillTx/>
                <a:latin typeface="Calibri"/>
                <a:ea typeface="Calibri"/>
              </a:rPr>
              <a:t>nu</a:t>
            </a:r>
            <a:r>
              <a:rPr lang="en-US" sz="1500" b="0" u="none" strike="noStrike">
                <a:solidFill>
                  <a:srgbClr val="2B2B2B"/>
                </a:solidFill>
                <a:effectLst/>
                <a:uFillTx/>
                <a:latin typeface="Calibri"/>
                <a:ea typeface="Calibri"/>
              </a:rPr>
              <a:t>mb</a:t>
            </a:r>
            <a:r>
              <a:rPr lang="en-US" sz="1500" b="0" u="none" strike="noStrike">
                <a:solidFill>
                  <a:srgbClr val="2B2B2B"/>
                </a:solidFill>
                <a:effectLst/>
                <a:uFillTx/>
                <a:latin typeface="Calibri"/>
                <a:ea typeface="Calibri"/>
              </a:rPr>
              <a:t>er </a:t>
            </a:r>
            <a:r>
              <a:rPr lang="en-US" sz="1500" b="0" u="none" strike="noStrike">
                <a:solidFill>
                  <a:srgbClr val="2B2B2B"/>
                </a:solidFill>
                <a:effectLst/>
                <a:uFillTx/>
                <a:latin typeface="Calibri"/>
                <a:ea typeface="Calibri"/>
              </a:rPr>
              <a:t>of </a:t>
            </a:r>
            <a:r>
              <a:rPr lang="en-US" sz="1500" b="0" u="none" strike="noStrike">
                <a:solidFill>
                  <a:srgbClr val="2B2B2B"/>
                </a:solidFill>
                <a:effectLst/>
                <a:uFillTx/>
                <a:latin typeface="Calibri"/>
                <a:ea typeface="Calibri"/>
              </a:rPr>
              <a:t>adj</a:t>
            </a:r>
            <a:r>
              <a:rPr lang="en-US" sz="1500" b="0" u="none" strike="noStrike">
                <a:solidFill>
                  <a:srgbClr val="2B2B2B"/>
                </a:solidFill>
                <a:effectLst/>
                <a:uFillTx/>
                <a:latin typeface="Calibri"/>
                <a:ea typeface="Calibri"/>
              </a:rPr>
              <a:t>uste</a:t>
            </a:r>
            <a:r>
              <a:rPr lang="en-US" sz="1500" b="0" u="none" strike="noStrike">
                <a:solidFill>
                  <a:srgbClr val="2B2B2B"/>
                </a:solidFill>
                <a:effectLst/>
                <a:uFillTx/>
                <a:latin typeface="Calibri"/>
                <a:ea typeface="Calibri"/>
              </a:rPr>
              <a:t>rs </a:t>
            </a:r>
            <a:r>
              <a:rPr lang="en-US" sz="1500" b="0" u="none" strike="noStrike">
                <a:solidFill>
                  <a:srgbClr val="2B2B2B"/>
                </a:solidFill>
                <a:effectLst/>
                <a:uFillTx/>
                <a:latin typeface="Calibri"/>
                <a:ea typeface="Calibri"/>
              </a:rPr>
              <a:t>and </a:t>
            </a:r>
            <a:r>
              <a:rPr lang="en-US" sz="1500" b="0" u="none" strike="noStrike">
                <a:solidFill>
                  <a:srgbClr val="2B2B2B"/>
                </a:solidFill>
                <a:effectLst/>
                <a:uFillTx/>
                <a:latin typeface="Calibri"/>
                <a:ea typeface="Calibri"/>
              </a:rPr>
              <a:t>MT</a:t>
            </a:r>
            <a:r>
              <a:rPr lang="en-US" sz="1500" b="0" u="none" strike="noStrike">
                <a:solidFill>
                  <a:srgbClr val="2B2B2B"/>
                </a:solidFill>
                <a:effectLst/>
                <a:uFillTx/>
                <a:latin typeface="Calibri"/>
                <a:ea typeface="Calibri"/>
              </a:rPr>
              <a:t>TF, </a:t>
            </a:r>
            <a:r>
              <a:rPr lang="en-US" sz="1500" b="0" u="none" strike="noStrike">
                <a:solidFill>
                  <a:srgbClr val="2B2B2B"/>
                </a:solidFill>
                <a:effectLst/>
                <a:uFillTx/>
                <a:latin typeface="Calibri"/>
                <a:ea typeface="Calibri"/>
              </a:rPr>
              <a:t>so </a:t>
            </a:r>
            <a:r>
              <a:rPr lang="en-US" sz="1500" b="0" u="none" strike="noStrike">
                <a:solidFill>
                  <a:srgbClr val="2B2B2B"/>
                </a:solidFill>
                <a:effectLst/>
                <a:uFillTx/>
                <a:latin typeface="Calibri"/>
                <a:ea typeface="Calibri"/>
              </a:rPr>
              <a:t>that </a:t>
            </a:r>
            <a:r>
              <a:rPr lang="en-US" sz="1500" b="0" u="none" strike="noStrike">
                <a:solidFill>
                  <a:srgbClr val="2B2B2B"/>
                </a:solidFill>
                <a:effectLst/>
                <a:uFillTx/>
                <a:latin typeface="Calibri"/>
                <a:ea typeface="Calibri"/>
              </a:rPr>
              <a:t>the </a:t>
            </a:r>
            <a:r>
              <a:rPr lang="en-US" sz="1500" b="0" u="none" strike="noStrike">
                <a:solidFill>
                  <a:srgbClr val="2B2B2B"/>
                </a:solidFill>
                <a:effectLst/>
                <a:uFillTx/>
                <a:latin typeface="Calibri"/>
                <a:ea typeface="Calibri"/>
              </a:rPr>
              <a:t>opti</a:t>
            </a:r>
            <a:r>
              <a:rPr lang="en-US" sz="1500" b="0" u="none" strike="noStrike">
                <a:solidFill>
                  <a:srgbClr val="2B2B2B"/>
                </a:solidFill>
                <a:effectLst/>
                <a:uFillTx/>
                <a:latin typeface="Calibri"/>
                <a:ea typeface="Calibri"/>
              </a:rPr>
              <a:t>mu</a:t>
            </a:r>
            <a:r>
              <a:rPr lang="en-US" sz="1500" b="0" u="none" strike="noStrike">
                <a:solidFill>
                  <a:srgbClr val="2B2B2B"/>
                </a:solidFill>
                <a:effectLst/>
                <a:uFillTx/>
                <a:latin typeface="Calibri"/>
                <a:ea typeface="Calibri"/>
              </a:rPr>
              <a:t>m </a:t>
            </a:r>
            <a:r>
              <a:rPr lang="en-US" sz="1500" b="0" u="none" strike="noStrike">
                <a:solidFill>
                  <a:srgbClr val="2B2B2B"/>
                </a:solidFill>
                <a:effectLst/>
                <a:uFillTx/>
                <a:latin typeface="Calibri"/>
                <a:ea typeface="Calibri"/>
              </a:rPr>
              <a:t>nu</a:t>
            </a:r>
            <a:r>
              <a:rPr lang="en-US" sz="1500" b="0" u="none" strike="noStrike">
                <a:solidFill>
                  <a:srgbClr val="2B2B2B"/>
                </a:solidFill>
                <a:effectLst/>
                <a:uFillTx/>
                <a:latin typeface="Calibri"/>
                <a:ea typeface="Calibri"/>
              </a:rPr>
              <a:t>mb</a:t>
            </a:r>
            <a:r>
              <a:rPr lang="en-US" sz="1500" b="0" u="none" strike="noStrike">
                <a:solidFill>
                  <a:srgbClr val="2B2B2B"/>
                </a:solidFill>
                <a:effectLst/>
                <a:uFillTx/>
                <a:latin typeface="Calibri"/>
                <a:ea typeface="Calibri"/>
              </a:rPr>
              <a:t>er </a:t>
            </a:r>
            <a:r>
              <a:rPr lang="en-US" sz="1500" b="0" u="none" strike="noStrike">
                <a:solidFill>
                  <a:srgbClr val="2B2B2B"/>
                </a:solidFill>
                <a:effectLst/>
                <a:uFillTx/>
                <a:latin typeface="Calibri"/>
                <a:ea typeface="Calibri"/>
              </a:rPr>
              <a:t>of </a:t>
            </a:r>
            <a:r>
              <a:rPr lang="en-US" sz="1500" b="0" u="none" strike="noStrike">
                <a:solidFill>
                  <a:srgbClr val="2B2B2B"/>
                </a:solidFill>
                <a:effectLst/>
                <a:uFillTx/>
                <a:latin typeface="Calibri"/>
                <a:ea typeface="Calibri"/>
              </a:rPr>
              <a:t>adj</a:t>
            </a:r>
            <a:r>
              <a:rPr lang="en-US" sz="1500" b="0" u="none" strike="noStrike">
                <a:solidFill>
                  <a:srgbClr val="2B2B2B"/>
                </a:solidFill>
                <a:effectLst/>
                <a:uFillTx/>
                <a:latin typeface="Calibri"/>
                <a:ea typeface="Calibri"/>
              </a:rPr>
              <a:t>uste</a:t>
            </a:r>
            <a:r>
              <a:rPr lang="en-US" sz="1500" b="0" u="none" strike="noStrike">
                <a:solidFill>
                  <a:srgbClr val="2B2B2B"/>
                </a:solidFill>
                <a:effectLst/>
                <a:uFillTx/>
                <a:latin typeface="Calibri"/>
                <a:ea typeface="Calibri"/>
              </a:rPr>
              <a:t>rs </a:t>
            </a:r>
            <a:r>
              <a:rPr lang="en-US" sz="1500" b="0" u="none" strike="noStrike">
                <a:solidFill>
                  <a:srgbClr val="2B2B2B"/>
                </a:solidFill>
                <a:effectLst/>
                <a:uFillTx/>
                <a:latin typeface="Calibri"/>
                <a:ea typeface="Calibri"/>
              </a:rPr>
              <a:t>can </a:t>
            </a:r>
            <a:r>
              <a:rPr lang="en-US" sz="1500" b="0" u="none" strike="noStrike">
                <a:solidFill>
                  <a:srgbClr val="2B2B2B"/>
                </a:solidFill>
                <a:effectLst/>
                <a:uFillTx/>
                <a:latin typeface="Calibri"/>
                <a:ea typeface="Calibri"/>
              </a:rPr>
              <a:t>be </a:t>
            </a:r>
            <a:r>
              <a:rPr lang="en-US" sz="1500" b="0" u="none" strike="noStrike">
                <a:solidFill>
                  <a:srgbClr val="2B2B2B"/>
                </a:solidFill>
                <a:effectLst/>
                <a:uFillTx/>
                <a:latin typeface="Calibri"/>
                <a:ea typeface="Calibri"/>
              </a:rPr>
              <a:t>det</a:t>
            </a:r>
            <a:r>
              <a:rPr lang="en-US" sz="1500" b="0" u="none" strike="noStrike">
                <a:solidFill>
                  <a:srgbClr val="2B2B2B"/>
                </a:solidFill>
                <a:effectLst/>
                <a:uFillTx/>
                <a:latin typeface="Calibri"/>
                <a:ea typeface="Calibri"/>
              </a:rPr>
              <a:t>erm</a:t>
            </a:r>
            <a:r>
              <a:rPr lang="en-US" sz="1500" b="0" u="none" strike="noStrike">
                <a:solidFill>
                  <a:srgbClr val="2B2B2B"/>
                </a:solidFill>
                <a:effectLst/>
                <a:uFillTx/>
                <a:latin typeface="Calibri"/>
                <a:ea typeface="Calibri"/>
              </a:rPr>
              <a:t>ine</a:t>
            </a:r>
            <a:r>
              <a:rPr lang="en-US" sz="1500" b="0" u="none" strike="noStrike">
                <a:solidFill>
                  <a:srgbClr val="2B2B2B"/>
                </a:solidFill>
                <a:effectLst/>
                <a:uFillTx/>
                <a:latin typeface="Calibri"/>
                <a:ea typeface="Calibri"/>
              </a:rPr>
              <a:t>d.</a:t>
            </a:r>
            <a:endParaRPr lang="en-IN" sz="1500" b="0" u="none" strike="noStrike">
              <a:solidFill>
                <a:srgbClr val="000000"/>
              </a:solidFill>
              <a:effectLst/>
              <a:uFillTx/>
              <a:latin typeface="Arial"/>
            </a:endParaRPr>
          </a:p>
        </p:txBody>
      </p:sp>
      <p:sp>
        <p:nvSpPr>
          <p:cNvPr id="20" name="Shape 5"/>
          <p:cNvSpPr/>
          <p:nvPr/>
        </p:nvSpPr>
        <p:spPr>
          <a:xfrm>
            <a:off x="5760720" y="1371600"/>
            <a:ext cx="5851800" cy="658080"/>
          </a:xfrm>
          <a:prstGeom prst="roundRect">
            <a:avLst>
              <a:gd name="adj" fmla="val 11111"/>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1" name="Text 6"/>
          <p:cNvSpPr/>
          <p:nvPr/>
        </p:nvSpPr>
        <p:spPr>
          <a:xfrm>
            <a:off x="5943600" y="1371600"/>
            <a:ext cx="21027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Ran</a:t>
            </a:r>
            <a:r>
              <a:rPr lang="en-US" sz="1400" b="1" u="none" strike="noStrike">
                <a:solidFill>
                  <a:srgbClr val="14213D"/>
                </a:solidFill>
                <a:effectLst/>
                <a:uFillTx/>
                <a:latin typeface="Calibri"/>
                <a:ea typeface="Calibri"/>
              </a:rPr>
              <a:t>do</a:t>
            </a:r>
            <a:r>
              <a:rPr lang="en-US" sz="1400" b="1" u="none" strike="noStrike">
                <a:solidFill>
                  <a:srgbClr val="14213D"/>
                </a:solidFill>
                <a:effectLst/>
                <a:uFillTx/>
                <a:latin typeface="Calibri"/>
                <a:ea typeface="Calibri"/>
              </a:rPr>
              <a:t>m </a:t>
            </a:r>
            <a:r>
              <a:rPr lang="en-US" sz="1400" b="1" u="none" strike="noStrike">
                <a:solidFill>
                  <a:srgbClr val="14213D"/>
                </a:solidFill>
                <a:effectLst/>
                <a:uFillTx/>
                <a:latin typeface="Calibri"/>
                <a:ea typeface="Calibri"/>
              </a:rPr>
              <a:t>failu</a:t>
            </a:r>
            <a:r>
              <a:rPr lang="en-US" sz="1400" b="1" u="none" strike="noStrike">
                <a:solidFill>
                  <a:srgbClr val="14213D"/>
                </a:solidFill>
                <a:effectLst/>
                <a:uFillTx/>
                <a:latin typeface="Calibri"/>
                <a:ea typeface="Calibri"/>
              </a:rPr>
              <a:t>res</a:t>
            </a:r>
            <a:endParaRPr lang="en-IN" sz="1400" b="0" u="none" strike="noStrike">
              <a:solidFill>
                <a:srgbClr val="000000"/>
              </a:solidFill>
              <a:effectLst/>
              <a:uFillTx/>
              <a:latin typeface="Arial"/>
            </a:endParaRPr>
          </a:p>
        </p:txBody>
      </p:sp>
      <p:sp>
        <p:nvSpPr>
          <p:cNvPr id="22" name="Text 7"/>
          <p:cNvSpPr/>
          <p:nvPr/>
        </p:nvSpPr>
        <p:spPr>
          <a:xfrm>
            <a:off x="8138160" y="1371600"/>
            <a:ext cx="33829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Failu</a:t>
            </a:r>
            <a:r>
              <a:rPr lang="en-US" sz="1300" b="0" u="none" strike="noStrike">
                <a:solidFill>
                  <a:srgbClr val="2B2B2B"/>
                </a:solidFill>
                <a:effectLst/>
                <a:uFillTx/>
                <a:latin typeface="Calibri"/>
                <a:ea typeface="Calibri"/>
              </a:rPr>
              <a:t>re </a:t>
            </a:r>
            <a:r>
              <a:rPr lang="en-US" sz="1300" b="0" u="none" strike="noStrike">
                <a:solidFill>
                  <a:srgbClr val="2B2B2B"/>
                </a:solidFill>
                <a:effectLst/>
                <a:uFillTx/>
                <a:latin typeface="Calibri"/>
                <a:ea typeface="Calibri"/>
              </a:rPr>
              <a:t>inter</a:t>
            </a:r>
            <a:r>
              <a:rPr lang="en-US" sz="1300" b="0" u="none" strike="noStrike">
                <a:solidFill>
                  <a:srgbClr val="2B2B2B"/>
                </a:solidFill>
                <a:effectLst/>
                <a:uFillTx/>
                <a:latin typeface="Calibri"/>
                <a:ea typeface="Calibri"/>
              </a:rPr>
              <a:t>vals </a:t>
            </a:r>
            <a:r>
              <a:rPr lang="en-US" sz="1300" b="0" u="none" strike="noStrike">
                <a:solidFill>
                  <a:srgbClr val="2B2B2B"/>
                </a:solidFill>
                <a:effectLst/>
                <a:uFillTx/>
                <a:latin typeface="Calibri"/>
                <a:ea typeface="Calibri"/>
              </a:rPr>
              <a:t>are </a:t>
            </a:r>
            <a:r>
              <a:rPr lang="en-US" sz="1300" b="0" u="none" strike="noStrike">
                <a:solidFill>
                  <a:srgbClr val="2B2B2B"/>
                </a:solidFill>
                <a:effectLst/>
                <a:uFillTx/>
                <a:latin typeface="Calibri"/>
                <a:ea typeface="Calibri"/>
              </a:rPr>
              <a:t>sam</a:t>
            </a:r>
            <a:r>
              <a:rPr lang="en-US" sz="1300" b="0" u="none" strike="noStrike">
                <a:solidFill>
                  <a:srgbClr val="2B2B2B"/>
                </a:solidFill>
                <a:effectLst/>
                <a:uFillTx/>
                <a:latin typeface="Calibri"/>
                <a:ea typeface="Calibri"/>
              </a:rPr>
              <a:t>pled </a:t>
            </a:r>
            <a:r>
              <a:rPr lang="en-US" sz="1300" b="0" u="none" strike="noStrike">
                <a:solidFill>
                  <a:srgbClr val="2B2B2B"/>
                </a:solidFill>
                <a:effectLst/>
                <a:uFillTx/>
                <a:latin typeface="Calibri"/>
                <a:ea typeface="Calibri"/>
              </a:rPr>
              <a:t>from </a:t>
            </a:r>
            <a:r>
              <a:rPr lang="en-US" sz="1300" b="0" u="none" strike="noStrike">
                <a:solidFill>
                  <a:srgbClr val="2B2B2B"/>
                </a:solidFill>
                <a:effectLst/>
                <a:uFillTx/>
                <a:latin typeface="Calibri"/>
                <a:ea typeface="Calibri"/>
              </a:rPr>
              <a:t>a </a:t>
            </a:r>
            <a:r>
              <a:rPr lang="en-US" sz="1300" b="0" u="none" strike="noStrike">
                <a:solidFill>
                  <a:srgbClr val="2B2B2B"/>
                </a:solidFill>
                <a:effectLst/>
                <a:uFillTx/>
                <a:latin typeface="Calibri"/>
                <a:ea typeface="Calibri"/>
              </a:rPr>
              <a:t>nor</a:t>
            </a:r>
            <a:r>
              <a:rPr lang="en-US" sz="1300" b="0" u="none" strike="noStrike">
                <a:solidFill>
                  <a:srgbClr val="2B2B2B"/>
                </a:solidFill>
                <a:effectLst/>
                <a:uFillTx/>
                <a:latin typeface="Calibri"/>
                <a:ea typeface="Calibri"/>
              </a:rPr>
              <a:t>mal </a:t>
            </a:r>
            <a:r>
              <a:rPr lang="en-US" sz="1300" b="0" u="none" strike="noStrike">
                <a:solidFill>
                  <a:srgbClr val="2B2B2B"/>
                </a:solidFill>
                <a:effectLst/>
                <a:uFillTx/>
                <a:latin typeface="Calibri"/>
                <a:ea typeface="Calibri"/>
              </a:rPr>
              <a:t>distr</a:t>
            </a:r>
            <a:r>
              <a:rPr lang="en-US" sz="1300" b="0" u="none" strike="noStrike">
                <a:solidFill>
                  <a:srgbClr val="2B2B2B"/>
                </a:solidFill>
                <a:effectLst/>
                <a:uFillTx/>
                <a:latin typeface="Calibri"/>
                <a:ea typeface="Calibri"/>
              </a:rPr>
              <a:t>ibuti</a:t>
            </a:r>
            <a:r>
              <a:rPr lang="en-US" sz="1300" b="0" u="none" strike="noStrike">
                <a:solidFill>
                  <a:srgbClr val="2B2B2B"/>
                </a:solidFill>
                <a:effectLst/>
                <a:uFillTx/>
                <a:latin typeface="Calibri"/>
                <a:ea typeface="Calibri"/>
              </a:rPr>
              <a:t>on </a:t>
            </a:r>
            <a:r>
              <a:rPr lang="en-US" sz="1300" b="0" u="none" strike="noStrike">
                <a:solidFill>
                  <a:srgbClr val="2B2B2B"/>
                </a:solidFill>
                <a:effectLst/>
                <a:uFillTx/>
                <a:latin typeface="Calibri"/>
                <a:ea typeface="Calibri"/>
              </a:rPr>
              <a:t>cent</a:t>
            </a:r>
            <a:r>
              <a:rPr lang="en-US" sz="1300" b="0" u="none" strike="noStrike">
                <a:solidFill>
                  <a:srgbClr val="2B2B2B"/>
                </a:solidFill>
                <a:effectLst/>
                <a:uFillTx/>
                <a:latin typeface="Calibri"/>
                <a:ea typeface="Calibri"/>
              </a:rPr>
              <a:t>ered </a:t>
            </a:r>
            <a:r>
              <a:rPr lang="en-US" sz="1300" b="0" u="none" strike="noStrike">
                <a:solidFill>
                  <a:srgbClr val="2B2B2B"/>
                </a:solidFill>
                <a:effectLst/>
                <a:uFillTx/>
                <a:latin typeface="Calibri"/>
                <a:ea typeface="Calibri"/>
              </a:rPr>
              <a:t>on </a:t>
            </a:r>
            <a:r>
              <a:rPr lang="en-US" sz="1300" b="0" u="none" strike="noStrike">
                <a:solidFill>
                  <a:srgbClr val="2B2B2B"/>
                </a:solidFill>
                <a:effectLst/>
                <a:uFillTx/>
                <a:latin typeface="Calibri"/>
                <a:ea typeface="Calibri"/>
              </a:rPr>
              <a:t>MTT</a:t>
            </a:r>
            <a:r>
              <a:rPr lang="en-US" sz="1300" b="0" u="none" strike="noStrike">
                <a:solidFill>
                  <a:srgbClr val="2B2B2B"/>
                </a:solidFill>
                <a:effectLst/>
                <a:uFillTx/>
                <a:latin typeface="Calibri"/>
                <a:ea typeface="Calibri"/>
              </a:rPr>
              <a:t>F.</a:t>
            </a:r>
            <a:endParaRPr lang="en-IN" sz="1300" b="0" u="none" strike="noStrike">
              <a:solidFill>
                <a:srgbClr val="000000"/>
              </a:solidFill>
              <a:effectLst/>
              <a:uFillTx/>
              <a:latin typeface="Arial"/>
            </a:endParaRPr>
          </a:p>
        </p:txBody>
      </p:sp>
      <p:sp>
        <p:nvSpPr>
          <p:cNvPr id="23" name="Shape 8"/>
          <p:cNvSpPr/>
          <p:nvPr/>
        </p:nvSpPr>
        <p:spPr>
          <a:xfrm>
            <a:off x="5760720" y="2121480"/>
            <a:ext cx="5851800" cy="658080"/>
          </a:xfrm>
          <a:prstGeom prst="roundRect">
            <a:avLst>
              <a:gd name="adj" fmla="val 11111"/>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4" name="Text 9"/>
          <p:cNvSpPr/>
          <p:nvPr/>
        </p:nvSpPr>
        <p:spPr>
          <a:xfrm>
            <a:off x="5943600" y="2121480"/>
            <a:ext cx="21027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Limi</a:t>
            </a:r>
            <a:r>
              <a:rPr lang="en-US" sz="1400" b="1" u="none" strike="noStrike">
                <a:solidFill>
                  <a:srgbClr val="14213D"/>
                </a:solidFill>
                <a:effectLst/>
                <a:uFillTx/>
                <a:latin typeface="Calibri"/>
                <a:ea typeface="Calibri"/>
              </a:rPr>
              <a:t>ted </a:t>
            </a:r>
            <a:r>
              <a:rPr lang="en-US" sz="1400" b="1" u="none" strike="noStrike">
                <a:solidFill>
                  <a:srgbClr val="14213D"/>
                </a:solidFill>
                <a:effectLst/>
                <a:uFillTx/>
                <a:latin typeface="Calibri"/>
                <a:ea typeface="Calibri"/>
              </a:rPr>
              <a:t>adju</a:t>
            </a:r>
            <a:r>
              <a:rPr lang="en-US" sz="1400" b="1" u="none" strike="noStrike">
                <a:solidFill>
                  <a:srgbClr val="14213D"/>
                </a:solidFill>
                <a:effectLst/>
                <a:uFillTx/>
                <a:latin typeface="Calibri"/>
                <a:ea typeface="Calibri"/>
              </a:rPr>
              <a:t>ster</a:t>
            </a:r>
            <a:r>
              <a:rPr lang="en-US" sz="1400" b="1" u="none" strike="noStrike">
                <a:solidFill>
                  <a:srgbClr val="14213D"/>
                </a:solidFill>
                <a:effectLst/>
                <a:uFillTx/>
                <a:latin typeface="Calibri"/>
                <a:ea typeface="Calibri"/>
              </a:rPr>
              <a:t>s</a:t>
            </a:r>
            <a:endParaRPr lang="en-IN" sz="1400" b="0" u="none" strike="noStrike">
              <a:solidFill>
                <a:srgbClr val="000000"/>
              </a:solidFill>
              <a:effectLst/>
              <a:uFillTx/>
              <a:latin typeface="Arial"/>
            </a:endParaRPr>
          </a:p>
        </p:txBody>
      </p:sp>
      <p:sp>
        <p:nvSpPr>
          <p:cNvPr id="25" name="Text 10"/>
          <p:cNvSpPr/>
          <p:nvPr/>
        </p:nvSpPr>
        <p:spPr>
          <a:xfrm>
            <a:off x="8138160" y="2121480"/>
            <a:ext cx="33829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A </a:t>
            </a:r>
            <a:r>
              <a:rPr lang="en-US" sz="1300" b="0" u="none" strike="noStrike">
                <a:solidFill>
                  <a:srgbClr val="2B2B2B"/>
                </a:solidFill>
                <a:effectLst/>
                <a:uFillTx/>
                <a:latin typeface="Calibri"/>
                <a:ea typeface="Calibri"/>
              </a:rPr>
              <a:t>pool </a:t>
            </a:r>
            <a:r>
              <a:rPr lang="en-US" sz="1300" b="0" u="none" strike="noStrike">
                <a:solidFill>
                  <a:srgbClr val="2B2B2B"/>
                </a:solidFill>
                <a:effectLst/>
                <a:uFillTx/>
                <a:latin typeface="Calibri"/>
                <a:ea typeface="Calibri"/>
              </a:rPr>
              <a:t>of </a:t>
            </a:r>
            <a:r>
              <a:rPr lang="en-US" sz="1300" b="0" u="none" strike="noStrike">
                <a:solidFill>
                  <a:srgbClr val="2B2B2B"/>
                </a:solidFill>
                <a:effectLst/>
                <a:uFillTx/>
                <a:latin typeface="Calibri"/>
                <a:ea typeface="Calibri"/>
              </a:rPr>
              <a:t>mult</a:t>
            </a:r>
            <a:r>
              <a:rPr lang="en-US" sz="1300" b="0" u="none" strike="noStrike">
                <a:solidFill>
                  <a:srgbClr val="2B2B2B"/>
                </a:solidFill>
                <a:effectLst/>
                <a:uFillTx/>
                <a:latin typeface="Calibri"/>
                <a:ea typeface="Calibri"/>
              </a:rPr>
              <a:t>i-</a:t>
            </a:r>
            <a:r>
              <a:rPr lang="en-US" sz="1300" b="0" u="none" strike="noStrike">
                <a:solidFill>
                  <a:srgbClr val="2B2B2B"/>
                </a:solidFill>
                <a:effectLst/>
                <a:uFillTx/>
                <a:latin typeface="Calibri"/>
                <a:ea typeface="Calibri"/>
              </a:rPr>
              <a:t>skille</a:t>
            </a:r>
            <a:r>
              <a:rPr lang="en-US" sz="1300" b="0" u="none" strike="noStrike">
                <a:solidFill>
                  <a:srgbClr val="2B2B2B"/>
                </a:solidFill>
                <a:effectLst/>
                <a:uFillTx/>
                <a:latin typeface="Calibri"/>
                <a:ea typeface="Calibri"/>
              </a:rPr>
              <a:t>d </a:t>
            </a:r>
            <a:r>
              <a:rPr lang="en-US" sz="1300" b="0" u="none" strike="noStrike">
                <a:solidFill>
                  <a:srgbClr val="2B2B2B"/>
                </a:solidFill>
                <a:effectLst/>
                <a:uFillTx/>
                <a:latin typeface="Calibri"/>
                <a:ea typeface="Calibri"/>
              </a:rPr>
              <a:t>adju</a:t>
            </a:r>
            <a:r>
              <a:rPr lang="en-US" sz="1300" b="0" u="none" strike="noStrike">
                <a:solidFill>
                  <a:srgbClr val="2B2B2B"/>
                </a:solidFill>
                <a:effectLst/>
                <a:uFillTx/>
                <a:latin typeface="Calibri"/>
                <a:ea typeface="Calibri"/>
              </a:rPr>
              <a:t>sters </a:t>
            </a:r>
            <a:r>
              <a:rPr lang="en-US" sz="1300" b="0" u="none" strike="noStrike">
                <a:solidFill>
                  <a:srgbClr val="2B2B2B"/>
                </a:solidFill>
                <a:effectLst/>
                <a:uFillTx/>
                <a:latin typeface="Calibri"/>
                <a:ea typeface="Calibri"/>
              </a:rPr>
              <a:t>repa</a:t>
            </a:r>
            <a:r>
              <a:rPr lang="en-US" sz="1300" b="0" u="none" strike="noStrike">
                <a:solidFill>
                  <a:srgbClr val="2B2B2B"/>
                </a:solidFill>
                <a:effectLst/>
                <a:uFillTx/>
                <a:latin typeface="Calibri"/>
                <a:ea typeface="Calibri"/>
              </a:rPr>
              <a:t>irs </a:t>
            </a:r>
            <a:r>
              <a:rPr lang="en-US" sz="1300" b="0" u="none" strike="noStrike">
                <a:solidFill>
                  <a:srgbClr val="2B2B2B"/>
                </a:solidFill>
                <a:effectLst/>
                <a:uFillTx/>
                <a:latin typeface="Calibri"/>
                <a:ea typeface="Calibri"/>
              </a:rPr>
              <a:t>faile</a:t>
            </a:r>
            <a:r>
              <a:rPr lang="en-US" sz="1300" b="0" u="none" strike="noStrike">
                <a:solidFill>
                  <a:srgbClr val="2B2B2B"/>
                </a:solidFill>
                <a:effectLst/>
                <a:uFillTx/>
                <a:latin typeface="Calibri"/>
                <a:ea typeface="Calibri"/>
              </a:rPr>
              <a:t>d </a:t>
            </a:r>
            <a:r>
              <a:rPr lang="en-US" sz="1300" b="0" u="none" strike="noStrike">
                <a:solidFill>
                  <a:srgbClr val="2B2B2B"/>
                </a:solidFill>
                <a:effectLst/>
                <a:uFillTx/>
                <a:latin typeface="Calibri"/>
                <a:ea typeface="Calibri"/>
              </a:rPr>
              <a:t>mac</a:t>
            </a:r>
            <a:r>
              <a:rPr lang="en-US" sz="1300" b="0" u="none" strike="noStrike">
                <a:solidFill>
                  <a:srgbClr val="2B2B2B"/>
                </a:solidFill>
                <a:effectLst/>
                <a:uFillTx/>
                <a:latin typeface="Calibri"/>
                <a:ea typeface="Calibri"/>
              </a:rPr>
              <a:t>hine</a:t>
            </a:r>
            <a:r>
              <a:rPr lang="en-US" sz="1300" b="0" u="none" strike="noStrike">
                <a:solidFill>
                  <a:srgbClr val="2B2B2B"/>
                </a:solidFill>
                <a:effectLst/>
                <a:uFillTx/>
                <a:latin typeface="Calibri"/>
                <a:ea typeface="Calibri"/>
              </a:rPr>
              <a:t>s.</a:t>
            </a:r>
            <a:endParaRPr lang="en-IN" sz="1300" b="0" u="none" strike="noStrike">
              <a:solidFill>
                <a:srgbClr val="000000"/>
              </a:solidFill>
              <a:effectLst/>
              <a:uFillTx/>
              <a:latin typeface="Arial"/>
            </a:endParaRPr>
          </a:p>
        </p:txBody>
      </p:sp>
      <p:sp>
        <p:nvSpPr>
          <p:cNvPr id="26" name="Shape 11"/>
          <p:cNvSpPr/>
          <p:nvPr/>
        </p:nvSpPr>
        <p:spPr>
          <a:xfrm>
            <a:off x="5760720" y="2871360"/>
            <a:ext cx="5851800" cy="658080"/>
          </a:xfrm>
          <a:prstGeom prst="roundRect">
            <a:avLst>
              <a:gd name="adj" fmla="val 11111"/>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7" name="Text 12"/>
          <p:cNvSpPr/>
          <p:nvPr/>
        </p:nvSpPr>
        <p:spPr>
          <a:xfrm>
            <a:off x="5943600" y="2871360"/>
            <a:ext cx="21027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Skill </a:t>
            </a:r>
            <a:r>
              <a:rPr lang="en-US" sz="1400" b="1" u="none" strike="noStrike">
                <a:solidFill>
                  <a:srgbClr val="14213D"/>
                </a:solidFill>
                <a:effectLst/>
                <a:uFillTx/>
                <a:latin typeface="Calibri"/>
                <a:ea typeface="Calibri"/>
              </a:rPr>
              <a:t>mis</a:t>
            </a:r>
            <a:r>
              <a:rPr lang="en-US" sz="1400" b="1" u="none" strike="noStrike">
                <a:solidFill>
                  <a:srgbClr val="14213D"/>
                </a:solidFill>
                <a:effectLst/>
                <a:uFillTx/>
                <a:latin typeface="Calibri"/>
                <a:ea typeface="Calibri"/>
              </a:rPr>
              <a:t>mat</a:t>
            </a:r>
            <a:r>
              <a:rPr lang="en-US" sz="1400" b="1" u="none" strike="noStrike">
                <a:solidFill>
                  <a:srgbClr val="14213D"/>
                </a:solidFill>
                <a:effectLst/>
                <a:uFillTx/>
                <a:latin typeface="Calibri"/>
                <a:ea typeface="Calibri"/>
              </a:rPr>
              <a:t>ch</a:t>
            </a:r>
            <a:endParaRPr lang="en-IN" sz="1400" b="0" u="none" strike="noStrike">
              <a:solidFill>
                <a:srgbClr val="000000"/>
              </a:solidFill>
              <a:effectLst/>
              <a:uFillTx/>
              <a:latin typeface="Arial"/>
            </a:endParaRPr>
          </a:p>
        </p:txBody>
      </p:sp>
      <p:sp>
        <p:nvSpPr>
          <p:cNvPr id="28" name="Text 13"/>
          <p:cNvSpPr/>
          <p:nvPr/>
        </p:nvSpPr>
        <p:spPr>
          <a:xfrm>
            <a:off x="8138160" y="2871360"/>
            <a:ext cx="33829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Only </a:t>
            </a:r>
            <a:r>
              <a:rPr lang="en-US" sz="1300" b="0" u="none" strike="noStrike">
                <a:solidFill>
                  <a:srgbClr val="2B2B2B"/>
                </a:solidFill>
                <a:effectLst/>
                <a:uFillTx/>
                <a:latin typeface="Calibri"/>
                <a:ea typeface="Calibri"/>
              </a:rPr>
              <a:t>a </a:t>
            </a:r>
            <a:r>
              <a:rPr lang="en-US" sz="1300" b="0" u="none" strike="noStrike">
                <a:solidFill>
                  <a:srgbClr val="2B2B2B"/>
                </a:solidFill>
                <a:effectLst/>
                <a:uFillTx/>
                <a:latin typeface="Calibri"/>
                <a:ea typeface="Calibri"/>
              </a:rPr>
              <a:t>com</a:t>
            </a:r>
            <a:r>
              <a:rPr lang="en-US" sz="1300" b="0" u="none" strike="noStrike">
                <a:solidFill>
                  <a:srgbClr val="2B2B2B"/>
                </a:solidFill>
                <a:effectLst/>
                <a:uFillTx/>
                <a:latin typeface="Calibri"/>
                <a:ea typeface="Calibri"/>
              </a:rPr>
              <a:t>pati</a:t>
            </a:r>
            <a:r>
              <a:rPr lang="en-US" sz="1300" b="0" u="none" strike="noStrike">
                <a:solidFill>
                  <a:srgbClr val="2B2B2B"/>
                </a:solidFill>
                <a:effectLst/>
                <a:uFillTx/>
                <a:latin typeface="Calibri"/>
                <a:ea typeface="Calibri"/>
              </a:rPr>
              <a:t>ble </a:t>
            </a:r>
            <a:r>
              <a:rPr lang="en-US" sz="1300" b="0" u="none" strike="noStrike">
                <a:solidFill>
                  <a:srgbClr val="2B2B2B"/>
                </a:solidFill>
                <a:effectLst/>
                <a:uFillTx/>
                <a:latin typeface="Calibri"/>
                <a:ea typeface="Calibri"/>
              </a:rPr>
              <a:t>adju</a:t>
            </a:r>
            <a:r>
              <a:rPr lang="en-US" sz="1300" b="0" u="none" strike="noStrike">
                <a:solidFill>
                  <a:srgbClr val="2B2B2B"/>
                </a:solidFill>
                <a:effectLst/>
                <a:uFillTx/>
                <a:latin typeface="Calibri"/>
                <a:ea typeface="Calibri"/>
              </a:rPr>
              <a:t>ster </a:t>
            </a:r>
            <a:r>
              <a:rPr lang="en-US" sz="1300" b="0" u="none" strike="noStrike">
                <a:solidFill>
                  <a:srgbClr val="2B2B2B"/>
                </a:solidFill>
                <a:effectLst/>
                <a:uFillTx/>
                <a:latin typeface="Calibri"/>
                <a:ea typeface="Calibri"/>
              </a:rPr>
              <a:t>(skill </a:t>
            </a:r>
            <a:r>
              <a:rPr lang="en-US" sz="1300" b="0" u="none" strike="noStrike">
                <a:solidFill>
                  <a:srgbClr val="2B2B2B"/>
                </a:solidFill>
                <a:effectLst/>
                <a:uFillTx/>
                <a:latin typeface="Calibri"/>
                <a:ea typeface="Calibri"/>
              </a:rPr>
              <a:t>for </a:t>
            </a:r>
            <a:r>
              <a:rPr lang="en-US" sz="1300" b="0" u="none" strike="noStrike">
                <a:solidFill>
                  <a:srgbClr val="2B2B2B"/>
                </a:solidFill>
                <a:effectLst/>
                <a:uFillTx/>
                <a:latin typeface="Calibri"/>
                <a:ea typeface="Calibri"/>
              </a:rPr>
              <a:t>the </a:t>
            </a:r>
            <a:r>
              <a:rPr lang="en-US" sz="1300" b="0" u="none" strike="noStrike">
                <a:solidFill>
                  <a:srgbClr val="2B2B2B"/>
                </a:solidFill>
                <a:effectLst/>
                <a:uFillTx/>
                <a:latin typeface="Calibri"/>
                <a:ea typeface="Calibri"/>
              </a:rPr>
              <a:t>mac</a:t>
            </a:r>
            <a:r>
              <a:rPr lang="en-US" sz="1300" b="0" u="none" strike="noStrike">
                <a:solidFill>
                  <a:srgbClr val="2B2B2B"/>
                </a:solidFill>
                <a:effectLst/>
                <a:uFillTx/>
                <a:latin typeface="Calibri"/>
                <a:ea typeface="Calibri"/>
              </a:rPr>
              <a:t>hine </a:t>
            </a:r>
            <a:r>
              <a:rPr lang="en-US" sz="1300" b="0" u="none" strike="noStrike">
                <a:solidFill>
                  <a:srgbClr val="2B2B2B"/>
                </a:solidFill>
                <a:effectLst/>
                <a:uFillTx/>
                <a:latin typeface="Calibri"/>
                <a:ea typeface="Calibri"/>
              </a:rPr>
              <a:t>cate</a:t>
            </a:r>
            <a:r>
              <a:rPr lang="en-US" sz="1300" b="0" u="none" strike="noStrike">
                <a:solidFill>
                  <a:srgbClr val="2B2B2B"/>
                </a:solidFill>
                <a:effectLst/>
                <a:uFillTx/>
                <a:latin typeface="Calibri"/>
                <a:ea typeface="Calibri"/>
              </a:rPr>
              <a:t>gory</a:t>
            </a:r>
            <a:r>
              <a:rPr lang="en-US" sz="1300" b="0" u="none" strike="noStrike">
                <a:solidFill>
                  <a:srgbClr val="2B2B2B"/>
                </a:solidFill>
                <a:effectLst/>
                <a:uFillTx/>
                <a:latin typeface="Calibri"/>
                <a:ea typeface="Calibri"/>
              </a:rPr>
              <a:t>) can </a:t>
            </a:r>
            <a:r>
              <a:rPr lang="en-US" sz="1300" b="0" u="none" strike="noStrike">
                <a:solidFill>
                  <a:srgbClr val="2B2B2B"/>
                </a:solidFill>
                <a:effectLst/>
                <a:uFillTx/>
                <a:latin typeface="Calibri"/>
                <a:ea typeface="Calibri"/>
              </a:rPr>
              <a:t>repa</a:t>
            </a:r>
            <a:r>
              <a:rPr lang="en-US" sz="1300" b="0" u="none" strike="noStrike">
                <a:solidFill>
                  <a:srgbClr val="2B2B2B"/>
                </a:solidFill>
                <a:effectLst/>
                <a:uFillTx/>
                <a:latin typeface="Calibri"/>
                <a:ea typeface="Calibri"/>
              </a:rPr>
              <a:t>ir a </a:t>
            </a:r>
            <a:r>
              <a:rPr lang="en-US" sz="1300" b="0" u="none" strike="noStrike">
                <a:solidFill>
                  <a:srgbClr val="2B2B2B"/>
                </a:solidFill>
                <a:effectLst/>
                <a:uFillTx/>
                <a:latin typeface="Calibri"/>
                <a:ea typeface="Calibri"/>
              </a:rPr>
              <a:t>mac</a:t>
            </a:r>
            <a:r>
              <a:rPr lang="en-US" sz="1300" b="0" u="none" strike="noStrike">
                <a:solidFill>
                  <a:srgbClr val="2B2B2B"/>
                </a:solidFill>
                <a:effectLst/>
                <a:uFillTx/>
                <a:latin typeface="Calibri"/>
                <a:ea typeface="Calibri"/>
              </a:rPr>
              <a:t>hine.</a:t>
            </a:r>
            <a:endParaRPr lang="en-IN" sz="1300" b="0" u="none" strike="noStrike">
              <a:solidFill>
                <a:srgbClr val="000000"/>
              </a:solidFill>
              <a:effectLst/>
              <a:uFillTx/>
              <a:latin typeface="Arial"/>
            </a:endParaRPr>
          </a:p>
        </p:txBody>
      </p:sp>
      <p:sp>
        <p:nvSpPr>
          <p:cNvPr id="29" name="Shape 14"/>
          <p:cNvSpPr/>
          <p:nvPr/>
        </p:nvSpPr>
        <p:spPr>
          <a:xfrm>
            <a:off x="5760720" y="3620880"/>
            <a:ext cx="5851800" cy="658080"/>
          </a:xfrm>
          <a:prstGeom prst="roundRect">
            <a:avLst>
              <a:gd name="adj" fmla="val 11111"/>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0" name="Text 15"/>
          <p:cNvSpPr/>
          <p:nvPr/>
        </p:nvSpPr>
        <p:spPr>
          <a:xfrm>
            <a:off x="5943600" y="3620880"/>
            <a:ext cx="21027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Wai</a:t>
            </a:r>
            <a:r>
              <a:rPr lang="en-US" sz="1400" b="1" u="none" strike="noStrike">
                <a:solidFill>
                  <a:srgbClr val="14213D"/>
                </a:solidFill>
                <a:effectLst/>
                <a:uFillTx/>
                <a:latin typeface="Calibri"/>
                <a:ea typeface="Calibri"/>
              </a:rPr>
              <a:t>ting </a:t>
            </a:r>
            <a:r>
              <a:rPr lang="en-US" sz="1400" b="1" u="none" strike="noStrike">
                <a:solidFill>
                  <a:srgbClr val="14213D"/>
                </a:solidFill>
                <a:effectLst/>
                <a:uFillTx/>
                <a:latin typeface="Calibri"/>
                <a:ea typeface="Calibri"/>
              </a:rPr>
              <a:t>que</a:t>
            </a:r>
            <a:r>
              <a:rPr lang="en-US" sz="1400" b="1" u="none" strike="noStrike">
                <a:solidFill>
                  <a:srgbClr val="14213D"/>
                </a:solidFill>
                <a:effectLst/>
                <a:uFillTx/>
                <a:latin typeface="Calibri"/>
                <a:ea typeface="Calibri"/>
              </a:rPr>
              <a:t>ues</a:t>
            </a:r>
            <a:endParaRPr lang="en-IN" sz="1400" b="0" u="none" strike="noStrike">
              <a:solidFill>
                <a:srgbClr val="000000"/>
              </a:solidFill>
              <a:effectLst/>
              <a:uFillTx/>
              <a:latin typeface="Arial"/>
            </a:endParaRPr>
          </a:p>
        </p:txBody>
      </p:sp>
      <p:sp>
        <p:nvSpPr>
          <p:cNvPr id="31" name="Text 16"/>
          <p:cNvSpPr/>
          <p:nvPr/>
        </p:nvSpPr>
        <p:spPr>
          <a:xfrm>
            <a:off x="8138160" y="3620880"/>
            <a:ext cx="33829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Faile</a:t>
            </a:r>
            <a:r>
              <a:rPr lang="en-US" sz="1300" b="0" u="none" strike="noStrike">
                <a:solidFill>
                  <a:srgbClr val="2B2B2B"/>
                </a:solidFill>
                <a:effectLst/>
                <a:uFillTx/>
                <a:latin typeface="Calibri"/>
                <a:ea typeface="Calibri"/>
              </a:rPr>
              <a:t>d </a:t>
            </a:r>
            <a:r>
              <a:rPr lang="en-US" sz="1300" b="0" u="none" strike="noStrike">
                <a:solidFill>
                  <a:srgbClr val="2B2B2B"/>
                </a:solidFill>
                <a:effectLst/>
                <a:uFillTx/>
                <a:latin typeface="Calibri"/>
                <a:ea typeface="Calibri"/>
              </a:rPr>
              <a:t>mac</a:t>
            </a:r>
            <a:r>
              <a:rPr lang="en-US" sz="1300" b="0" u="none" strike="noStrike">
                <a:solidFill>
                  <a:srgbClr val="2B2B2B"/>
                </a:solidFill>
                <a:effectLst/>
                <a:uFillTx/>
                <a:latin typeface="Calibri"/>
                <a:ea typeface="Calibri"/>
              </a:rPr>
              <a:t>hine</a:t>
            </a:r>
            <a:r>
              <a:rPr lang="en-US" sz="1300" b="0" u="none" strike="noStrike">
                <a:solidFill>
                  <a:srgbClr val="2B2B2B"/>
                </a:solidFill>
                <a:effectLst/>
                <a:uFillTx/>
                <a:latin typeface="Calibri"/>
                <a:ea typeface="Calibri"/>
              </a:rPr>
              <a:t>s </a:t>
            </a:r>
            <a:r>
              <a:rPr lang="en-US" sz="1300" b="0" u="none" strike="noStrike">
                <a:solidFill>
                  <a:srgbClr val="2B2B2B"/>
                </a:solidFill>
                <a:effectLst/>
                <a:uFillTx/>
                <a:latin typeface="Calibri"/>
                <a:ea typeface="Calibri"/>
              </a:rPr>
              <a:t>wait </a:t>
            </a:r>
            <a:r>
              <a:rPr lang="en-US" sz="1300" b="0" u="none" strike="noStrike">
                <a:solidFill>
                  <a:srgbClr val="2B2B2B"/>
                </a:solidFill>
                <a:effectLst/>
                <a:uFillTx/>
                <a:latin typeface="Calibri"/>
                <a:ea typeface="Calibri"/>
              </a:rPr>
              <a:t>whe</a:t>
            </a:r>
            <a:r>
              <a:rPr lang="en-US" sz="1300" b="0" u="none" strike="noStrike">
                <a:solidFill>
                  <a:srgbClr val="2B2B2B"/>
                </a:solidFill>
                <a:effectLst/>
                <a:uFillTx/>
                <a:latin typeface="Calibri"/>
                <a:ea typeface="Calibri"/>
              </a:rPr>
              <a:t>n no </a:t>
            </a:r>
            <a:r>
              <a:rPr lang="en-US" sz="1300" b="0" u="none" strike="noStrike">
                <a:solidFill>
                  <a:srgbClr val="2B2B2B"/>
                </a:solidFill>
                <a:effectLst/>
                <a:uFillTx/>
                <a:latin typeface="Calibri"/>
                <a:ea typeface="Calibri"/>
              </a:rPr>
              <a:t>com</a:t>
            </a:r>
            <a:r>
              <a:rPr lang="en-US" sz="1300" b="0" u="none" strike="noStrike">
                <a:solidFill>
                  <a:srgbClr val="2B2B2B"/>
                </a:solidFill>
                <a:effectLst/>
                <a:uFillTx/>
                <a:latin typeface="Calibri"/>
                <a:ea typeface="Calibri"/>
              </a:rPr>
              <a:t>pati</a:t>
            </a:r>
            <a:r>
              <a:rPr lang="en-US" sz="1300" b="0" u="none" strike="noStrike">
                <a:solidFill>
                  <a:srgbClr val="2B2B2B"/>
                </a:solidFill>
                <a:effectLst/>
                <a:uFillTx/>
                <a:latin typeface="Calibri"/>
                <a:ea typeface="Calibri"/>
              </a:rPr>
              <a:t>ble </a:t>
            </a:r>
            <a:r>
              <a:rPr lang="en-US" sz="1300" b="0" u="none" strike="noStrike">
                <a:solidFill>
                  <a:srgbClr val="2B2B2B"/>
                </a:solidFill>
                <a:effectLst/>
                <a:uFillTx/>
                <a:latin typeface="Calibri"/>
                <a:ea typeface="Calibri"/>
              </a:rPr>
              <a:t>adju</a:t>
            </a:r>
            <a:r>
              <a:rPr lang="en-US" sz="1300" b="0" u="none" strike="noStrike">
                <a:solidFill>
                  <a:srgbClr val="2B2B2B"/>
                </a:solidFill>
                <a:effectLst/>
                <a:uFillTx/>
                <a:latin typeface="Calibri"/>
                <a:ea typeface="Calibri"/>
              </a:rPr>
              <a:t>ster </a:t>
            </a:r>
            <a:r>
              <a:rPr lang="en-US" sz="1300" b="0" u="none" strike="noStrike">
                <a:solidFill>
                  <a:srgbClr val="2B2B2B"/>
                </a:solidFill>
                <a:effectLst/>
                <a:uFillTx/>
                <a:latin typeface="Calibri"/>
                <a:ea typeface="Calibri"/>
              </a:rPr>
              <a:t>is </a:t>
            </a:r>
            <a:r>
              <a:rPr lang="en-US" sz="1300" b="0" u="none" strike="noStrike">
                <a:solidFill>
                  <a:srgbClr val="2B2B2B"/>
                </a:solidFill>
                <a:effectLst/>
                <a:uFillTx/>
                <a:latin typeface="Calibri"/>
                <a:ea typeface="Calibri"/>
              </a:rPr>
              <a:t>idle.</a:t>
            </a:r>
            <a:endParaRPr lang="en-IN" sz="1300" b="0" u="none" strike="noStrike">
              <a:solidFill>
                <a:srgbClr val="000000"/>
              </a:solidFill>
              <a:effectLst/>
              <a:uFillTx/>
              <a:latin typeface="Arial"/>
            </a:endParaRPr>
          </a:p>
        </p:txBody>
      </p:sp>
      <p:sp>
        <p:nvSpPr>
          <p:cNvPr id="32" name="Shape 17"/>
          <p:cNvSpPr/>
          <p:nvPr/>
        </p:nvSpPr>
        <p:spPr>
          <a:xfrm>
            <a:off x="5760720" y="4370760"/>
            <a:ext cx="5851800" cy="658080"/>
          </a:xfrm>
          <a:prstGeom prst="roundRect">
            <a:avLst>
              <a:gd name="adj" fmla="val 11111"/>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3" name="Text 18"/>
          <p:cNvSpPr/>
          <p:nvPr/>
        </p:nvSpPr>
        <p:spPr>
          <a:xfrm>
            <a:off x="5943600" y="4370760"/>
            <a:ext cx="21027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Sing</a:t>
            </a:r>
            <a:r>
              <a:rPr lang="en-US" sz="1400" b="1" u="none" strike="noStrike">
                <a:solidFill>
                  <a:srgbClr val="14213D"/>
                </a:solidFill>
                <a:effectLst/>
                <a:uFillTx/>
                <a:latin typeface="Calibri"/>
                <a:ea typeface="Calibri"/>
              </a:rPr>
              <a:t>le-</a:t>
            </a:r>
            <a:r>
              <a:rPr lang="en-US" sz="1400" b="1" u="none" strike="noStrike">
                <a:solidFill>
                  <a:srgbClr val="14213D"/>
                </a:solidFill>
                <a:effectLst/>
                <a:uFillTx/>
                <a:latin typeface="Calibri"/>
                <a:ea typeface="Calibri"/>
              </a:rPr>
              <a:t>run </a:t>
            </a:r>
            <a:r>
              <a:rPr lang="en-US" sz="1400" b="1" u="none" strike="noStrike">
                <a:solidFill>
                  <a:srgbClr val="14213D"/>
                </a:solidFill>
                <a:effectLst/>
                <a:uFillTx/>
                <a:latin typeface="Calibri"/>
                <a:ea typeface="Calibri"/>
              </a:rPr>
              <a:t>unc</a:t>
            </a:r>
            <a:r>
              <a:rPr lang="en-US" sz="1400" b="1" u="none" strike="noStrike">
                <a:solidFill>
                  <a:srgbClr val="14213D"/>
                </a:solidFill>
                <a:effectLst/>
                <a:uFillTx/>
                <a:latin typeface="Calibri"/>
                <a:ea typeface="Calibri"/>
              </a:rPr>
              <a:t>erta</a:t>
            </a:r>
            <a:r>
              <a:rPr lang="en-US" sz="1400" b="1" u="none" strike="noStrike">
                <a:solidFill>
                  <a:srgbClr val="14213D"/>
                </a:solidFill>
                <a:effectLst/>
                <a:uFillTx/>
                <a:latin typeface="Calibri"/>
                <a:ea typeface="Calibri"/>
              </a:rPr>
              <a:t>inty</a:t>
            </a:r>
            <a:endParaRPr lang="en-IN" sz="1400" b="0" u="none" strike="noStrike">
              <a:solidFill>
                <a:srgbClr val="000000"/>
              </a:solidFill>
              <a:effectLst/>
              <a:uFillTx/>
              <a:latin typeface="Arial"/>
            </a:endParaRPr>
          </a:p>
        </p:txBody>
      </p:sp>
      <p:sp>
        <p:nvSpPr>
          <p:cNvPr id="34" name="Text 19"/>
          <p:cNvSpPr/>
          <p:nvPr/>
        </p:nvSpPr>
        <p:spPr>
          <a:xfrm>
            <a:off x="8138160" y="4370760"/>
            <a:ext cx="33829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One </a:t>
            </a:r>
            <a:r>
              <a:rPr lang="en-US" sz="1300" b="0" u="none" strike="noStrike">
                <a:solidFill>
                  <a:srgbClr val="2B2B2B"/>
                </a:solidFill>
                <a:effectLst/>
                <a:uFillTx/>
                <a:latin typeface="Calibri"/>
                <a:ea typeface="Calibri"/>
              </a:rPr>
              <a:t>run </a:t>
            </a:r>
            <a:r>
              <a:rPr lang="en-US" sz="1300" b="0" u="none" strike="noStrike">
                <a:solidFill>
                  <a:srgbClr val="2B2B2B"/>
                </a:solidFill>
                <a:effectLst/>
                <a:uFillTx/>
                <a:latin typeface="Calibri"/>
                <a:ea typeface="Calibri"/>
              </a:rPr>
              <a:t>may </a:t>
            </a:r>
            <a:r>
              <a:rPr lang="en-US" sz="1300" b="0" u="none" strike="noStrike">
                <a:solidFill>
                  <a:srgbClr val="2B2B2B"/>
                </a:solidFill>
                <a:effectLst/>
                <a:uFillTx/>
                <a:latin typeface="Calibri"/>
                <a:ea typeface="Calibri"/>
              </a:rPr>
              <a:t>not </a:t>
            </a:r>
            <a:r>
              <a:rPr lang="en-US" sz="1300" b="0" u="none" strike="noStrike">
                <a:solidFill>
                  <a:srgbClr val="2B2B2B"/>
                </a:solidFill>
                <a:effectLst/>
                <a:uFillTx/>
                <a:latin typeface="Calibri"/>
                <a:ea typeface="Calibri"/>
              </a:rPr>
              <a:t>be </a:t>
            </a:r>
            <a:r>
              <a:rPr lang="en-US" sz="1300" b="0" u="none" strike="noStrike">
                <a:solidFill>
                  <a:srgbClr val="2B2B2B"/>
                </a:solidFill>
                <a:effectLst/>
                <a:uFillTx/>
                <a:latin typeface="Calibri"/>
                <a:ea typeface="Calibri"/>
              </a:rPr>
              <a:t>typic</a:t>
            </a:r>
            <a:r>
              <a:rPr lang="en-US" sz="1300" b="0" u="none" strike="noStrike">
                <a:solidFill>
                  <a:srgbClr val="2B2B2B"/>
                </a:solidFill>
                <a:effectLst/>
                <a:uFillTx/>
                <a:latin typeface="Calibri"/>
                <a:ea typeface="Calibri"/>
              </a:rPr>
              <a:t>al; </a:t>
            </a:r>
            <a:r>
              <a:rPr lang="en-US" sz="1300" b="0" u="none" strike="noStrike">
                <a:solidFill>
                  <a:srgbClr val="2B2B2B"/>
                </a:solidFill>
                <a:effectLst/>
                <a:uFillTx/>
                <a:latin typeface="Calibri"/>
                <a:ea typeface="Calibri"/>
              </a:rPr>
              <a:t>expe</a:t>
            </a:r>
            <a:r>
              <a:rPr lang="en-US" sz="1300" b="0" u="none" strike="noStrike">
                <a:solidFill>
                  <a:srgbClr val="2B2B2B"/>
                </a:solidFill>
                <a:effectLst/>
                <a:uFillTx/>
                <a:latin typeface="Calibri"/>
                <a:ea typeface="Calibri"/>
              </a:rPr>
              <a:t>rime</a:t>
            </a:r>
            <a:r>
              <a:rPr lang="en-US" sz="1300" b="0" u="none" strike="noStrike">
                <a:solidFill>
                  <a:srgbClr val="2B2B2B"/>
                </a:solidFill>
                <a:effectLst/>
                <a:uFillTx/>
                <a:latin typeface="Calibri"/>
                <a:ea typeface="Calibri"/>
              </a:rPr>
              <a:t>nts </a:t>
            </a:r>
            <a:r>
              <a:rPr lang="en-US" sz="1300" b="0" u="none" strike="noStrike">
                <a:solidFill>
                  <a:srgbClr val="2B2B2B"/>
                </a:solidFill>
                <a:effectLst/>
                <a:uFillTx/>
                <a:latin typeface="Calibri"/>
                <a:ea typeface="Calibri"/>
              </a:rPr>
              <a:t>use </a:t>
            </a:r>
            <a:r>
              <a:rPr lang="en-US" sz="1300" b="0" u="none" strike="noStrike">
                <a:solidFill>
                  <a:srgbClr val="2B2B2B"/>
                </a:solidFill>
                <a:effectLst/>
                <a:uFillTx/>
                <a:latin typeface="Calibri"/>
                <a:ea typeface="Calibri"/>
              </a:rPr>
              <a:t>repe</a:t>
            </a:r>
            <a:r>
              <a:rPr lang="en-US" sz="1300" b="0" u="none" strike="noStrike">
                <a:solidFill>
                  <a:srgbClr val="2B2B2B"/>
                </a:solidFill>
                <a:effectLst/>
                <a:uFillTx/>
                <a:latin typeface="Calibri"/>
                <a:ea typeface="Calibri"/>
              </a:rPr>
              <a:t>ated </a:t>
            </a:r>
            <a:r>
              <a:rPr lang="en-US" sz="1300" b="0" u="none" strike="noStrike">
                <a:solidFill>
                  <a:srgbClr val="2B2B2B"/>
                </a:solidFill>
                <a:effectLst/>
                <a:uFillTx/>
                <a:latin typeface="Calibri"/>
                <a:ea typeface="Calibri"/>
              </a:rPr>
              <a:t>seed</a:t>
            </a:r>
            <a:r>
              <a:rPr lang="en-US" sz="1300" b="0" u="none" strike="noStrike">
                <a:solidFill>
                  <a:srgbClr val="2B2B2B"/>
                </a:solidFill>
                <a:effectLst/>
                <a:uFillTx/>
                <a:latin typeface="Calibri"/>
                <a:ea typeface="Calibri"/>
              </a:rPr>
              <a:t>ed </a:t>
            </a:r>
            <a:r>
              <a:rPr lang="en-US" sz="1300" b="0" u="none" strike="noStrike">
                <a:solidFill>
                  <a:srgbClr val="2B2B2B"/>
                </a:solidFill>
                <a:effectLst/>
                <a:uFillTx/>
                <a:latin typeface="Calibri"/>
                <a:ea typeface="Calibri"/>
              </a:rPr>
              <a:t>runs</a:t>
            </a:r>
            <a:r>
              <a:rPr lang="en-US" sz="1300" b="0" u="none" strike="noStrike">
                <a:solidFill>
                  <a:srgbClr val="2B2B2B"/>
                </a:solidFill>
                <a:effectLst/>
                <a:uFillTx/>
                <a:latin typeface="Calibri"/>
                <a:ea typeface="Calibri"/>
              </a:rPr>
              <a:t>.</a:t>
            </a:r>
            <a:endParaRPr lang="en-IN" sz="1300" b="0" u="none" strike="noStrike">
              <a:solidFill>
                <a:srgbClr val="000000"/>
              </a:solidFill>
              <a:effectLst/>
              <a:uFillTx/>
              <a:latin typeface="Arial"/>
            </a:endParaRPr>
          </a:p>
        </p:txBody>
      </p:sp>
      <p:sp>
        <p:nvSpPr>
          <p:cNvPr id="35" name="Shape 20"/>
          <p:cNvSpPr/>
          <p:nvPr/>
        </p:nvSpPr>
        <p:spPr>
          <a:xfrm>
            <a:off x="5760720" y="5120640"/>
            <a:ext cx="5851800" cy="658080"/>
          </a:xfrm>
          <a:prstGeom prst="roundRect">
            <a:avLst>
              <a:gd name="adj" fmla="val 11111"/>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6" name="Text 21"/>
          <p:cNvSpPr/>
          <p:nvPr/>
        </p:nvSpPr>
        <p:spPr>
          <a:xfrm>
            <a:off x="5943600" y="5120640"/>
            <a:ext cx="21027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Capacity planning</a:t>
            </a:r>
            <a:endParaRPr lang="en-IN" sz="1400" b="0" u="none" strike="noStrike">
              <a:solidFill>
                <a:srgbClr val="000000"/>
              </a:solidFill>
              <a:effectLst/>
              <a:uFillTx/>
              <a:latin typeface="Arial"/>
            </a:endParaRPr>
          </a:p>
        </p:txBody>
      </p:sp>
      <p:sp>
        <p:nvSpPr>
          <p:cNvPr id="37" name="Text 22"/>
          <p:cNvSpPr/>
          <p:nvPr/>
        </p:nvSpPr>
        <p:spPr>
          <a:xfrm>
            <a:off x="8138160" y="5120640"/>
            <a:ext cx="33829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Machine count, MTTF and adjuster count change utilization.</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38"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Objectives</a:t>
            </a:r>
            <a:endParaRPr lang="en-IN" sz="3000" b="0" u="none" strike="noStrike">
              <a:solidFill>
                <a:srgbClr val="000000"/>
              </a:solidFill>
              <a:effectLst/>
              <a:uFillTx/>
              <a:latin typeface="Arial"/>
            </a:endParaRPr>
          </a:p>
        </p:txBody>
      </p:sp>
      <p:sp>
        <p:nvSpPr>
          <p:cNvPr id="39"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3</a:t>
            </a:r>
            <a:endParaRPr lang="en-IN" sz="1100" b="0" u="none" strike="noStrike">
              <a:solidFill>
                <a:srgbClr val="000000"/>
              </a:solidFill>
              <a:effectLst/>
              <a:uFillTx/>
              <a:latin typeface="Arial"/>
            </a:endParaRPr>
          </a:p>
        </p:txBody>
      </p:sp>
      <p:sp>
        <p:nvSpPr>
          <p:cNvPr id="40" name="Shape 2"/>
          <p:cNvSpPr/>
          <p:nvPr/>
        </p:nvSpPr>
        <p:spPr>
          <a:xfrm>
            <a:off x="548640" y="1325880"/>
            <a:ext cx="11063880" cy="914040"/>
          </a:xfrm>
          <a:prstGeom prst="roundRect">
            <a:avLst>
              <a:gd name="adj" fmla="val 8000"/>
            </a:avLst>
          </a:prstGeom>
          <a:solidFill>
            <a:srgbClr val="14213D"/>
          </a:solidFill>
          <a:ln w="15875">
            <a:solidFill>
              <a:srgbClr val="14213D"/>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1" name="Text 3"/>
          <p:cNvSpPr/>
          <p:nvPr/>
        </p:nvSpPr>
        <p:spPr>
          <a:xfrm>
            <a:off x="640080" y="1325880"/>
            <a:ext cx="1088100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Main objective: simulate machine failures and adjuster repairs on a virtual timeline to see how machine and adjuster utilization depend on machines, adjusters and MTTF.</a:t>
            </a:r>
            <a:endParaRPr lang="en-IN" sz="1600" b="0" u="none" strike="noStrike">
              <a:solidFill>
                <a:srgbClr val="000000"/>
              </a:solidFill>
              <a:effectLst/>
              <a:uFillTx/>
              <a:latin typeface="Arial"/>
            </a:endParaRPr>
          </a:p>
        </p:txBody>
      </p:sp>
      <p:sp>
        <p:nvSpPr>
          <p:cNvPr id="42" name="Shape 4"/>
          <p:cNvSpPr/>
          <p:nvPr/>
        </p:nvSpPr>
        <p:spPr>
          <a:xfrm>
            <a:off x="548640" y="251460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3" name="Shape 5"/>
          <p:cNvSpPr/>
          <p:nvPr/>
        </p:nvSpPr>
        <p:spPr>
          <a:xfrm>
            <a:off x="685800" y="266076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4" name="Text 6"/>
          <p:cNvSpPr/>
          <p:nvPr/>
        </p:nvSpPr>
        <p:spPr>
          <a:xfrm>
            <a:off x="685800" y="266076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1</a:t>
            </a:r>
            <a:endParaRPr lang="en-IN" sz="1600" b="0" u="none" strike="noStrike">
              <a:solidFill>
                <a:srgbClr val="000000"/>
              </a:solidFill>
              <a:effectLst/>
              <a:uFillTx/>
              <a:latin typeface="Arial"/>
            </a:endParaRPr>
          </a:p>
        </p:txBody>
      </p:sp>
      <p:sp>
        <p:nvSpPr>
          <p:cNvPr id="45" name="Text 7"/>
          <p:cNvSpPr/>
          <p:nvPr/>
        </p:nvSpPr>
        <p:spPr>
          <a:xfrm>
            <a:off x="1325880" y="251460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Sample failure intervals from a normal distribution centered on MTTF (SD 10% of MTTF, at least 0.1 s).</a:t>
            </a:r>
            <a:endParaRPr lang="en-IN" sz="1300" b="0" u="none" strike="noStrike">
              <a:solidFill>
                <a:srgbClr val="000000"/>
              </a:solidFill>
              <a:effectLst/>
              <a:uFillTx/>
              <a:latin typeface="Arial"/>
            </a:endParaRPr>
          </a:p>
        </p:txBody>
      </p:sp>
      <p:sp>
        <p:nvSpPr>
          <p:cNvPr id="46" name="Shape 8"/>
          <p:cNvSpPr/>
          <p:nvPr/>
        </p:nvSpPr>
        <p:spPr>
          <a:xfrm>
            <a:off x="6172200" y="251460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7" name="Shape 9"/>
          <p:cNvSpPr/>
          <p:nvPr/>
        </p:nvSpPr>
        <p:spPr>
          <a:xfrm>
            <a:off x="6309360" y="266076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8" name="Text 10"/>
          <p:cNvSpPr/>
          <p:nvPr/>
        </p:nvSpPr>
        <p:spPr>
          <a:xfrm>
            <a:off x="6309360" y="266076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2</a:t>
            </a:r>
            <a:endParaRPr lang="en-IN" sz="1600" b="0" u="none" strike="noStrike">
              <a:solidFill>
                <a:srgbClr val="000000"/>
              </a:solidFill>
              <a:effectLst/>
              <a:uFillTx/>
              <a:latin typeface="Arial"/>
            </a:endParaRPr>
          </a:p>
        </p:txBody>
      </p:sp>
      <p:sp>
        <p:nvSpPr>
          <p:cNvPr id="49" name="Text 11"/>
          <p:cNvSpPr/>
          <p:nvPr/>
        </p:nvSpPr>
        <p:spPr>
          <a:xfrm>
            <a:off x="6949440" y="251460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Repair a failed machine with a compatible idle adjuster; otherwise it waits.</a:t>
            </a:r>
            <a:endParaRPr lang="en-IN" sz="1300" b="0" u="none" strike="noStrike">
              <a:solidFill>
                <a:srgbClr val="000000"/>
              </a:solidFill>
              <a:effectLst/>
              <a:uFillTx/>
              <a:latin typeface="Arial"/>
            </a:endParaRPr>
          </a:p>
        </p:txBody>
      </p:sp>
      <p:sp>
        <p:nvSpPr>
          <p:cNvPr id="50" name="Shape 12"/>
          <p:cNvSpPr/>
          <p:nvPr/>
        </p:nvSpPr>
        <p:spPr>
          <a:xfrm>
            <a:off x="548640" y="341064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1" name="Shape 13"/>
          <p:cNvSpPr/>
          <p:nvPr/>
        </p:nvSpPr>
        <p:spPr>
          <a:xfrm>
            <a:off x="685800" y="355716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2" name="Text 14"/>
          <p:cNvSpPr/>
          <p:nvPr/>
        </p:nvSpPr>
        <p:spPr>
          <a:xfrm>
            <a:off x="685800" y="355716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3</a:t>
            </a:r>
            <a:endParaRPr lang="en-IN" sz="1600" b="0" u="none" strike="noStrike">
              <a:solidFill>
                <a:srgbClr val="000000"/>
              </a:solidFill>
              <a:effectLst/>
              <a:uFillTx/>
              <a:latin typeface="Arial"/>
            </a:endParaRPr>
          </a:p>
        </p:txBody>
      </p:sp>
      <p:sp>
        <p:nvSpPr>
          <p:cNvPr id="53" name="Text 15"/>
          <p:cNvSpPr/>
          <p:nvPr/>
        </p:nvSpPr>
        <p:spPr>
          <a:xfrm>
            <a:off x="1325880" y="341064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Dispatch waiting machines in waiting-list order; fewest-skills adjuster first, then lexically smaller ID.</a:t>
            </a:r>
            <a:endParaRPr lang="en-IN" sz="1300" b="0" u="none" strike="noStrike">
              <a:solidFill>
                <a:srgbClr val="000000"/>
              </a:solidFill>
              <a:effectLst/>
              <a:uFillTx/>
              <a:latin typeface="Arial"/>
            </a:endParaRPr>
          </a:p>
        </p:txBody>
      </p:sp>
      <p:sp>
        <p:nvSpPr>
          <p:cNvPr id="54" name="Shape 16"/>
          <p:cNvSpPr/>
          <p:nvPr/>
        </p:nvSpPr>
        <p:spPr>
          <a:xfrm>
            <a:off x="6172200" y="341064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5" name="Shape 17"/>
          <p:cNvSpPr/>
          <p:nvPr/>
        </p:nvSpPr>
        <p:spPr>
          <a:xfrm>
            <a:off x="6309360" y="355716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6" name="Text 18"/>
          <p:cNvSpPr/>
          <p:nvPr/>
        </p:nvSpPr>
        <p:spPr>
          <a:xfrm>
            <a:off x="6309360" y="355716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4</a:t>
            </a:r>
            <a:endParaRPr lang="en-IN" sz="1600" b="0" u="none" strike="noStrike">
              <a:solidFill>
                <a:srgbClr val="000000"/>
              </a:solidFill>
              <a:effectLst/>
              <a:uFillTx/>
              <a:latin typeface="Arial"/>
            </a:endParaRPr>
          </a:p>
        </p:txBody>
      </p:sp>
      <p:sp>
        <p:nvSpPr>
          <p:cNvPr id="57" name="Text 19"/>
          <p:cNvSpPr/>
          <p:nvPr/>
        </p:nvSpPr>
        <p:spPr>
          <a:xfrm>
            <a:off x="6949440" y="341064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Configure machine groups and adjusters (skills) with duration, warm-up and seed.</a:t>
            </a:r>
            <a:endParaRPr lang="en-IN" sz="1300" b="0" u="none" strike="noStrike">
              <a:solidFill>
                <a:srgbClr val="000000"/>
              </a:solidFill>
              <a:effectLst/>
              <a:uFillTx/>
              <a:latin typeface="Arial"/>
            </a:endParaRPr>
          </a:p>
        </p:txBody>
      </p:sp>
      <p:sp>
        <p:nvSpPr>
          <p:cNvPr id="58" name="Shape 20"/>
          <p:cNvSpPr/>
          <p:nvPr/>
        </p:nvSpPr>
        <p:spPr>
          <a:xfrm>
            <a:off x="548640" y="430668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9" name="Shape 21"/>
          <p:cNvSpPr/>
          <p:nvPr/>
        </p:nvSpPr>
        <p:spPr>
          <a:xfrm>
            <a:off x="685800" y="445320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 name="Text 22"/>
          <p:cNvSpPr/>
          <p:nvPr/>
        </p:nvSpPr>
        <p:spPr>
          <a:xfrm>
            <a:off x="685800" y="445320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5</a:t>
            </a:r>
            <a:endParaRPr lang="en-IN" sz="1600" b="0" u="none" strike="noStrike">
              <a:solidFill>
                <a:srgbClr val="000000"/>
              </a:solidFill>
              <a:effectLst/>
              <a:uFillTx/>
              <a:latin typeface="Arial"/>
            </a:endParaRPr>
          </a:p>
        </p:txBody>
      </p:sp>
      <p:sp>
        <p:nvSpPr>
          <p:cNvPr id="61" name="Text 23"/>
          <p:cNvSpPr/>
          <p:nvPr/>
        </p:nvSpPr>
        <p:spPr>
          <a:xfrm>
            <a:off x="1325880" y="430668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Report utilization, failures, waiting machines/queue length, downtime and per-machine efficiency.</a:t>
            </a:r>
            <a:endParaRPr lang="en-IN" sz="1300" b="0" u="none" strike="noStrike">
              <a:solidFill>
                <a:srgbClr val="000000"/>
              </a:solidFill>
              <a:effectLst/>
              <a:uFillTx/>
              <a:latin typeface="Arial"/>
            </a:endParaRPr>
          </a:p>
        </p:txBody>
      </p:sp>
      <p:sp>
        <p:nvSpPr>
          <p:cNvPr id="62" name="Shape 24"/>
          <p:cNvSpPr/>
          <p:nvPr/>
        </p:nvSpPr>
        <p:spPr>
          <a:xfrm>
            <a:off x="6172200" y="430668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3" name="Shape 25"/>
          <p:cNvSpPr/>
          <p:nvPr/>
        </p:nvSpPr>
        <p:spPr>
          <a:xfrm>
            <a:off x="6309360" y="445320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4" name="Text 26"/>
          <p:cNvSpPr/>
          <p:nvPr/>
        </p:nvSpPr>
        <p:spPr>
          <a:xfrm>
            <a:off x="6309360" y="445320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6</a:t>
            </a:r>
            <a:endParaRPr lang="en-IN" sz="1600" b="0" u="none" strike="noStrike">
              <a:solidFill>
                <a:srgbClr val="000000"/>
              </a:solidFill>
              <a:effectLst/>
              <a:uFillTx/>
              <a:latin typeface="Arial"/>
            </a:endParaRPr>
          </a:p>
        </p:txBody>
      </p:sp>
      <p:sp>
        <p:nvSpPr>
          <p:cNvPr id="65" name="Text 27"/>
          <p:cNvSpPr/>
          <p:nvPr/>
        </p:nvSpPr>
        <p:spPr>
          <a:xfrm>
            <a:off x="6949440" y="430668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Save runs in MongoDB; a failed save adds database_warning and keeps the result.</a:t>
            </a:r>
            <a:endParaRPr lang="en-IN" sz="1300" b="0" u="none" strike="noStrike">
              <a:solidFill>
                <a:srgbClr val="000000"/>
              </a:solidFill>
              <a:effectLst/>
              <a:uFillTx/>
              <a:latin typeface="Arial"/>
            </a:endParaRPr>
          </a:p>
        </p:txBody>
      </p:sp>
      <p:sp>
        <p:nvSpPr>
          <p:cNvPr id="66" name="Shape 28"/>
          <p:cNvSpPr/>
          <p:nvPr/>
        </p:nvSpPr>
        <p:spPr>
          <a:xfrm>
            <a:off x="548640" y="5203080"/>
            <a:ext cx="5440320" cy="785880"/>
          </a:xfrm>
          <a:prstGeom prst="roundRect">
            <a:avLst>
              <a:gd name="adj" fmla="val 9302"/>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7" name="Shape 29"/>
          <p:cNvSpPr/>
          <p:nvPr/>
        </p:nvSpPr>
        <p:spPr>
          <a:xfrm>
            <a:off x="685800" y="5349240"/>
            <a:ext cx="502560" cy="50256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8" name="Text 30"/>
          <p:cNvSpPr/>
          <p:nvPr/>
        </p:nvSpPr>
        <p:spPr>
          <a:xfrm>
            <a:off x="685800" y="53492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7</a:t>
            </a:r>
            <a:endParaRPr lang="en-IN" sz="1600" b="0" u="none" strike="noStrike">
              <a:solidFill>
                <a:srgbClr val="000000"/>
              </a:solidFill>
              <a:effectLst/>
              <a:uFillTx/>
              <a:latin typeface="Arial"/>
            </a:endParaRPr>
          </a:p>
        </p:txBody>
      </p:sp>
      <p:sp>
        <p:nvSpPr>
          <p:cNvPr id="69" name="Text 31"/>
          <p:cNvSpPr/>
          <p:nvPr/>
        </p:nvSpPr>
        <p:spPr>
          <a:xfrm>
            <a:off x="1325880" y="5203080"/>
            <a:ext cx="4571640" cy="785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Compare staffing with /experiment: replications and the lowest adjuster count meeting fixed thresholds.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70"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Introduction</a:t>
            </a:r>
            <a:endParaRPr lang="en-IN" sz="3000" b="0" u="none" strike="noStrike">
              <a:solidFill>
                <a:srgbClr val="000000"/>
              </a:solidFill>
              <a:effectLst/>
              <a:uFillTx/>
              <a:latin typeface="Arial"/>
            </a:endParaRPr>
          </a:p>
        </p:txBody>
      </p:sp>
      <p:sp>
        <p:nvSpPr>
          <p:cNvPr id="71"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4</a:t>
            </a:r>
            <a:endParaRPr lang="en-IN" sz="1100" b="0" u="none" strike="noStrike">
              <a:solidFill>
                <a:srgbClr val="000000"/>
              </a:solidFill>
              <a:effectLst/>
              <a:uFillTx/>
              <a:latin typeface="Arial"/>
            </a:endParaRPr>
          </a:p>
        </p:txBody>
      </p:sp>
      <p:sp>
        <p:nvSpPr>
          <p:cNvPr id="72" name="Text 2"/>
          <p:cNvSpPr/>
          <p:nvPr/>
        </p:nvSpPr>
        <p:spPr>
          <a:xfrm>
            <a:off x="548640" y="939240"/>
            <a:ext cx="7012080" cy="1155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28C28"/>
                </a:solidFill>
                <a:effectLst/>
                <a:uFillTx/>
                <a:latin typeface="Georgia"/>
                <a:ea typeface="Georgia"/>
              </a:rPr>
              <a:t>What is Factory Adjuster Simulation?</a:t>
            </a:r>
            <a:endParaRPr lang="en-IN" sz="2800" b="0" u="none" strike="noStrike">
              <a:solidFill>
                <a:srgbClr val="000000"/>
              </a:solidFill>
              <a:effectLst/>
              <a:uFillTx/>
              <a:latin typeface="Arial"/>
            </a:endParaRPr>
          </a:p>
        </p:txBody>
      </p:sp>
      <p:sp>
        <p:nvSpPr>
          <p:cNvPr id="73" name="Text 3"/>
          <p:cNvSpPr/>
          <p:nvPr/>
        </p:nvSpPr>
        <p:spPr>
          <a:xfrm>
            <a:off x="548640" y="1874520"/>
            <a:ext cx="10600920" cy="21618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50000"/>
              </a:lnSpc>
              <a:spcAft>
                <a:spcPts val="601"/>
              </a:spcAft>
              <a:buClr>
                <a:srgbClr val="2B2B2B"/>
              </a:buClr>
              <a:buFont typeface="Symbol" charset="2"/>
              <a:buChar char=""/>
            </a:pPr>
            <a:r>
              <a:rPr lang="en-US" sz="1500" b="0" u="none" strike="noStrike">
                <a:solidFill>
                  <a:srgbClr val="2B2B2B"/>
                </a:solidFill>
                <a:effectLst/>
                <a:uFillTx/>
                <a:latin typeface="Calibri"/>
                <a:ea typeface="Calibri"/>
              </a:rPr>
              <a:t>A discrete-event simulation for factory machines that fail and are repaired by a pool of multi-skilled adjusters.</a:t>
            </a:r>
            <a:endParaRPr lang="en-IN" sz="1500" b="0" u="none" strike="noStrike">
              <a:solidFill>
                <a:srgbClr val="000000"/>
              </a:solidFill>
              <a:effectLst/>
              <a:uFillTx/>
              <a:latin typeface="Arial"/>
            </a:endParaRPr>
          </a:p>
          <a:p>
            <a:pPr marL="343080" indent="-343080" defTabSz="914400">
              <a:lnSpc>
                <a:spcPct val="150000"/>
              </a:lnSpc>
              <a:spcAft>
                <a:spcPts val="601"/>
              </a:spcAft>
              <a:buClr>
                <a:srgbClr val="2B2B2B"/>
              </a:buClr>
              <a:buFont typeface="Symbol" charset="2"/>
              <a:buChar char=""/>
            </a:pPr>
            <a:r>
              <a:rPr lang="en-US" sz="1500" b="0" u="none" strike="noStrike">
                <a:solidFill>
                  <a:srgbClr val="2B2B2B"/>
                </a:solidFill>
                <a:effectLst/>
                <a:uFillTx/>
                <a:latin typeface="Calibri"/>
                <a:ea typeface="Calibri"/>
              </a:rPr>
              <a:t>It processes failure and repair-completion events on a virtual timeline and reports machine uptime and adjuster busy time.</a:t>
            </a:r>
            <a:endParaRPr lang="en-IN" sz="1500" b="0" u="none" strike="noStrike">
              <a:solidFill>
                <a:srgbClr val="000000"/>
              </a:solidFill>
              <a:effectLst/>
              <a:uFillTx/>
              <a:latin typeface="Arial"/>
            </a:endParaRPr>
          </a:p>
          <a:p>
            <a:pPr marL="343080" indent="-343080" defTabSz="914400">
              <a:lnSpc>
                <a:spcPct val="150000"/>
              </a:lnSpc>
              <a:spcAft>
                <a:spcPts val="601"/>
              </a:spcAft>
              <a:buClr>
                <a:srgbClr val="2B2B2B"/>
              </a:buClr>
              <a:buFont typeface="Symbol" charset="2"/>
              <a:buChar char=""/>
            </a:pPr>
            <a:r>
              <a:rPr lang="en-US" sz="1500" b="0" u="none" strike="noStrike">
                <a:solidFill>
                  <a:srgbClr val="2B2B2B"/>
                </a:solidFill>
                <a:effectLst/>
                <a:uFillTx/>
                <a:latin typeface="Calibri"/>
                <a:ea typeface="Calibri"/>
              </a:rPr>
              <a:t>The Streamlit dashboard calls a FastAPI service; it currently invokes /simulate, and /experiment is available through the API.</a:t>
            </a:r>
            <a:endParaRPr lang="en-IN" sz="1500" b="0" u="none" strike="noStrike">
              <a:solidFill>
                <a:srgbClr val="000000"/>
              </a:solidFill>
              <a:effectLst/>
              <a:uFillTx/>
              <a:latin typeface="Arial"/>
            </a:endParaRPr>
          </a:p>
        </p:txBody>
      </p:sp>
      <p:sp>
        <p:nvSpPr>
          <p:cNvPr id="74" name="Text 4"/>
          <p:cNvSpPr/>
          <p:nvPr/>
        </p:nvSpPr>
        <p:spPr>
          <a:xfrm>
            <a:off x="6705720" y="5667480"/>
            <a:ext cx="5486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B5A3A"/>
                </a:solidFill>
                <a:effectLst/>
                <a:uFillTx/>
                <a:latin typeface="Calibri"/>
                <a:ea typeface="Calibri"/>
              </a:rPr>
              <a:t>Actors: Factory analyst/operator · Streamlit dashboard · FastAPI service · MongoDB</a:t>
            </a:r>
            <a:endParaRPr lang="en-IN" sz="1300" b="0" u="none" strike="noStrike">
              <a:solidFill>
                <a:srgbClr val="000000"/>
              </a:solidFill>
              <a:effectLst/>
              <a:uFillTx/>
              <a:latin typeface="Arial"/>
            </a:endParaRPr>
          </a:p>
        </p:txBody>
      </p:sp>
      <p:sp>
        <p:nvSpPr>
          <p:cNvPr id="75" name="Shape 5"/>
          <p:cNvSpPr/>
          <p:nvPr/>
        </p:nvSpPr>
        <p:spPr>
          <a:xfrm>
            <a:off x="548640" y="3350880"/>
            <a:ext cx="5979600" cy="2862720"/>
          </a:xfrm>
          <a:prstGeom prst="rect">
            <a:avLst/>
          </a:prstGeom>
          <a:solidFill>
            <a:srgbClr val="FFF8EC"/>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pic>
        <p:nvPicPr>
          <p:cNvPr id="76" name="Picture 9"/>
          <p:cNvPicPr/>
          <p:nvPr/>
        </p:nvPicPr>
        <p:blipFill>
          <a:blip r:embed="rId1"/>
          <a:stretch/>
        </p:blipFill>
        <p:spPr>
          <a:xfrm>
            <a:off x="654120" y="3440520"/>
            <a:ext cx="5768640" cy="2683800"/>
          </a:xfrm>
          <a:prstGeom prst="rect">
            <a:avLst/>
          </a:prstGeom>
          <a:noFill/>
          <a:ln w="0">
            <a:noFill/>
          </a:ln>
        </p:spPr>
      </p:pic>
      <p:sp>
        <p:nvSpPr>
          <p:cNvPr id="77" name="TextBox 10"/>
          <p:cNvSpPr/>
          <p:nvPr/>
        </p:nvSpPr>
        <p:spPr>
          <a:xfrm>
            <a:off x="6705720" y="3350880"/>
            <a:ext cx="3607920" cy="184644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100000"/>
              </a:lnSpc>
              <a:buClr>
                <a:srgbClr val="2B2B2B"/>
              </a:buClr>
              <a:buFont typeface="Symbol" charset="2"/>
              <a:buChar char=""/>
            </a:pPr>
            <a:r>
              <a:rPr lang="en-US" sz="1400" b="0" u="none" strike="noStrike">
                <a:solidFill>
                  <a:srgbClr val="2B2B2B"/>
                </a:solidFill>
                <a:effectLst/>
                <a:uFillTx/>
                <a:latin typeface="Calibri"/>
                <a:ea typeface="Calibri"/>
              </a:rPr>
              <a:t>It supports scenario evaluation and staffing comparisons; it is not a live factory control system.</a:t>
            </a:r>
            <a:endParaRPr lang="en-IN" sz="1400" b="0" u="none" strike="noStrike">
              <a:solidFill>
                <a:srgbClr val="000000"/>
              </a:solidFill>
              <a:effectLst/>
              <a:uFillTx/>
              <a:latin typeface="Arial"/>
            </a:endParaRPr>
          </a:p>
          <a:p>
            <a:pPr defTabSz="914400">
              <a:lnSpc>
                <a:spcPct val="100000"/>
              </a:lnSpc>
            </a:pPr>
            <a:endParaRPr lang="en-IN" sz="1400" b="0" u="none" strike="noStrike">
              <a:solidFill>
                <a:srgbClr val="000000"/>
              </a:solidFill>
              <a:effectLst/>
              <a:uFillTx/>
              <a:latin typeface="Arial"/>
            </a:endParaRPr>
          </a:p>
          <a:p>
            <a:pPr marL="343080" indent="-343080" defTabSz="914400">
              <a:lnSpc>
                <a:spcPct val="100000"/>
              </a:lnSpc>
              <a:buClr>
                <a:srgbClr val="2B2B2B"/>
              </a:buClr>
              <a:buFont typeface="Symbol" charset="2"/>
              <a:buChar char=""/>
            </a:pPr>
            <a:r>
              <a:rPr lang="en-US" sz="1400" b="0" u="none" strike="noStrike">
                <a:solidFill>
                  <a:srgbClr val="2B2B2B"/>
                </a:solidFill>
                <a:effectLst/>
                <a:uFillTx/>
                <a:latin typeface="Calibri"/>
                <a:ea typeface="Calibri"/>
              </a:rPr>
              <a:t>The service can persist simulation runs in MongoDB (best-effort).</a:t>
            </a:r>
            <a:endParaRPr lang="en-IN" sz="1400" b="0" u="none" strike="noStrike">
              <a:solidFill>
                <a:srgbClr val="000000"/>
              </a:solidFill>
              <a:effectLst/>
              <a:uFillTx/>
              <a:latin typeface="Arial"/>
            </a:endParaRPr>
          </a:p>
          <a:p>
            <a:pPr defTabSz="914400">
              <a:lnSpc>
                <a:spcPct val="100000"/>
              </a:lnSpc>
            </a:pPr>
            <a:endParaRPr lang="en-IN" sz="1400" b="0" u="none" strike="noStrike">
              <a:solidFill>
                <a:srgbClr val="000000"/>
              </a:solidFill>
              <a:effectLst/>
              <a:uFillTx/>
              <a:latin typeface="Arial"/>
            </a:endParaRPr>
          </a:p>
          <a:p>
            <a:pPr defTabSz="914400">
              <a:lnSpc>
                <a:spcPct val="100000"/>
              </a:lnSpc>
            </a:pPr>
            <a:endParaRPr lang="en-IN"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78"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F28C28"/>
                </a:solidFill>
                <a:effectLst/>
                <a:uFillTx/>
                <a:latin typeface="Georgia"/>
                <a:ea typeface="Georgia"/>
              </a:rPr>
              <a:t>User Activities: Configuration</a:t>
            </a:r>
            <a:endParaRPr lang="en-IN" sz="3000" b="0" u="none" strike="noStrike">
              <a:solidFill>
                <a:srgbClr val="FFFFFF"/>
              </a:solidFill>
              <a:effectLst/>
              <a:uFillTx/>
              <a:latin typeface="Arial"/>
            </a:endParaRPr>
          </a:p>
        </p:txBody>
      </p:sp>
      <p:sp>
        <p:nvSpPr>
          <p:cNvPr id="79"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C9C9C9"/>
                </a:solidFill>
                <a:effectLst/>
                <a:uFillTx/>
                <a:latin typeface="Calibri"/>
                <a:ea typeface="Calibri"/>
              </a:rPr>
              <a:t>Factory Adjuster Simulation  |  5</a:t>
            </a:r>
            <a:endParaRPr lang="en-IN" sz="1100" b="0" u="none" strike="noStrike">
              <a:solidFill>
                <a:srgbClr val="FFFFFF"/>
              </a:solidFill>
              <a:effectLst/>
              <a:uFillTx/>
              <a:latin typeface="Arial"/>
            </a:endParaRPr>
          </a:p>
        </p:txBody>
      </p:sp>
      <p:sp>
        <p:nvSpPr>
          <p:cNvPr id="80" name="Shape 2"/>
          <p:cNvSpPr/>
          <p:nvPr/>
        </p:nvSpPr>
        <p:spPr>
          <a:xfrm>
            <a:off x="640080" y="1463040"/>
            <a:ext cx="3108600" cy="320004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81" name="Text 3"/>
          <p:cNvSpPr/>
          <p:nvPr/>
        </p:nvSpPr>
        <p:spPr>
          <a:xfrm>
            <a:off x="822960" y="1463040"/>
            <a:ext cx="2742840" cy="3200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F7F1E3"/>
                </a:solidFill>
                <a:effectLst/>
                <a:uFillTx/>
                <a:latin typeface="Calibri"/>
                <a:ea typeface="Calibri"/>
              </a:rPr>
              <a:t>[ Insert screenshot ]</a:t>
            </a:r>
            <a:endParaRPr lang="en-IN" sz="1400" b="0" u="none" strike="noStrike">
              <a:solidFill>
                <a:srgbClr val="FFFFFF"/>
              </a:solidFill>
              <a:effectLst/>
              <a:uFillTx/>
              <a:latin typeface="Arial"/>
            </a:endParaRPr>
          </a:p>
          <a:p>
            <a:pPr algn="ctr" defTabSz="914400">
              <a:lnSpc>
                <a:spcPct val="100000"/>
              </a:lnSpc>
              <a:tabLst>
                <a:tab pos="0" algn="l"/>
              </a:tabLst>
            </a:pPr>
            <a:r>
              <a:rPr lang="en-US" sz="1400" b="0" i="1" u="none" strike="noStrike">
                <a:solidFill>
                  <a:srgbClr val="F7F1E3"/>
                </a:solidFill>
                <a:effectLst/>
                <a:uFillTx/>
                <a:latin typeface="Calibri"/>
                <a:ea typeface="Calibri"/>
              </a:rPr>
              <a:t>Machine group form</a:t>
            </a:r>
            <a:endParaRPr lang="en-IN" sz="1400" b="0" u="none" strike="noStrike">
              <a:solidFill>
                <a:srgbClr val="FFFFFF"/>
              </a:solidFill>
              <a:effectLst/>
              <a:uFillTx/>
              <a:latin typeface="Arial"/>
            </a:endParaRPr>
          </a:p>
        </p:txBody>
      </p:sp>
      <p:sp>
        <p:nvSpPr>
          <p:cNvPr id="82" name="Text 4"/>
          <p:cNvSpPr/>
          <p:nvPr/>
        </p:nvSpPr>
        <p:spPr>
          <a:xfrm>
            <a:off x="640080" y="480060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Add machine groups</a:t>
            </a:r>
            <a:endParaRPr lang="en-IN" sz="1400" b="0" u="none" strike="noStrike">
              <a:solidFill>
                <a:srgbClr val="FFFFFF"/>
              </a:solidFill>
              <a:effectLst/>
              <a:uFillTx/>
              <a:latin typeface="Arial"/>
            </a:endParaRPr>
          </a:p>
        </p:txBody>
      </p:sp>
      <p:sp>
        <p:nvSpPr>
          <p:cNvPr id="83" name="Shape 5"/>
          <p:cNvSpPr/>
          <p:nvPr/>
        </p:nvSpPr>
        <p:spPr>
          <a:xfrm>
            <a:off x="3749040" y="3063240"/>
            <a:ext cx="8686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84" name="Text 6"/>
          <p:cNvSpPr/>
          <p:nvPr/>
        </p:nvSpPr>
        <p:spPr>
          <a:xfrm>
            <a:off x="3749040" y="2697480"/>
            <a:ext cx="8683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F7F1E3"/>
                </a:solidFill>
                <a:effectLst/>
                <a:uFillTx/>
                <a:latin typeface="Calibri"/>
                <a:ea typeface="Calibri"/>
              </a:rPr>
              <a:t>then</a:t>
            </a:r>
            <a:endParaRPr lang="en-IN" sz="1100" b="0" u="none" strike="noStrike">
              <a:solidFill>
                <a:srgbClr val="FFFFFF"/>
              </a:solidFill>
              <a:effectLst/>
              <a:uFillTx/>
              <a:latin typeface="Arial"/>
            </a:endParaRPr>
          </a:p>
        </p:txBody>
      </p:sp>
      <p:sp>
        <p:nvSpPr>
          <p:cNvPr id="85" name="Shape 7"/>
          <p:cNvSpPr/>
          <p:nvPr/>
        </p:nvSpPr>
        <p:spPr>
          <a:xfrm>
            <a:off x="4617720" y="1463040"/>
            <a:ext cx="3108600" cy="320004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86" name="Text 8"/>
          <p:cNvSpPr/>
          <p:nvPr/>
        </p:nvSpPr>
        <p:spPr>
          <a:xfrm>
            <a:off x="4800600" y="1463040"/>
            <a:ext cx="2742840" cy="3200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F7F1E3"/>
                </a:solidFill>
                <a:effectLst/>
                <a:uFillTx/>
                <a:latin typeface="Calibri"/>
                <a:ea typeface="Calibri"/>
              </a:rPr>
              <a:t>[ Insert screenshot ]</a:t>
            </a:r>
            <a:endParaRPr lang="en-IN" sz="1400" b="0" u="none" strike="noStrike">
              <a:solidFill>
                <a:srgbClr val="FFFFFF"/>
              </a:solidFill>
              <a:effectLst/>
              <a:uFillTx/>
              <a:latin typeface="Arial"/>
            </a:endParaRPr>
          </a:p>
          <a:p>
            <a:pPr algn="ctr" defTabSz="914400">
              <a:lnSpc>
                <a:spcPct val="100000"/>
              </a:lnSpc>
              <a:tabLst>
                <a:tab pos="0" algn="l"/>
              </a:tabLst>
            </a:pPr>
            <a:r>
              <a:rPr lang="en-US" sz="1400" b="0" i="1" u="none" strike="noStrike">
                <a:solidFill>
                  <a:srgbClr val="F7F1E3"/>
                </a:solidFill>
                <a:effectLst/>
                <a:uFillTx/>
                <a:latin typeface="Calibri"/>
                <a:ea typeface="Calibri"/>
              </a:rPr>
              <a:t>Adjuster form</a:t>
            </a:r>
            <a:endParaRPr lang="en-IN" sz="1400" b="0" u="none" strike="noStrike">
              <a:solidFill>
                <a:srgbClr val="FFFFFF"/>
              </a:solidFill>
              <a:effectLst/>
              <a:uFillTx/>
              <a:latin typeface="Arial"/>
            </a:endParaRPr>
          </a:p>
        </p:txBody>
      </p:sp>
      <p:sp>
        <p:nvSpPr>
          <p:cNvPr id="87" name="Text 9"/>
          <p:cNvSpPr/>
          <p:nvPr/>
        </p:nvSpPr>
        <p:spPr>
          <a:xfrm>
            <a:off x="4617720" y="480060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Add adjusters and skills</a:t>
            </a:r>
            <a:endParaRPr lang="en-IN" sz="1400" b="0" u="none" strike="noStrike">
              <a:solidFill>
                <a:srgbClr val="FFFFFF"/>
              </a:solidFill>
              <a:effectLst/>
              <a:uFillTx/>
              <a:latin typeface="Arial"/>
            </a:endParaRPr>
          </a:p>
        </p:txBody>
      </p:sp>
      <p:sp>
        <p:nvSpPr>
          <p:cNvPr id="88" name="Shape 10"/>
          <p:cNvSpPr/>
          <p:nvPr/>
        </p:nvSpPr>
        <p:spPr>
          <a:xfrm>
            <a:off x="7726680" y="3063240"/>
            <a:ext cx="8686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89" name="Text 11"/>
          <p:cNvSpPr/>
          <p:nvPr/>
        </p:nvSpPr>
        <p:spPr>
          <a:xfrm>
            <a:off x="7726680" y="2697480"/>
            <a:ext cx="8683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F7F1E3"/>
                </a:solidFill>
                <a:effectLst/>
                <a:uFillTx/>
                <a:latin typeface="Calibri"/>
                <a:ea typeface="Calibri"/>
              </a:rPr>
              <a:t>then</a:t>
            </a:r>
            <a:endParaRPr lang="en-IN" sz="1100" b="0" u="none" strike="noStrike">
              <a:solidFill>
                <a:srgbClr val="FFFFFF"/>
              </a:solidFill>
              <a:effectLst/>
              <a:uFillTx/>
              <a:latin typeface="Arial"/>
            </a:endParaRPr>
          </a:p>
        </p:txBody>
      </p:sp>
      <p:sp>
        <p:nvSpPr>
          <p:cNvPr id="90" name="Shape 12"/>
          <p:cNvSpPr/>
          <p:nvPr/>
        </p:nvSpPr>
        <p:spPr>
          <a:xfrm>
            <a:off x="8595360" y="1463040"/>
            <a:ext cx="3108600" cy="320004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91" name="Text 13"/>
          <p:cNvSpPr/>
          <p:nvPr/>
        </p:nvSpPr>
        <p:spPr>
          <a:xfrm>
            <a:off x="8778240" y="1463040"/>
            <a:ext cx="2742840" cy="3200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F7F1E3"/>
                </a:solidFill>
                <a:effectLst/>
                <a:uFillTx/>
                <a:latin typeface="Calibri"/>
                <a:ea typeface="Calibri"/>
              </a:rPr>
              <a:t>[ Insert screenshot ]</a:t>
            </a:r>
            <a:endParaRPr lang="en-IN" sz="1400" b="0" u="none" strike="noStrike">
              <a:solidFill>
                <a:srgbClr val="FFFFFF"/>
              </a:solidFill>
              <a:effectLst/>
              <a:uFillTx/>
              <a:latin typeface="Arial"/>
            </a:endParaRPr>
          </a:p>
          <a:p>
            <a:pPr algn="ctr" defTabSz="914400">
              <a:lnSpc>
                <a:spcPct val="100000"/>
              </a:lnSpc>
              <a:tabLst>
                <a:tab pos="0" algn="l"/>
              </a:tabLst>
            </a:pPr>
            <a:r>
              <a:rPr lang="en-US" sz="1400" b="0" i="1" u="none" strike="noStrike">
                <a:solidFill>
                  <a:srgbClr val="F7F1E3"/>
                </a:solidFill>
                <a:effectLst/>
                <a:uFillTx/>
                <a:latin typeface="Calibri"/>
                <a:ea typeface="Calibri"/>
              </a:rPr>
              <a:t>Duration and seed inputs</a:t>
            </a:r>
            <a:endParaRPr lang="en-IN" sz="1400" b="0" u="none" strike="noStrike">
              <a:solidFill>
                <a:srgbClr val="FFFFFF"/>
              </a:solidFill>
              <a:effectLst/>
              <a:uFillTx/>
              <a:latin typeface="Arial"/>
            </a:endParaRPr>
          </a:p>
        </p:txBody>
      </p:sp>
      <p:sp>
        <p:nvSpPr>
          <p:cNvPr id="92" name="Text 14"/>
          <p:cNvSpPr/>
          <p:nvPr/>
        </p:nvSpPr>
        <p:spPr>
          <a:xfrm>
            <a:off x="8595360" y="480060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Set duration and seed</a:t>
            </a:r>
            <a:endParaRPr lang="en-IN" sz="1400" b="0" u="none" strike="noStrike">
              <a:solidFill>
                <a:srgbClr val="FFFFFF"/>
              </a:solidFill>
              <a:effectLst/>
              <a:uFillTx/>
              <a:latin typeface="Arial"/>
            </a:endParaRPr>
          </a:p>
        </p:txBody>
      </p:sp>
      <p:pic>
        <p:nvPicPr>
          <p:cNvPr id="93" name="Picture 18"/>
          <p:cNvPicPr/>
          <p:nvPr/>
        </p:nvPicPr>
        <p:blipFill>
          <a:blip r:embed="rId1"/>
          <a:stretch/>
        </p:blipFill>
        <p:spPr>
          <a:xfrm>
            <a:off x="8682480" y="1523880"/>
            <a:ext cx="2930040" cy="3057840"/>
          </a:xfrm>
          <a:prstGeom prst="rect">
            <a:avLst/>
          </a:prstGeom>
          <a:noFill/>
          <a:ln w="0">
            <a:noFill/>
          </a:ln>
        </p:spPr>
      </p:pic>
      <p:pic>
        <p:nvPicPr>
          <p:cNvPr id="94" name="Picture 20"/>
          <p:cNvPicPr/>
          <p:nvPr/>
        </p:nvPicPr>
        <p:blipFill>
          <a:blip r:embed="rId2"/>
          <a:stretch/>
        </p:blipFill>
        <p:spPr>
          <a:xfrm>
            <a:off x="705240" y="1523880"/>
            <a:ext cx="2970720" cy="3057840"/>
          </a:xfrm>
          <a:prstGeom prst="rect">
            <a:avLst/>
          </a:prstGeom>
          <a:noFill/>
          <a:ln w="0">
            <a:noFill/>
          </a:ln>
        </p:spPr>
      </p:pic>
      <p:pic>
        <p:nvPicPr>
          <p:cNvPr id="95" name="Picture 22"/>
          <p:cNvPicPr/>
          <p:nvPr/>
        </p:nvPicPr>
        <p:blipFill>
          <a:blip r:embed="rId3"/>
          <a:stretch/>
        </p:blipFill>
        <p:spPr>
          <a:xfrm>
            <a:off x="4675320" y="1523880"/>
            <a:ext cx="2963880" cy="30578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96"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F28C28"/>
                </a:solidFill>
                <a:effectLst/>
                <a:uFillTx/>
                <a:latin typeface="Georgia"/>
                <a:ea typeface="Georgia"/>
              </a:rPr>
              <a:t>User Activities: Running a Simulation</a:t>
            </a:r>
            <a:endParaRPr lang="en-IN" sz="3000" b="0" u="none" strike="noStrike">
              <a:solidFill>
                <a:srgbClr val="FFFFFF"/>
              </a:solidFill>
              <a:effectLst/>
              <a:uFillTx/>
              <a:latin typeface="Arial"/>
            </a:endParaRPr>
          </a:p>
        </p:txBody>
      </p:sp>
      <p:sp>
        <p:nvSpPr>
          <p:cNvPr id="97"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C9C9C9"/>
                </a:solidFill>
                <a:effectLst/>
                <a:uFillTx/>
                <a:latin typeface="Calibri"/>
                <a:ea typeface="Calibri"/>
              </a:rPr>
              <a:t>Factory Adjuster Simulation  |  6</a:t>
            </a:r>
            <a:endParaRPr lang="en-IN" sz="1100" b="0" u="none" strike="noStrike">
              <a:solidFill>
                <a:srgbClr val="FFFFFF"/>
              </a:solidFill>
              <a:effectLst/>
              <a:uFillTx/>
              <a:latin typeface="Arial"/>
            </a:endParaRPr>
          </a:p>
        </p:txBody>
      </p:sp>
      <p:sp>
        <p:nvSpPr>
          <p:cNvPr id="98" name="Shape 2"/>
          <p:cNvSpPr/>
          <p:nvPr/>
        </p:nvSpPr>
        <p:spPr>
          <a:xfrm>
            <a:off x="487800" y="1463040"/>
            <a:ext cx="3366360" cy="274464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99" name="Text 3"/>
          <p:cNvSpPr/>
          <p:nvPr/>
        </p:nvSpPr>
        <p:spPr>
          <a:xfrm>
            <a:off x="822960" y="1463040"/>
            <a:ext cx="2742840" cy="3200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F7F1E3"/>
                </a:solidFill>
                <a:effectLst/>
                <a:uFillTx/>
                <a:latin typeface="Calibri"/>
                <a:ea typeface="Calibri"/>
              </a:rPr>
              <a:t>[ Insert screenshot ]</a:t>
            </a:r>
            <a:endParaRPr lang="en-IN" sz="1400" b="0" u="none" strike="noStrike">
              <a:solidFill>
                <a:srgbClr val="FFFFFF"/>
              </a:solidFill>
              <a:effectLst/>
              <a:uFillTx/>
              <a:latin typeface="Arial"/>
            </a:endParaRPr>
          </a:p>
          <a:p>
            <a:pPr algn="ctr" defTabSz="914400">
              <a:lnSpc>
                <a:spcPct val="100000"/>
              </a:lnSpc>
              <a:tabLst>
                <a:tab pos="0" algn="l"/>
              </a:tabLst>
            </a:pPr>
            <a:r>
              <a:rPr lang="en-US" sz="1400" b="0" i="1" u="none" strike="noStrike">
                <a:solidFill>
                  <a:srgbClr val="F7F1E3"/>
                </a:solidFill>
                <a:effectLst/>
                <a:uFillTx/>
                <a:latin typeface="Calibri"/>
                <a:ea typeface="Calibri"/>
              </a:rPr>
              <a:t>Run button</a:t>
            </a:r>
            <a:endParaRPr lang="en-IN" sz="1400" b="0" u="none" strike="noStrike">
              <a:solidFill>
                <a:srgbClr val="FFFFFF"/>
              </a:solidFill>
              <a:effectLst/>
              <a:uFillTx/>
              <a:latin typeface="Arial"/>
            </a:endParaRPr>
          </a:p>
        </p:txBody>
      </p:sp>
      <p:sp>
        <p:nvSpPr>
          <p:cNvPr id="100" name="Text 4"/>
          <p:cNvSpPr/>
          <p:nvPr/>
        </p:nvSpPr>
        <p:spPr>
          <a:xfrm>
            <a:off x="604080" y="415908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Run simulation</a:t>
            </a:r>
            <a:endParaRPr lang="en-IN" sz="1400" b="0" u="none" strike="noStrike">
              <a:solidFill>
                <a:srgbClr val="FFFFFF"/>
              </a:solidFill>
              <a:effectLst/>
              <a:uFillTx/>
              <a:latin typeface="Arial"/>
            </a:endParaRPr>
          </a:p>
        </p:txBody>
      </p:sp>
      <p:sp>
        <p:nvSpPr>
          <p:cNvPr id="101" name="Shape 5"/>
          <p:cNvSpPr/>
          <p:nvPr/>
        </p:nvSpPr>
        <p:spPr>
          <a:xfrm>
            <a:off x="3854160" y="3063240"/>
            <a:ext cx="7635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102" name="Text 6"/>
          <p:cNvSpPr/>
          <p:nvPr/>
        </p:nvSpPr>
        <p:spPr>
          <a:xfrm>
            <a:off x="3890160" y="2697480"/>
            <a:ext cx="727200" cy="246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F7F1E3"/>
                </a:solidFill>
                <a:effectLst/>
                <a:uFillTx/>
                <a:latin typeface="Calibri"/>
                <a:ea typeface="Calibri"/>
              </a:rPr>
              <a:t>POST /simulate</a:t>
            </a:r>
            <a:endParaRPr lang="en-IN" sz="1100" b="0" u="none" strike="noStrike">
              <a:solidFill>
                <a:srgbClr val="FFFFFF"/>
              </a:solidFill>
              <a:effectLst/>
              <a:uFillTx/>
              <a:latin typeface="Arial"/>
            </a:endParaRPr>
          </a:p>
        </p:txBody>
      </p:sp>
      <p:sp>
        <p:nvSpPr>
          <p:cNvPr id="103" name="Shape 7"/>
          <p:cNvSpPr/>
          <p:nvPr/>
        </p:nvSpPr>
        <p:spPr>
          <a:xfrm>
            <a:off x="4653720" y="1478880"/>
            <a:ext cx="7219800" cy="242424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04" name="Text 9"/>
          <p:cNvSpPr/>
          <p:nvPr/>
        </p:nvSpPr>
        <p:spPr>
          <a:xfrm>
            <a:off x="6869160" y="100368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View aggregate and category metrics</a:t>
            </a:r>
            <a:endParaRPr lang="en-IN" sz="1400" b="0" u="none" strike="noStrike">
              <a:solidFill>
                <a:srgbClr val="FFFFFF"/>
              </a:solidFill>
              <a:effectLst/>
              <a:uFillTx/>
              <a:latin typeface="Arial"/>
            </a:endParaRPr>
          </a:p>
        </p:txBody>
      </p:sp>
      <p:sp>
        <p:nvSpPr>
          <p:cNvPr id="105" name="Shape 10"/>
          <p:cNvSpPr/>
          <p:nvPr/>
        </p:nvSpPr>
        <p:spPr>
          <a:xfrm flipH="1">
            <a:off x="5369760" y="3873960"/>
            <a:ext cx="3108960" cy="83376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06" name="Text 11"/>
          <p:cNvSpPr/>
          <p:nvPr/>
        </p:nvSpPr>
        <p:spPr>
          <a:xfrm>
            <a:off x="6924240" y="4212720"/>
            <a:ext cx="8683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F7F1E3"/>
                </a:solidFill>
                <a:effectLst/>
                <a:uFillTx/>
                <a:latin typeface="Calibri"/>
                <a:ea typeface="Calibri"/>
              </a:rPr>
              <a:t>results</a:t>
            </a:r>
            <a:endParaRPr lang="en-IN" sz="1100" b="0" u="none" strike="noStrike">
              <a:solidFill>
                <a:srgbClr val="FFFFFF"/>
              </a:solidFill>
              <a:effectLst/>
              <a:uFillTx/>
              <a:latin typeface="Arial"/>
            </a:endParaRPr>
          </a:p>
        </p:txBody>
      </p:sp>
      <p:sp>
        <p:nvSpPr>
          <p:cNvPr id="107" name="Shape 12"/>
          <p:cNvSpPr/>
          <p:nvPr/>
        </p:nvSpPr>
        <p:spPr>
          <a:xfrm>
            <a:off x="379080" y="4715640"/>
            <a:ext cx="8832600" cy="139968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08" name="Text 14"/>
          <p:cNvSpPr/>
          <p:nvPr/>
        </p:nvSpPr>
        <p:spPr>
          <a:xfrm>
            <a:off x="3218760" y="608940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View per-machine results</a:t>
            </a:r>
            <a:endParaRPr lang="en-IN" sz="1400" b="0" u="none" strike="noStrike">
              <a:solidFill>
                <a:srgbClr val="FFFFFF"/>
              </a:solidFill>
              <a:effectLst/>
              <a:uFillTx/>
              <a:latin typeface="Arial"/>
            </a:endParaRPr>
          </a:p>
        </p:txBody>
      </p:sp>
      <p:sp>
        <p:nvSpPr>
          <p:cNvPr id="109" name="Text 15"/>
          <p:cNvSpPr/>
          <p:nvPr/>
        </p:nvSpPr>
        <p:spPr>
          <a:xfrm>
            <a:off x="640080" y="5669280"/>
            <a:ext cx="109724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F7F1E3"/>
                </a:solidFill>
                <a:effectLst/>
                <a:uFillTx/>
                <a:latin typeface="Calibri"/>
                <a:ea typeface="Calibri"/>
              </a:rPr>
              <a:t>Replace each box with a screenshot from the running app.</a:t>
            </a:r>
            <a:endParaRPr lang="en-IN" sz="1300" b="0" u="none" strike="noStrike">
              <a:solidFill>
                <a:srgbClr val="FFFFFF"/>
              </a:solidFill>
              <a:effectLst/>
              <a:uFillTx/>
              <a:latin typeface="Arial"/>
            </a:endParaRPr>
          </a:p>
        </p:txBody>
      </p:sp>
      <p:pic>
        <p:nvPicPr>
          <p:cNvPr id="110" name="Picture 18"/>
          <p:cNvPicPr/>
          <p:nvPr/>
        </p:nvPicPr>
        <p:blipFill>
          <a:blip r:embed="rId1"/>
          <a:stretch/>
        </p:blipFill>
        <p:spPr>
          <a:xfrm>
            <a:off x="604080" y="1550160"/>
            <a:ext cx="3108600" cy="2568960"/>
          </a:xfrm>
          <a:prstGeom prst="rect">
            <a:avLst/>
          </a:prstGeom>
          <a:noFill/>
          <a:ln w="0">
            <a:noFill/>
          </a:ln>
        </p:spPr>
      </p:pic>
      <p:pic>
        <p:nvPicPr>
          <p:cNvPr id="111" name="Picture 22"/>
          <p:cNvPicPr/>
          <p:nvPr/>
        </p:nvPicPr>
        <p:blipFill>
          <a:blip r:embed="rId2"/>
          <a:stretch/>
        </p:blipFill>
        <p:spPr>
          <a:xfrm>
            <a:off x="4773240" y="1595160"/>
            <a:ext cx="6981120" cy="2204640"/>
          </a:xfrm>
          <a:prstGeom prst="rect">
            <a:avLst/>
          </a:prstGeom>
          <a:noFill/>
          <a:ln w="0">
            <a:noFill/>
          </a:ln>
        </p:spPr>
      </p:pic>
      <p:pic>
        <p:nvPicPr>
          <p:cNvPr id="112" name="Picture 24"/>
          <p:cNvPicPr/>
          <p:nvPr/>
        </p:nvPicPr>
        <p:blipFill>
          <a:blip r:embed="rId3"/>
          <a:stretch/>
        </p:blipFill>
        <p:spPr>
          <a:xfrm>
            <a:off x="487800" y="4840560"/>
            <a:ext cx="8548200" cy="1108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113"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F28C28"/>
                </a:solidFill>
                <a:effectLst/>
                <a:uFillTx/>
                <a:latin typeface="Georgia"/>
                <a:ea typeface="Georgia"/>
              </a:rPr>
              <a:t>User Activities: Experiments via API</a:t>
            </a:r>
            <a:endParaRPr lang="en-IN" sz="3000" b="0" u="none" strike="noStrike">
              <a:solidFill>
                <a:srgbClr val="FFFFFF"/>
              </a:solidFill>
              <a:effectLst/>
              <a:uFillTx/>
              <a:latin typeface="Arial"/>
            </a:endParaRPr>
          </a:p>
        </p:txBody>
      </p:sp>
      <p:sp>
        <p:nvSpPr>
          <p:cNvPr id="114"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C9C9C9"/>
                </a:solidFill>
                <a:effectLst/>
                <a:uFillTx/>
                <a:latin typeface="Calibri"/>
                <a:ea typeface="Calibri"/>
              </a:rPr>
              <a:t>Factory Adjuster Simulation  |  7</a:t>
            </a:r>
            <a:endParaRPr lang="en-IN" sz="1100" b="0" u="none" strike="noStrike">
              <a:solidFill>
                <a:srgbClr val="FFFFFF"/>
              </a:solidFill>
              <a:effectLst/>
              <a:uFillTx/>
              <a:latin typeface="Arial"/>
            </a:endParaRPr>
          </a:p>
        </p:txBody>
      </p:sp>
      <p:sp>
        <p:nvSpPr>
          <p:cNvPr id="115" name="Shape 2"/>
          <p:cNvSpPr/>
          <p:nvPr/>
        </p:nvSpPr>
        <p:spPr>
          <a:xfrm>
            <a:off x="556920" y="1463040"/>
            <a:ext cx="2826000" cy="341352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16" name="Text 3"/>
          <p:cNvSpPr/>
          <p:nvPr/>
        </p:nvSpPr>
        <p:spPr>
          <a:xfrm>
            <a:off x="822960" y="1463040"/>
            <a:ext cx="2742840" cy="3200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F7F1E3"/>
                </a:solidFill>
                <a:effectLst/>
                <a:uFillTx/>
                <a:latin typeface="Calibri"/>
                <a:ea typeface="Calibri"/>
              </a:rPr>
              <a:t>[ Insert screenshot ]</a:t>
            </a:r>
            <a:endParaRPr lang="en-IN" sz="1400" b="0" u="none" strike="noStrike">
              <a:solidFill>
                <a:srgbClr val="FFFFFF"/>
              </a:solidFill>
              <a:effectLst/>
              <a:uFillTx/>
              <a:latin typeface="Arial"/>
            </a:endParaRPr>
          </a:p>
          <a:p>
            <a:pPr algn="ctr" defTabSz="914400">
              <a:lnSpc>
                <a:spcPct val="100000"/>
              </a:lnSpc>
              <a:tabLst>
                <a:tab pos="0" algn="l"/>
              </a:tabLst>
            </a:pPr>
            <a:r>
              <a:rPr lang="en-US" sz="1400" b="0" i="1" u="none" strike="noStrike">
                <a:solidFill>
                  <a:srgbClr val="F7F1E3"/>
                </a:solidFill>
                <a:effectLst/>
                <a:uFillTx/>
                <a:latin typeface="Calibri"/>
                <a:ea typeface="Calibri"/>
              </a:rPr>
              <a:t>API request to /experiment</a:t>
            </a:r>
            <a:endParaRPr lang="en-IN" sz="1400" b="0" u="none" strike="noStrike">
              <a:solidFill>
                <a:srgbClr val="FFFFFF"/>
              </a:solidFill>
              <a:effectLst/>
              <a:uFillTx/>
              <a:latin typeface="Arial"/>
            </a:endParaRPr>
          </a:p>
        </p:txBody>
      </p:sp>
      <p:sp>
        <p:nvSpPr>
          <p:cNvPr id="117" name="Text 4"/>
          <p:cNvSpPr/>
          <p:nvPr/>
        </p:nvSpPr>
        <p:spPr>
          <a:xfrm>
            <a:off x="45000" y="484632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Call POST /experiment</a:t>
            </a:r>
            <a:endParaRPr lang="en-IN" sz="1400" b="0" u="none" strike="noStrike">
              <a:solidFill>
                <a:srgbClr val="FFFFFF"/>
              </a:solidFill>
              <a:effectLst/>
              <a:uFillTx/>
              <a:latin typeface="Arial"/>
            </a:endParaRPr>
          </a:p>
        </p:txBody>
      </p:sp>
      <p:sp>
        <p:nvSpPr>
          <p:cNvPr id="118" name="Shape 5"/>
          <p:cNvSpPr/>
          <p:nvPr/>
        </p:nvSpPr>
        <p:spPr>
          <a:xfrm>
            <a:off x="3421080" y="3063240"/>
            <a:ext cx="18208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119" name="Text 6"/>
          <p:cNvSpPr/>
          <p:nvPr/>
        </p:nvSpPr>
        <p:spPr>
          <a:xfrm>
            <a:off x="3749040" y="2697480"/>
            <a:ext cx="8683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F7F1E3"/>
                </a:solidFill>
                <a:effectLst/>
                <a:uFillTx/>
                <a:latin typeface="Calibri"/>
                <a:ea typeface="Calibri"/>
              </a:rPr>
              <a:t>request</a:t>
            </a:r>
            <a:endParaRPr lang="en-IN" sz="1100" b="0" u="none" strike="noStrike">
              <a:solidFill>
                <a:srgbClr val="FFFFFF"/>
              </a:solidFill>
              <a:effectLst/>
              <a:uFillTx/>
              <a:latin typeface="Arial"/>
            </a:endParaRPr>
          </a:p>
        </p:txBody>
      </p:sp>
      <p:sp>
        <p:nvSpPr>
          <p:cNvPr id="120" name="Shape 7"/>
          <p:cNvSpPr/>
          <p:nvPr/>
        </p:nvSpPr>
        <p:spPr>
          <a:xfrm>
            <a:off x="5241960" y="1166040"/>
            <a:ext cx="3353040" cy="305928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21" name="Text 9"/>
          <p:cNvSpPr/>
          <p:nvPr/>
        </p:nvSpPr>
        <p:spPr>
          <a:xfrm>
            <a:off x="5089680" y="436644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Compare factor combinations</a:t>
            </a:r>
            <a:endParaRPr lang="en-IN" sz="1400" b="0" u="none" strike="noStrike">
              <a:solidFill>
                <a:srgbClr val="FFFFFF"/>
              </a:solidFill>
              <a:effectLst/>
              <a:uFillTx/>
              <a:latin typeface="Arial"/>
            </a:endParaRPr>
          </a:p>
        </p:txBody>
      </p:sp>
      <p:sp>
        <p:nvSpPr>
          <p:cNvPr id="122" name="Shape 10"/>
          <p:cNvSpPr/>
          <p:nvPr/>
        </p:nvSpPr>
        <p:spPr>
          <a:xfrm>
            <a:off x="8573760" y="2654640"/>
            <a:ext cx="1161720" cy="104940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23" name="Text 11"/>
          <p:cNvSpPr/>
          <p:nvPr/>
        </p:nvSpPr>
        <p:spPr>
          <a:xfrm>
            <a:off x="8866800" y="2777400"/>
            <a:ext cx="8683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F7F1E3"/>
                </a:solidFill>
                <a:effectLst/>
                <a:uFillTx/>
                <a:latin typeface="Calibri"/>
                <a:ea typeface="Calibri"/>
              </a:rPr>
              <a:t>rows</a:t>
            </a:r>
            <a:endParaRPr lang="en-IN" sz="1100" b="0" u="none" strike="noStrike">
              <a:solidFill>
                <a:srgbClr val="FFFFFF"/>
              </a:solidFill>
              <a:effectLst/>
              <a:uFillTx/>
              <a:latin typeface="Arial"/>
            </a:endParaRPr>
          </a:p>
        </p:txBody>
      </p:sp>
      <p:sp>
        <p:nvSpPr>
          <p:cNvPr id="124" name="Shape 12"/>
          <p:cNvSpPr/>
          <p:nvPr/>
        </p:nvSpPr>
        <p:spPr>
          <a:xfrm>
            <a:off x="8937720" y="3704400"/>
            <a:ext cx="3108600" cy="150624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25" name="Text 14"/>
          <p:cNvSpPr/>
          <p:nvPr/>
        </p:nvSpPr>
        <p:spPr>
          <a:xfrm>
            <a:off x="8949600" y="5242320"/>
            <a:ext cx="31086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28C28"/>
                </a:solidFill>
                <a:effectLst/>
                <a:uFillTx/>
                <a:latin typeface="Calibri"/>
                <a:ea typeface="Calibri"/>
              </a:rPr>
              <a:t>Read the optimum</a:t>
            </a:r>
            <a:endParaRPr lang="en-IN" sz="1400" b="0" u="none" strike="noStrike">
              <a:solidFill>
                <a:srgbClr val="FFFFFF"/>
              </a:solidFill>
              <a:effectLst/>
              <a:uFillTx/>
              <a:latin typeface="Arial"/>
            </a:endParaRPr>
          </a:p>
        </p:txBody>
      </p:sp>
      <p:sp>
        <p:nvSpPr>
          <p:cNvPr id="126" name="Text 15"/>
          <p:cNvSpPr/>
          <p:nvPr/>
        </p:nvSpPr>
        <p:spPr>
          <a:xfrm>
            <a:off x="640080" y="5669280"/>
            <a:ext cx="10972440" cy="365400"/>
          </a:xfrm>
          <a:prstGeom prst="rect">
            <a:avLst/>
          </a:prstGeom>
          <a:noFill/>
          <a:ln w="0">
            <a:noFill/>
          </a:ln>
        </p:spPr>
        <p:style>
          <a:lnRef idx="0"/>
          <a:fillRef idx="0"/>
          <a:effectRef idx="0"/>
          <a:fontRef idx="minor"/>
        </p:style>
        <p:txBody>
          <a:bodyPr lIns="0" tIns="0" rIns="0" bIns="0" anchor="ctr">
            <a:noAutofit/>
          </a:bodyPr>
          <a:p>
            <a:endParaRPr lang="en-US" sz="1300" b="0" u="none" strike="noStrike">
              <a:solidFill>
                <a:schemeClr val="dk1"/>
              </a:solidFill>
              <a:effectLst/>
              <a:uFillTx/>
              <a:latin typeface="Calibri"/>
            </a:endParaRPr>
          </a:p>
        </p:txBody>
      </p:sp>
      <p:pic>
        <p:nvPicPr>
          <p:cNvPr id="127" name="Picture 18"/>
          <p:cNvPicPr/>
          <p:nvPr/>
        </p:nvPicPr>
        <p:blipFill>
          <a:blip r:embed="rId1"/>
          <a:stretch/>
        </p:blipFill>
        <p:spPr>
          <a:xfrm>
            <a:off x="677880" y="1577160"/>
            <a:ext cx="2592720" cy="3223080"/>
          </a:xfrm>
          <a:prstGeom prst="rect">
            <a:avLst/>
          </a:prstGeom>
          <a:noFill/>
          <a:ln w="0">
            <a:noFill/>
          </a:ln>
        </p:spPr>
      </p:pic>
      <p:pic>
        <p:nvPicPr>
          <p:cNvPr id="128" name="Picture 22"/>
          <p:cNvPicPr/>
          <p:nvPr/>
        </p:nvPicPr>
        <p:blipFill>
          <a:blip r:embed="rId2"/>
          <a:stretch/>
        </p:blipFill>
        <p:spPr>
          <a:xfrm>
            <a:off x="9081000" y="3866040"/>
            <a:ext cx="2845800" cy="1228680"/>
          </a:xfrm>
          <a:prstGeom prst="rect">
            <a:avLst/>
          </a:prstGeom>
          <a:noFill/>
          <a:ln w="0">
            <a:noFill/>
          </a:ln>
        </p:spPr>
      </p:pic>
      <p:sp>
        <p:nvSpPr>
          <p:cNvPr id="129" name="Shape 2"/>
          <p:cNvSpPr/>
          <p:nvPr/>
        </p:nvSpPr>
        <p:spPr>
          <a:xfrm>
            <a:off x="2559240" y="3283920"/>
            <a:ext cx="2592720" cy="3040200"/>
          </a:xfrm>
          <a:prstGeom prst="rect">
            <a:avLst/>
          </a:prstGeom>
          <a:solidFill>
            <a:srgbClr val="1E2E54"/>
          </a:solidFill>
          <a:ln w="19050">
            <a:solidFill>
              <a:srgbClr val="F28C28"/>
            </a:solidFill>
            <a:prstDash val="dash"/>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pic>
        <p:nvPicPr>
          <p:cNvPr id="130" name="Picture 26"/>
          <p:cNvPicPr/>
          <p:nvPr/>
        </p:nvPicPr>
        <p:blipFill>
          <a:blip r:embed="rId3"/>
          <a:stretch/>
        </p:blipFill>
        <p:spPr>
          <a:xfrm>
            <a:off x="2700000" y="3409560"/>
            <a:ext cx="2339280" cy="2765880"/>
          </a:xfrm>
          <a:prstGeom prst="rect">
            <a:avLst/>
          </a:prstGeom>
          <a:noFill/>
          <a:ln w="0">
            <a:noFill/>
          </a:ln>
        </p:spPr>
      </p:pic>
      <p:pic>
        <p:nvPicPr>
          <p:cNvPr id="131" name="Picture 28"/>
          <p:cNvPicPr/>
          <p:nvPr/>
        </p:nvPicPr>
        <p:blipFill>
          <a:blip r:embed="rId4"/>
          <a:stretch/>
        </p:blipFill>
        <p:spPr>
          <a:xfrm>
            <a:off x="5331960" y="1291320"/>
            <a:ext cx="3151800" cy="28267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132"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Major Modules</a:t>
            </a:r>
            <a:endParaRPr lang="en-IN" sz="3000" b="0" u="none" strike="noStrike">
              <a:solidFill>
                <a:srgbClr val="000000"/>
              </a:solidFill>
              <a:effectLst/>
              <a:uFillTx/>
              <a:latin typeface="Arial"/>
            </a:endParaRPr>
          </a:p>
        </p:txBody>
      </p:sp>
      <p:sp>
        <p:nvSpPr>
          <p:cNvPr id="133"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8</a:t>
            </a:r>
            <a:endParaRPr lang="en-IN" sz="1100" b="0" u="none" strike="noStrike">
              <a:solidFill>
                <a:srgbClr val="000000"/>
              </a:solidFill>
              <a:effectLst/>
              <a:uFillTx/>
              <a:latin typeface="Arial"/>
            </a:endParaRPr>
          </a:p>
        </p:txBody>
      </p:sp>
      <p:sp>
        <p:nvSpPr>
          <p:cNvPr id="134" name="Shape 2"/>
          <p:cNvSpPr/>
          <p:nvPr/>
        </p:nvSpPr>
        <p:spPr>
          <a:xfrm>
            <a:off x="548640" y="1371600"/>
            <a:ext cx="3565800" cy="2057040"/>
          </a:xfrm>
          <a:prstGeom prst="roundRect">
            <a:avLst>
              <a:gd name="adj" fmla="val 3556"/>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35" name="Text 3"/>
          <p:cNvSpPr/>
          <p:nvPr/>
        </p:nvSpPr>
        <p:spPr>
          <a:xfrm>
            <a:off x="777240" y="155448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1  Machine groups</a:t>
            </a:r>
            <a:endParaRPr lang="en-IN" sz="1600" b="0" u="none" strike="noStrike">
              <a:solidFill>
                <a:srgbClr val="000000"/>
              </a:solidFill>
              <a:effectLst/>
              <a:uFillTx/>
              <a:latin typeface="Arial"/>
            </a:endParaRPr>
          </a:p>
        </p:txBody>
      </p:sp>
      <p:sp>
        <p:nvSpPr>
          <p:cNvPr id="136" name="Text 4"/>
          <p:cNvSpPr/>
          <p:nvPr/>
        </p:nvSpPr>
        <p:spPr>
          <a:xfrm>
            <a:off x="777240" y="2103120"/>
            <a:ext cx="31086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Category, count, MTTF and fixed repair time.</a:t>
            </a:r>
            <a:endParaRPr lang="en-IN" sz="1300" b="0" u="none" strike="noStrike">
              <a:solidFill>
                <a:srgbClr val="000000"/>
              </a:solidFill>
              <a:effectLst/>
              <a:uFillTx/>
              <a:latin typeface="Arial"/>
            </a:endParaRPr>
          </a:p>
        </p:txBody>
      </p:sp>
      <p:sp>
        <p:nvSpPr>
          <p:cNvPr id="137" name="Text 5"/>
          <p:cNvSpPr/>
          <p:nvPr/>
        </p:nvSpPr>
        <p:spPr>
          <a:xfrm>
            <a:off x="777240" y="297180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F28C28"/>
                </a:solidFill>
                <a:effectLst/>
                <a:uFillTx/>
                <a:latin typeface="Calibri"/>
                <a:ea typeface="Calibri"/>
              </a:rPr>
              <a:t>Input · POST /simulate</a:t>
            </a:r>
            <a:endParaRPr lang="en-IN" sz="1200" b="0" u="none" strike="noStrike">
              <a:solidFill>
                <a:srgbClr val="000000"/>
              </a:solidFill>
              <a:effectLst/>
              <a:uFillTx/>
              <a:latin typeface="Arial"/>
            </a:endParaRPr>
          </a:p>
        </p:txBody>
      </p:sp>
      <p:sp>
        <p:nvSpPr>
          <p:cNvPr id="138" name="Shape 6"/>
          <p:cNvSpPr/>
          <p:nvPr/>
        </p:nvSpPr>
        <p:spPr>
          <a:xfrm>
            <a:off x="4297680" y="1371600"/>
            <a:ext cx="3565800" cy="2057040"/>
          </a:xfrm>
          <a:prstGeom prst="roundRect">
            <a:avLst>
              <a:gd name="adj" fmla="val 3556"/>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39" name="Text 7"/>
          <p:cNvSpPr/>
          <p:nvPr/>
        </p:nvSpPr>
        <p:spPr>
          <a:xfrm>
            <a:off x="4526280" y="155448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2  Adjusters</a:t>
            </a:r>
            <a:endParaRPr lang="en-IN" sz="1600" b="0" u="none" strike="noStrike">
              <a:solidFill>
                <a:srgbClr val="000000"/>
              </a:solidFill>
              <a:effectLst/>
              <a:uFillTx/>
              <a:latin typeface="Arial"/>
            </a:endParaRPr>
          </a:p>
        </p:txBody>
      </p:sp>
      <p:sp>
        <p:nvSpPr>
          <p:cNvPr id="140" name="Text 8"/>
          <p:cNvSpPr/>
          <p:nvPr/>
        </p:nvSpPr>
        <p:spPr>
          <a:xfrm>
            <a:off x="4526280" y="2103120"/>
            <a:ext cx="31086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ID and one or more machine-category skills.</a:t>
            </a:r>
            <a:endParaRPr lang="en-IN" sz="1300" b="0" u="none" strike="noStrike">
              <a:solidFill>
                <a:srgbClr val="000000"/>
              </a:solidFill>
              <a:effectLst/>
              <a:uFillTx/>
              <a:latin typeface="Arial"/>
            </a:endParaRPr>
          </a:p>
        </p:txBody>
      </p:sp>
      <p:sp>
        <p:nvSpPr>
          <p:cNvPr id="141" name="Text 9"/>
          <p:cNvSpPr/>
          <p:nvPr/>
        </p:nvSpPr>
        <p:spPr>
          <a:xfrm>
            <a:off x="4526280" y="297180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F28C28"/>
                </a:solidFill>
                <a:effectLst/>
                <a:uFillTx/>
                <a:latin typeface="Calibri"/>
                <a:ea typeface="Calibri"/>
              </a:rPr>
              <a:t>Input · POST /simulate</a:t>
            </a:r>
            <a:endParaRPr lang="en-IN" sz="1200" b="0" u="none" strike="noStrike">
              <a:solidFill>
                <a:srgbClr val="000000"/>
              </a:solidFill>
              <a:effectLst/>
              <a:uFillTx/>
              <a:latin typeface="Arial"/>
            </a:endParaRPr>
          </a:p>
        </p:txBody>
      </p:sp>
      <p:sp>
        <p:nvSpPr>
          <p:cNvPr id="142" name="Shape 10"/>
          <p:cNvSpPr/>
          <p:nvPr/>
        </p:nvSpPr>
        <p:spPr>
          <a:xfrm>
            <a:off x="8046720" y="1371600"/>
            <a:ext cx="3565800" cy="2057040"/>
          </a:xfrm>
          <a:prstGeom prst="roundRect">
            <a:avLst>
              <a:gd name="adj" fmla="val 3556"/>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43" name="Text 11"/>
          <p:cNvSpPr/>
          <p:nvPr/>
        </p:nvSpPr>
        <p:spPr>
          <a:xfrm>
            <a:off x="8275320" y="155448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3  Simulation engine</a:t>
            </a:r>
            <a:endParaRPr lang="en-IN" sz="1600" b="0" u="none" strike="noStrike">
              <a:solidFill>
                <a:srgbClr val="000000"/>
              </a:solidFill>
              <a:effectLst/>
              <a:uFillTx/>
              <a:latin typeface="Arial"/>
            </a:endParaRPr>
          </a:p>
        </p:txBody>
      </p:sp>
      <p:sp>
        <p:nvSpPr>
          <p:cNvPr id="144" name="Text 12"/>
          <p:cNvSpPr/>
          <p:nvPr/>
        </p:nvSpPr>
        <p:spPr>
          <a:xfrm>
            <a:off x="8275320" y="2103120"/>
            <a:ext cx="31086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Failure and repair events, Gaussian failure intervals, least-skilled dispatch.</a:t>
            </a:r>
            <a:endParaRPr lang="en-IN" sz="1300" b="0" u="none" strike="noStrike">
              <a:solidFill>
                <a:srgbClr val="000000"/>
              </a:solidFill>
              <a:effectLst/>
              <a:uFillTx/>
              <a:latin typeface="Arial"/>
            </a:endParaRPr>
          </a:p>
        </p:txBody>
      </p:sp>
      <p:sp>
        <p:nvSpPr>
          <p:cNvPr id="145" name="Text 13"/>
          <p:cNvSpPr/>
          <p:nvPr/>
        </p:nvSpPr>
        <p:spPr>
          <a:xfrm>
            <a:off x="8275320" y="297180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F28C28"/>
                </a:solidFill>
                <a:effectLst/>
                <a:uFillTx/>
                <a:latin typeface="Calibri"/>
                <a:ea typeface="Calibri"/>
              </a:rPr>
              <a:t>Core · Simulator</a:t>
            </a:r>
            <a:endParaRPr lang="en-IN" sz="1200" b="0" u="none" strike="noStrike">
              <a:solidFill>
                <a:srgbClr val="000000"/>
              </a:solidFill>
              <a:effectLst/>
              <a:uFillTx/>
              <a:latin typeface="Arial"/>
            </a:endParaRPr>
          </a:p>
        </p:txBody>
      </p:sp>
      <p:sp>
        <p:nvSpPr>
          <p:cNvPr id="146" name="Shape 14"/>
          <p:cNvSpPr/>
          <p:nvPr/>
        </p:nvSpPr>
        <p:spPr>
          <a:xfrm>
            <a:off x="548640" y="3566160"/>
            <a:ext cx="3565800" cy="2057040"/>
          </a:xfrm>
          <a:prstGeom prst="roundRect">
            <a:avLst>
              <a:gd name="adj" fmla="val 3556"/>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47" name="Text 15"/>
          <p:cNvSpPr/>
          <p:nvPr/>
        </p:nvSpPr>
        <p:spPr>
          <a:xfrm>
            <a:off x="777240" y="374904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4  Results and metrics</a:t>
            </a:r>
            <a:endParaRPr lang="en-IN" sz="1600" b="0" u="none" strike="noStrike">
              <a:solidFill>
                <a:srgbClr val="000000"/>
              </a:solidFill>
              <a:effectLst/>
              <a:uFillTx/>
              <a:latin typeface="Arial"/>
            </a:endParaRPr>
          </a:p>
        </p:txBody>
      </p:sp>
      <p:sp>
        <p:nvSpPr>
          <p:cNvPr id="148" name="Text 16"/>
          <p:cNvSpPr/>
          <p:nvPr/>
        </p:nvSpPr>
        <p:spPr>
          <a:xfrm>
            <a:off x="777240" y="4297680"/>
            <a:ext cx="31086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Utilization, failures, waiting machines/queue length, downtime, efficiency.</a:t>
            </a:r>
            <a:endParaRPr lang="en-IN" sz="1300" b="0" u="none" strike="noStrike">
              <a:solidFill>
                <a:srgbClr val="000000"/>
              </a:solidFill>
              <a:effectLst/>
              <a:uFillTx/>
              <a:latin typeface="Arial"/>
            </a:endParaRPr>
          </a:p>
        </p:txBody>
      </p:sp>
      <p:sp>
        <p:nvSpPr>
          <p:cNvPr id="149" name="Text 17"/>
          <p:cNvSpPr/>
          <p:nvPr/>
        </p:nvSpPr>
        <p:spPr>
          <a:xfrm>
            <a:off x="777240" y="516636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F28C28"/>
                </a:solidFill>
                <a:effectLst/>
                <a:uFillTx/>
                <a:latin typeface="Calibri"/>
                <a:ea typeface="Calibri"/>
              </a:rPr>
              <a:t>Output · dashboard</a:t>
            </a:r>
            <a:endParaRPr lang="en-IN" sz="1200" b="0" u="none" strike="noStrike">
              <a:solidFill>
                <a:srgbClr val="000000"/>
              </a:solidFill>
              <a:effectLst/>
              <a:uFillTx/>
              <a:latin typeface="Arial"/>
            </a:endParaRPr>
          </a:p>
        </p:txBody>
      </p:sp>
      <p:sp>
        <p:nvSpPr>
          <p:cNvPr id="150" name="Shape 18"/>
          <p:cNvSpPr/>
          <p:nvPr/>
        </p:nvSpPr>
        <p:spPr>
          <a:xfrm>
            <a:off x="4297680" y="3566160"/>
            <a:ext cx="3565800" cy="2057040"/>
          </a:xfrm>
          <a:prstGeom prst="roundRect">
            <a:avLst>
              <a:gd name="adj" fmla="val 3556"/>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51" name="Text 19"/>
          <p:cNvSpPr/>
          <p:nvPr/>
        </p:nvSpPr>
        <p:spPr>
          <a:xfrm>
            <a:off x="4526280" y="374904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5  Experiments</a:t>
            </a:r>
            <a:endParaRPr lang="en-IN" sz="1600" b="0" u="none" strike="noStrike">
              <a:solidFill>
                <a:srgbClr val="000000"/>
              </a:solidFill>
              <a:effectLst/>
              <a:uFillTx/>
              <a:latin typeface="Arial"/>
            </a:endParaRPr>
          </a:p>
        </p:txBody>
      </p:sp>
      <p:sp>
        <p:nvSpPr>
          <p:cNvPr id="152" name="Text 20"/>
          <p:cNvSpPr/>
          <p:nvPr/>
        </p:nvSpPr>
        <p:spPr>
          <a:xfrm>
            <a:off x="4526280" y="4297680"/>
            <a:ext cx="31086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Machine-count and MTTF multipliers, adjuster count, replications, optimum.</a:t>
            </a:r>
            <a:endParaRPr lang="en-IN" sz="1300" b="0" u="none" strike="noStrike">
              <a:solidFill>
                <a:srgbClr val="000000"/>
              </a:solidFill>
              <a:effectLst/>
              <a:uFillTx/>
              <a:latin typeface="Arial"/>
            </a:endParaRPr>
          </a:p>
        </p:txBody>
      </p:sp>
      <p:sp>
        <p:nvSpPr>
          <p:cNvPr id="153" name="Text 21"/>
          <p:cNvSpPr/>
          <p:nvPr/>
        </p:nvSpPr>
        <p:spPr>
          <a:xfrm>
            <a:off x="4526280" y="516636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F28C28"/>
                </a:solidFill>
                <a:effectLst/>
                <a:uFillTx/>
                <a:latin typeface="Calibri"/>
                <a:ea typeface="Calibri"/>
              </a:rPr>
              <a:t>API only · POST /experiment</a:t>
            </a:r>
            <a:endParaRPr lang="en-IN" sz="1200" b="0" u="none" strike="noStrike">
              <a:solidFill>
                <a:srgbClr val="000000"/>
              </a:solidFill>
              <a:effectLst/>
              <a:uFillTx/>
              <a:latin typeface="Arial"/>
            </a:endParaRPr>
          </a:p>
        </p:txBody>
      </p:sp>
      <p:sp>
        <p:nvSpPr>
          <p:cNvPr id="154" name="Shape 22"/>
          <p:cNvSpPr/>
          <p:nvPr/>
        </p:nvSpPr>
        <p:spPr>
          <a:xfrm>
            <a:off x="8046720" y="3566160"/>
            <a:ext cx="3565800" cy="2057040"/>
          </a:xfrm>
          <a:prstGeom prst="roundRect">
            <a:avLst>
              <a:gd name="adj" fmla="val 3556"/>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55" name="Text 23"/>
          <p:cNvSpPr/>
          <p:nvPr/>
        </p:nvSpPr>
        <p:spPr>
          <a:xfrm>
            <a:off x="8275320" y="3749040"/>
            <a:ext cx="31086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6  Service, UI and storage</a:t>
            </a:r>
            <a:endParaRPr lang="en-IN" sz="1600" b="0" u="none" strike="noStrike">
              <a:solidFill>
                <a:srgbClr val="000000"/>
              </a:solidFill>
              <a:effectLst/>
              <a:uFillTx/>
              <a:latin typeface="Arial"/>
            </a:endParaRPr>
          </a:p>
        </p:txBody>
      </p:sp>
      <p:sp>
        <p:nvSpPr>
          <p:cNvPr id="156" name="Text 24"/>
          <p:cNvSpPr/>
          <p:nvPr/>
        </p:nvSpPr>
        <p:spPr>
          <a:xfrm>
            <a:off x="8275320" y="4297680"/>
            <a:ext cx="31086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FastAPI validation, Streamlit dashboard, MongoDB best-effort save.</a:t>
            </a:r>
            <a:endParaRPr lang="en-IN" sz="1300" b="0" u="none" strike="noStrike">
              <a:solidFill>
                <a:srgbClr val="000000"/>
              </a:solidFill>
              <a:effectLst/>
              <a:uFillTx/>
              <a:latin typeface="Arial"/>
            </a:endParaRPr>
          </a:p>
        </p:txBody>
      </p:sp>
      <p:sp>
        <p:nvSpPr>
          <p:cNvPr id="157" name="Text 25"/>
          <p:cNvSpPr/>
          <p:nvPr/>
        </p:nvSpPr>
        <p:spPr>
          <a:xfrm>
            <a:off x="8275320" y="5166360"/>
            <a:ext cx="31086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F28C28"/>
                </a:solidFill>
                <a:effectLst/>
                <a:uFillTx/>
                <a:latin typeface="Calibri"/>
                <a:ea typeface="Calibri"/>
              </a:rPr>
              <a:t>GET /health · UI · DB</a:t>
            </a:r>
            <a:endParaRPr lang="en-IN" sz="1200" b="0" u="none" strike="noStrike">
              <a:solidFill>
                <a:srgbClr val="000000"/>
              </a:solidFill>
              <a:effectLst/>
              <a:uFillTx/>
              <a:latin typeface="Arial"/>
            </a:endParaRPr>
          </a:p>
        </p:txBody>
      </p:sp>
      <p:sp>
        <p:nvSpPr>
          <p:cNvPr id="158" name="Text 26"/>
          <p:cNvSpPr/>
          <p:nvPr/>
        </p:nvSpPr>
        <p:spPr>
          <a:xfrm>
            <a:off x="548640" y="5852160"/>
            <a:ext cx="11063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2B2B2B"/>
                </a:solidFill>
                <a:effectLst/>
                <a:uFillTx/>
                <a:latin typeface="Calibri"/>
                <a:ea typeface="Calibri"/>
              </a:rPr>
              <a:t>Modules are connected through the FastAPI service; saved runs go to the simulation_runs collection.</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159"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API Documentation</a:t>
            </a:r>
            <a:endParaRPr lang="en-IN" sz="3000" b="0" u="none" strike="noStrike">
              <a:solidFill>
                <a:srgbClr val="000000"/>
              </a:solidFill>
              <a:effectLst/>
              <a:uFillTx/>
              <a:latin typeface="Arial"/>
            </a:endParaRPr>
          </a:p>
        </p:txBody>
      </p:sp>
      <p:sp>
        <p:nvSpPr>
          <p:cNvPr id="160"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9</a:t>
            </a:r>
            <a:endParaRPr lang="en-IN" sz="1100" b="0" u="none" strike="noStrike">
              <a:solidFill>
                <a:srgbClr val="000000"/>
              </a:solidFill>
              <a:effectLst/>
              <a:uFillTx/>
              <a:latin typeface="Arial"/>
            </a:endParaRPr>
          </a:p>
        </p:txBody>
      </p:sp>
      <p:graphicFrame>
        <p:nvGraphicFramePr>
          <p:cNvPr id="161" name="Table 0"/>
          <p:cNvGraphicFramePr/>
          <p:nvPr/>
        </p:nvGraphicFramePr>
        <p:xfrm>
          <a:off x="548640" y="1371600"/>
          <a:ext cx="11063880" cy="3931920"/>
        </p:xfrm>
        <a:graphic>
          <a:graphicData uri="http://schemas.openxmlformats.org/drawingml/2006/table">
            <a:tbl>
              <a:tblPr/>
              <a:tblGrid>
                <a:gridCol w="1188720"/>
                <a:gridCol w="1737360"/>
                <a:gridCol w="3383280"/>
                <a:gridCol w="4754880"/>
              </a:tblGrid>
              <a:tr h="457200">
                <a:tc>
                  <a:txBody>
                    <a:bodyPr lIns="109440" tIns="0" rIns="10944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Method</a:t>
                      </a:r>
                      <a:endParaRPr lang="en-IN" sz="13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Endpoint</a:t>
                      </a:r>
                      <a:endParaRPr lang="en-IN" sz="13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Input</a:t>
                      </a:r>
                      <a:endParaRPr lang="en-IN" sz="13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Purpose and output</a:t>
                      </a:r>
                      <a:endParaRPr lang="en-IN" sz="13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r>
              <a:tr h="548640">
                <a:tc>
                  <a:txBody>
                    <a:bodyPr lIns="109440" tIns="0" rIns="109440" bIns="0" anchor="ctr">
                      <a:noAutofit/>
                    </a:bodyPr>
                    <a:p>
                      <a:pPr defTabSz="914400">
                        <a:lnSpc>
                          <a:spcPct val="100000"/>
                        </a:lnSpc>
                        <a:tabLst>
                          <a:tab pos="0" algn="l"/>
                        </a:tabLst>
                      </a:pPr>
                      <a:r>
                        <a:rPr lang="en-US" sz="1300" b="1" u="none" strike="noStrike">
                          <a:solidFill>
                            <a:srgbClr val="14213D"/>
                          </a:solidFill>
                          <a:effectLst/>
                          <a:uFillTx/>
                          <a:latin typeface="Calibri"/>
                          <a:ea typeface="Calibri"/>
                        </a:rPr>
                        <a:t>GET</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/health</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None</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Service availability check</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1554480">
                <a:tc>
                  <a:txBody>
                    <a:bodyPr lIns="109440" tIns="0" rIns="109440" bIns="0" anchor="ctr">
                      <a:noAutofit/>
                    </a:bodyPr>
                    <a:p>
                      <a:pPr defTabSz="914400">
                        <a:lnSpc>
                          <a:spcPct val="100000"/>
                        </a:lnSpc>
                        <a:tabLst>
                          <a:tab pos="0" algn="l"/>
                        </a:tabLst>
                      </a:pPr>
                      <a:r>
                        <a:rPr lang="en-US" sz="1300" b="1" u="none" strike="noStrike">
                          <a:solidFill>
                            <a:srgbClr val="14213D"/>
                          </a:solidFill>
                          <a:effectLst/>
                          <a:uFillTx/>
                          <a:latin typeface="Calibri"/>
                          <a:ea typeface="Calibri"/>
                        </a:rPr>
                        <a:t>POST</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/simulate</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Machine groups, adjusters, duration, warm-up, seed, save</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Validates and simulates; returns overall and per-category machine utilization, adjuster utilization, counts, failures, waiting machines/queue length, downtime, per-machine status/efficiency; database_warning if saving fails; 4xx on invalid input</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r h="1371600">
                <a:tc>
                  <a:txBody>
                    <a:bodyPr lIns="109440" tIns="0" rIns="109440" bIns="0" anchor="ctr">
                      <a:noAutofit/>
                    </a:bodyPr>
                    <a:p>
                      <a:pPr defTabSz="914400">
                        <a:lnSpc>
                          <a:spcPct val="100000"/>
                        </a:lnSpc>
                        <a:tabLst>
                          <a:tab pos="0" algn="l"/>
                        </a:tabLst>
                      </a:pPr>
                      <a:r>
                        <a:rPr lang="en-US" sz="1300" b="1" u="none" strike="noStrike">
                          <a:solidFill>
                            <a:srgbClr val="14213D"/>
                          </a:solidFill>
                          <a:effectLst/>
                          <a:uFillTx/>
                          <a:latin typeface="Calibri"/>
                          <a:ea typeface="Calibri"/>
                        </a:rPr>
                        <a:t>POST</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/experiment</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Machine-count and MTTF multipliers, adjuster counts, replications</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300" b="0" u="none" strike="noStrike">
                          <a:solidFill>
                            <a:srgbClr val="2B2B2B"/>
                          </a:solidFill>
                          <a:effectLst/>
                          <a:uFillTx/>
                          <a:latin typeface="Calibri"/>
                          <a:ea typeface="Calibri"/>
                        </a:rPr>
                        <a:t>Row summaries with uncertainty; optimum = lowest adjuster count meeting fixed utilization/waiting thresholds, else highest machine utilization</a:t>
                      </a:r>
                      <a:endParaRPr lang="en-IN" sz="13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bl>
          </a:graphicData>
        </a:graphic>
      </p:graphicFrame>
      <p:sp>
        <p:nvSpPr>
          <p:cNvPr id="162" name="Text 2"/>
          <p:cNvSpPr/>
          <p:nvPr/>
        </p:nvSpPr>
        <p:spPr>
          <a:xfrm>
            <a:off x="548640" y="5486400"/>
            <a:ext cx="11063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2B2B2B"/>
                </a:solidFill>
                <a:effectLst/>
                <a:uFillTx/>
                <a:latin typeface="Calibri"/>
                <a:ea typeface="Calibri"/>
              </a:rPr>
              <a:t>Request and response schemas are defined in the FastAPI service; Pydantic validates positive machine count, MTTF and repair time. The dashboard currently calls /simulate only.</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163"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Tech Stack and Architecture</a:t>
            </a:r>
            <a:endParaRPr lang="en-IN" sz="3000" b="0" u="none" strike="noStrike">
              <a:solidFill>
                <a:srgbClr val="000000"/>
              </a:solidFill>
              <a:effectLst/>
              <a:uFillTx/>
              <a:latin typeface="Arial"/>
            </a:endParaRPr>
          </a:p>
        </p:txBody>
      </p:sp>
      <p:sp>
        <p:nvSpPr>
          <p:cNvPr id="164"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10</a:t>
            </a:r>
            <a:endParaRPr lang="en-IN" sz="1100" b="0" u="none" strike="noStrike">
              <a:solidFill>
                <a:srgbClr val="000000"/>
              </a:solidFill>
              <a:effectLst/>
              <a:uFillTx/>
              <a:latin typeface="Arial"/>
            </a:endParaRPr>
          </a:p>
        </p:txBody>
      </p:sp>
      <p:sp>
        <p:nvSpPr>
          <p:cNvPr id="165" name="Shape 2"/>
          <p:cNvSpPr/>
          <p:nvPr/>
        </p:nvSpPr>
        <p:spPr>
          <a:xfrm>
            <a:off x="548640" y="1371600"/>
            <a:ext cx="2468520" cy="1005480"/>
          </a:xfrm>
          <a:prstGeom prst="roundRect">
            <a:avLst>
              <a:gd name="adj" fmla="val 7273"/>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66" name="Text 3"/>
          <p:cNvSpPr/>
          <p:nvPr/>
        </p:nvSpPr>
        <p:spPr>
          <a:xfrm>
            <a:off x="548640" y="1463040"/>
            <a:ext cx="24685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14213D"/>
                </a:solidFill>
                <a:effectLst/>
                <a:uFillTx/>
                <a:latin typeface="Georgia"/>
                <a:ea typeface="Georgia"/>
              </a:rPr>
              <a:t>Streamlit UI</a:t>
            </a:r>
            <a:endParaRPr lang="en-IN" sz="1700" b="0" u="none" strike="noStrike">
              <a:solidFill>
                <a:srgbClr val="000000"/>
              </a:solidFill>
              <a:effectLst/>
              <a:uFillTx/>
              <a:latin typeface="Arial"/>
            </a:endParaRPr>
          </a:p>
        </p:txBody>
      </p:sp>
      <p:sp>
        <p:nvSpPr>
          <p:cNvPr id="167" name="Text 4"/>
          <p:cNvSpPr/>
          <p:nvPr/>
        </p:nvSpPr>
        <p:spPr>
          <a:xfrm>
            <a:off x="548640" y="192024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Dashboard</a:t>
            </a:r>
            <a:endParaRPr lang="en-IN" sz="1300" b="0" u="none" strike="noStrike">
              <a:solidFill>
                <a:srgbClr val="000000"/>
              </a:solidFill>
              <a:effectLst/>
              <a:uFillTx/>
              <a:latin typeface="Arial"/>
            </a:endParaRPr>
          </a:p>
        </p:txBody>
      </p:sp>
      <p:sp>
        <p:nvSpPr>
          <p:cNvPr id="168" name="Shape 5"/>
          <p:cNvSpPr/>
          <p:nvPr/>
        </p:nvSpPr>
        <p:spPr>
          <a:xfrm>
            <a:off x="3017520" y="1874520"/>
            <a:ext cx="39312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169" name="Shape 6"/>
          <p:cNvSpPr/>
          <p:nvPr/>
        </p:nvSpPr>
        <p:spPr>
          <a:xfrm>
            <a:off x="3410640" y="1371600"/>
            <a:ext cx="2468520" cy="1005480"/>
          </a:xfrm>
          <a:prstGeom prst="roundRect">
            <a:avLst>
              <a:gd name="adj" fmla="val 7273"/>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70" name="Text 7"/>
          <p:cNvSpPr/>
          <p:nvPr/>
        </p:nvSpPr>
        <p:spPr>
          <a:xfrm>
            <a:off x="3410640" y="1463040"/>
            <a:ext cx="24685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14213D"/>
                </a:solidFill>
                <a:effectLst/>
                <a:uFillTx/>
                <a:latin typeface="Georgia"/>
                <a:ea typeface="Georgia"/>
              </a:rPr>
              <a:t>FastAPI</a:t>
            </a:r>
            <a:endParaRPr lang="en-IN" sz="1700" b="0" u="none" strike="noStrike">
              <a:solidFill>
                <a:srgbClr val="000000"/>
              </a:solidFill>
              <a:effectLst/>
              <a:uFillTx/>
              <a:latin typeface="Arial"/>
            </a:endParaRPr>
          </a:p>
        </p:txBody>
      </p:sp>
      <p:sp>
        <p:nvSpPr>
          <p:cNvPr id="171" name="Text 8"/>
          <p:cNvSpPr/>
          <p:nvPr/>
        </p:nvSpPr>
        <p:spPr>
          <a:xfrm>
            <a:off x="3410640" y="192024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Validation, orchestration</a:t>
            </a:r>
            <a:endParaRPr lang="en-IN" sz="1300" b="0" u="none" strike="noStrike">
              <a:solidFill>
                <a:srgbClr val="000000"/>
              </a:solidFill>
              <a:effectLst/>
              <a:uFillTx/>
              <a:latin typeface="Arial"/>
            </a:endParaRPr>
          </a:p>
        </p:txBody>
      </p:sp>
      <p:sp>
        <p:nvSpPr>
          <p:cNvPr id="172" name="Shape 9"/>
          <p:cNvSpPr/>
          <p:nvPr/>
        </p:nvSpPr>
        <p:spPr>
          <a:xfrm>
            <a:off x="5879520" y="1874520"/>
            <a:ext cx="39312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173" name="Shape 10"/>
          <p:cNvSpPr/>
          <p:nvPr/>
        </p:nvSpPr>
        <p:spPr>
          <a:xfrm>
            <a:off x="6272640" y="1371600"/>
            <a:ext cx="2468520" cy="1005480"/>
          </a:xfrm>
          <a:prstGeom prst="roundRect">
            <a:avLst>
              <a:gd name="adj" fmla="val 7273"/>
            </a:avLst>
          </a:prstGeom>
          <a:solidFill>
            <a:srgbClr val="14213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74" name="Text 11"/>
          <p:cNvSpPr/>
          <p:nvPr/>
        </p:nvSpPr>
        <p:spPr>
          <a:xfrm>
            <a:off x="6272640" y="1463040"/>
            <a:ext cx="24685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F28C28"/>
                </a:solidFill>
                <a:effectLst/>
                <a:uFillTx/>
                <a:latin typeface="Georgia"/>
                <a:ea typeface="Georgia"/>
              </a:rPr>
              <a:t>Simulator</a:t>
            </a:r>
            <a:endParaRPr lang="en-IN" sz="1700" b="0" u="none" strike="noStrike">
              <a:solidFill>
                <a:srgbClr val="000000"/>
              </a:solidFill>
              <a:effectLst/>
              <a:uFillTx/>
              <a:latin typeface="Arial"/>
            </a:endParaRPr>
          </a:p>
        </p:txBody>
      </p:sp>
      <p:sp>
        <p:nvSpPr>
          <p:cNvPr id="175" name="Text 12"/>
          <p:cNvSpPr/>
          <p:nvPr/>
        </p:nvSpPr>
        <p:spPr>
          <a:xfrm>
            <a:off x="6272640" y="192024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Calibri"/>
                <a:ea typeface="Calibri"/>
              </a:rPr>
              <a:t>Event-driven core</a:t>
            </a:r>
            <a:endParaRPr lang="en-IN" sz="1300" b="0" u="none" strike="noStrike">
              <a:solidFill>
                <a:srgbClr val="000000"/>
              </a:solidFill>
              <a:effectLst/>
              <a:uFillTx/>
              <a:latin typeface="Arial"/>
            </a:endParaRPr>
          </a:p>
        </p:txBody>
      </p:sp>
      <p:sp>
        <p:nvSpPr>
          <p:cNvPr id="176" name="Shape 13"/>
          <p:cNvSpPr/>
          <p:nvPr/>
        </p:nvSpPr>
        <p:spPr>
          <a:xfrm>
            <a:off x="8741520" y="1874520"/>
            <a:ext cx="39312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177" name="Shape 14"/>
          <p:cNvSpPr/>
          <p:nvPr/>
        </p:nvSpPr>
        <p:spPr>
          <a:xfrm>
            <a:off x="9135000" y="1371600"/>
            <a:ext cx="2468520" cy="1005480"/>
          </a:xfrm>
          <a:prstGeom prst="roundRect">
            <a:avLst>
              <a:gd name="adj" fmla="val 7273"/>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78" name="Text 15"/>
          <p:cNvSpPr/>
          <p:nvPr/>
        </p:nvSpPr>
        <p:spPr>
          <a:xfrm>
            <a:off x="9135000" y="1463040"/>
            <a:ext cx="246852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14213D"/>
                </a:solidFill>
                <a:effectLst/>
                <a:uFillTx/>
                <a:latin typeface="Georgia"/>
                <a:ea typeface="Georgia"/>
              </a:rPr>
              <a:t>MongoDB</a:t>
            </a:r>
            <a:endParaRPr lang="en-IN" sz="1700" b="0" u="none" strike="noStrike">
              <a:solidFill>
                <a:srgbClr val="000000"/>
              </a:solidFill>
              <a:effectLst/>
              <a:uFillTx/>
              <a:latin typeface="Arial"/>
            </a:endParaRPr>
          </a:p>
        </p:txBody>
      </p:sp>
      <p:sp>
        <p:nvSpPr>
          <p:cNvPr id="179" name="Text 16"/>
          <p:cNvSpPr/>
          <p:nvPr/>
        </p:nvSpPr>
        <p:spPr>
          <a:xfrm>
            <a:off x="9135000" y="1920240"/>
            <a:ext cx="24685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Saved runs</a:t>
            </a:r>
            <a:endParaRPr lang="en-IN" sz="1300" b="0" u="none" strike="noStrike">
              <a:solidFill>
                <a:srgbClr val="000000"/>
              </a:solidFill>
              <a:effectLst/>
              <a:uFillTx/>
              <a:latin typeface="Arial"/>
            </a:endParaRPr>
          </a:p>
        </p:txBody>
      </p:sp>
      <p:sp>
        <p:nvSpPr>
          <p:cNvPr id="180" name="Text 17"/>
          <p:cNvSpPr/>
          <p:nvPr/>
        </p:nvSpPr>
        <p:spPr>
          <a:xfrm>
            <a:off x="548640" y="2514600"/>
            <a:ext cx="110638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213D"/>
                </a:solidFill>
                <a:effectLst/>
                <a:uFillTx/>
                <a:latin typeface="Calibri"/>
                <a:ea typeface="Calibri"/>
              </a:rPr>
              <a:t>Streamlit dashboard calls FastAPI over HTTP JSON; saving to MongoDB is best-effort.</a:t>
            </a:r>
            <a:endParaRPr lang="en-IN" sz="1200" b="0" u="none" strike="noStrike">
              <a:solidFill>
                <a:srgbClr val="000000"/>
              </a:solidFill>
              <a:effectLst/>
              <a:uFillTx/>
              <a:latin typeface="Arial"/>
            </a:endParaRPr>
          </a:p>
        </p:txBody>
      </p:sp>
      <p:graphicFrame>
        <p:nvGraphicFramePr>
          <p:cNvPr id="181" name="Table 0"/>
          <p:cNvGraphicFramePr/>
          <p:nvPr/>
        </p:nvGraphicFramePr>
        <p:xfrm>
          <a:off x="548640" y="2926080"/>
          <a:ext cx="11063880" cy="2468880"/>
        </p:xfrm>
        <a:graphic>
          <a:graphicData uri="http://schemas.openxmlformats.org/drawingml/2006/table">
            <a:tbl>
              <a:tblPr/>
              <a:tblGrid>
                <a:gridCol w="1828800"/>
                <a:gridCol w="3291840"/>
                <a:gridCol w="5943600"/>
              </a:tblGrid>
              <a:tr h="411480">
                <a:tc>
                  <a:txBody>
                    <a:bodyPr lIns="109440" tIns="0" rIns="10944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Layer</a:t>
                      </a:r>
                      <a:endParaRPr lang="en-IN" sz="14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Technology</a:t>
                      </a:r>
                      <a:endParaRPr lang="en-IN" sz="14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Used for</a:t>
                      </a:r>
                      <a:endParaRPr lang="en-IN" sz="14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r>
              <a:tr h="411480">
                <a:tc>
                  <a:txBody>
                    <a:bodyPr lIns="109440" tIns="0" rIns="10944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Frontend</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Streamlit dashboard</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Collects scenario data and presents the returned metrics</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411480">
                <a:tc>
                  <a:txBody>
                    <a:bodyPr lIns="109440" tIns="0" rIns="10944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Service</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FastAPI</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Validates requests, runs simulation/experiments, returns JSON results</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r h="411480">
                <a:tc>
                  <a:txBody>
                    <a:bodyPr lIns="109440" tIns="0" rIns="10944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Simulation</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Simulator (seeded)</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Failure and repair-completion events on a virtual timeline</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411480">
                <a:tc>
                  <a:txBody>
                    <a:bodyPr lIns="109440" tIns="0" rIns="10944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Database</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MongoDB</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Stores saved run input and output (simulation_runs)</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r h="411480">
                <a:tc>
                  <a:txBody>
                    <a:bodyPr lIns="109440" tIns="0" rIns="10944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Client</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HTTP JSON</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400" b="0" u="none" strike="noStrike">
                          <a:solidFill>
                            <a:srgbClr val="2B2B2B"/>
                          </a:solidFill>
                          <a:effectLst/>
                          <a:uFillTx/>
                          <a:latin typeface="Calibri"/>
                          <a:ea typeface="Calibri"/>
                        </a:rPr>
                        <a:t>Dashboard-to-API calls</a:t>
                      </a:r>
                      <a:endParaRPr lang="en-IN" sz="14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bl>
          </a:graphicData>
        </a:graphic>
      </p:graphicFrame>
      <p:sp>
        <p:nvSpPr>
          <p:cNvPr id="182" name="Text 18"/>
          <p:cNvSpPr/>
          <p:nvPr/>
        </p:nvSpPr>
        <p:spPr>
          <a:xfrm>
            <a:off x="548640" y="5577840"/>
            <a:ext cx="1737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4213D"/>
                </a:solidFill>
                <a:effectLst/>
                <a:uFillTx/>
                <a:latin typeface="Calibri"/>
                <a:ea typeface="Calibri"/>
              </a:rPr>
              <a:t>Example categories:</a:t>
            </a:r>
            <a:endParaRPr lang="en-IN" sz="1400" b="0" u="none" strike="noStrike">
              <a:solidFill>
                <a:srgbClr val="000000"/>
              </a:solidFill>
              <a:effectLst/>
              <a:uFillTx/>
              <a:latin typeface="Arial"/>
            </a:endParaRPr>
          </a:p>
        </p:txBody>
      </p:sp>
      <p:sp>
        <p:nvSpPr>
          <p:cNvPr id="183" name="Shape 19"/>
          <p:cNvSpPr/>
          <p:nvPr/>
        </p:nvSpPr>
        <p:spPr>
          <a:xfrm>
            <a:off x="2286000" y="5577840"/>
            <a:ext cx="173700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84" name="Text 20"/>
          <p:cNvSpPr/>
          <p:nvPr/>
        </p:nvSpPr>
        <p:spPr>
          <a:xfrm>
            <a:off x="2377440" y="5577840"/>
            <a:ext cx="15541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lathe</a:t>
            </a:r>
            <a:endParaRPr lang="en-IN" sz="1300" b="0" u="none" strike="noStrike">
              <a:solidFill>
                <a:srgbClr val="000000"/>
              </a:solidFill>
              <a:effectLst/>
              <a:uFillTx/>
              <a:latin typeface="Arial"/>
            </a:endParaRPr>
          </a:p>
        </p:txBody>
      </p:sp>
      <p:sp>
        <p:nvSpPr>
          <p:cNvPr id="185" name="Shape 21"/>
          <p:cNvSpPr/>
          <p:nvPr/>
        </p:nvSpPr>
        <p:spPr>
          <a:xfrm>
            <a:off x="4160520" y="5577840"/>
            <a:ext cx="173700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86" name="Text 22"/>
          <p:cNvSpPr/>
          <p:nvPr/>
        </p:nvSpPr>
        <p:spPr>
          <a:xfrm>
            <a:off x="4251960" y="5577840"/>
            <a:ext cx="15541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turning</a:t>
            </a:r>
            <a:endParaRPr lang="en-IN" sz="1300" b="0" u="none" strike="noStrike">
              <a:solidFill>
                <a:srgbClr val="000000"/>
              </a:solidFill>
              <a:effectLst/>
              <a:uFillTx/>
              <a:latin typeface="Arial"/>
            </a:endParaRPr>
          </a:p>
        </p:txBody>
      </p:sp>
      <p:sp>
        <p:nvSpPr>
          <p:cNvPr id="187" name="Shape 23"/>
          <p:cNvSpPr/>
          <p:nvPr/>
        </p:nvSpPr>
        <p:spPr>
          <a:xfrm>
            <a:off x="6035040" y="5577840"/>
            <a:ext cx="173700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88" name="Text 24"/>
          <p:cNvSpPr/>
          <p:nvPr/>
        </p:nvSpPr>
        <p:spPr>
          <a:xfrm>
            <a:off x="6126480" y="5577840"/>
            <a:ext cx="15541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drilling</a:t>
            </a:r>
            <a:endParaRPr lang="en-IN" sz="1300" b="0" u="none" strike="noStrike">
              <a:solidFill>
                <a:srgbClr val="000000"/>
              </a:solidFill>
              <a:effectLst/>
              <a:uFillTx/>
              <a:latin typeface="Arial"/>
            </a:endParaRPr>
          </a:p>
        </p:txBody>
      </p:sp>
      <p:sp>
        <p:nvSpPr>
          <p:cNvPr id="189" name="Shape 25"/>
          <p:cNvSpPr/>
          <p:nvPr/>
        </p:nvSpPr>
        <p:spPr>
          <a:xfrm>
            <a:off x="7909560" y="5577840"/>
            <a:ext cx="173700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90" name="Text 26"/>
          <p:cNvSpPr/>
          <p:nvPr/>
        </p:nvSpPr>
        <p:spPr>
          <a:xfrm>
            <a:off x="8001000" y="5577840"/>
            <a:ext cx="15541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soldering</a:t>
            </a:r>
            <a:endParaRPr lang="en-IN" sz="1300" b="0" u="none" strike="noStrike">
              <a:solidFill>
                <a:srgbClr val="000000"/>
              </a:solidFill>
              <a:effectLst/>
              <a:uFillTx/>
              <a:latin typeface="Arial"/>
            </a:endParaRPr>
          </a:p>
        </p:txBody>
      </p:sp>
      <p:sp>
        <p:nvSpPr>
          <p:cNvPr id="191" name="Shape 27"/>
          <p:cNvSpPr/>
          <p:nvPr/>
        </p:nvSpPr>
        <p:spPr>
          <a:xfrm>
            <a:off x="9784080" y="5577840"/>
            <a:ext cx="173700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192" name="Text 28"/>
          <p:cNvSpPr/>
          <p:nvPr/>
        </p:nvSpPr>
        <p:spPr>
          <a:xfrm>
            <a:off x="9875520" y="5577840"/>
            <a:ext cx="15541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etc.</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193"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SRS: Functional Requirements</a:t>
            </a:r>
            <a:endParaRPr lang="en-IN" sz="3000" b="0" u="none" strike="noStrike">
              <a:solidFill>
                <a:srgbClr val="000000"/>
              </a:solidFill>
              <a:effectLst/>
              <a:uFillTx/>
              <a:latin typeface="Arial"/>
            </a:endParaRPr>
          </a:p>
        </p:txBody>
      </p:sp>
      <p:sp>
        <p:nvSpPr>
          <p:cNvPr id="194"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11</a:t>
            </a:r>
            <a:endParaRPr lang="en-IN" sz="1100" b="0" u="none" strike="noStrike">
              <a:solidFill>
                <a:srgbClr val="000000"/>
              </a:solidFill>
              <a:effectLst/>
              <a:uFillTx/>
              <a:latin typeface="Arial"/>
            </a:endParaRPr>
          </a:p>
        </p:txBody>
      </p:sp>
      <p:sp>
        <p:nvSpPr>
          <p:cNvPr id="195" name="Text 2"/>
          <p:cNvSpPr/>
          <p:nvPr/>
        </p:nvSpPr>
        <p:spPr>
          <a:xfrm>
            <a:off x="548640" y="1371600"/>
            <a:ext cx="53946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28C28"/>
                </a:solidFill>
                <a:effectLst/>
                <a:uFillTx/>
                <a:latin typeface="Georgia"/>
                <a:ea typeface="Georgia"/>
              </a:rPr>
              <a:t>Scenario and simulation</a:t>
            </a:r>
            <a:endParaRPr lang="en-IN" sz="1800" b="0" u="none" strike="noStrike">
              <a:solidFill>
                <a:srgbClr val="000000"/>
              </a:solidFill>
              <a:effectLst/>
              <a:uFillTx/>
              <a:latin typeface="Arial"/>
            </a:endParaRPr>
          </a:p>
        </p:txBody>
      </p:sp>
      <p:sp>
        <p:nvSpPr>
          <p:cNvPr id="196" name="Text 3"/>
          <p:cNvSpPr/>
          <p:nvPr/>
        </p:nvSpPr>
        <p:spPr>
          <a:xfrm>
            <a:off x="548640" y="1920240"/>
            <a:ext cx="5394600" cy="42058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FR-1  Scenario setup (implemented with UI guard): </a:t>
            </a:r>
            <a:r>
              <a:rPr lang="en-US" sz="1200" b="0" u="none" strike="noStrike">
                <a:solidFill>
                  <a:srgbClr val="2B2B2B"/>
                </a:solidFill>
                <a:effectLst/>
                <a:uFillTx/>
                <a:latin typeface="Calibri"/>
                <a:ea typeface="Calibri"/>
              </a:rPr>
              <a:t>The system shall accept machine groups with category, positive machine count, positive MTTF, and positive fixed repair time through /simulate. The dashboard disables running when machine groups are absent; the API itself does not currently reject an empty machine list.</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FR-2  Adjuster setup: </a:t>
            </a:r>
            <a:r>
              <a:rPr lang="en-US" sz="1200" b="0" u="none" strike="noStrike">
                <a:solidFill>
                  <a:srgbClr val="2B2B2B"/>
                </a:solidFill>
                <a:effectLst/>
                <a:uFillTx/>
                <a:latin typeface="Calibri"/>
                <a:ea typeface="Calibri"/>
              </a:rPr>
              <a:t>The system shall accept adjusters with one or more machine-category skills. The API requires each adjuster to have a skill; unique IDs are checked by the UI only and should also be validated by the API.</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FR-3  Timeline and reproducibility: </a:t>
            </a:r>
            <a:r>
              <a:rPr lang="en-US" sz="1200" b="0" u="none" strike="noStrike">
                <a:solidFill>
                  <a:srgbClr val="2B2B2B"/>
                </a:solidFill>
                <a:effectLst/>
                <a:uFillTx/>
                <a:latin typeface="Calibri"/>
                <a:ea typeface="Calibri"/>
              </a:rPr>
              <a:t>The system shall accept a positive simulation duration, warm-up period shorter than duration, and random seed. Identical valid inputs and seed should reproduce the same sampled run, subject to implementation/runtime consistency.</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FR-4  Failure scheduling: </a:t>
            </a:r>
            <a:r>
              <a:rPr lang="en-US" sz="1200" b="0" u="none" strike="noStrike">
                <a:solidFill>
                  <a:srgbClr val="2B2B2B"/>
                </a:solidFill>
                <a:effectLst/>
                <a:uFillTx/>
                <a:latin typeface="Calibri"/>
                <a:ea typeface="Calibri"/>
              </a:rPr>
              <a:t>The simulation shall schedule each machine’s first failure and subsequent failures from positive Gaussian intervals centered on that machine’s MTTF.</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FR-5  Failure handling: </a:t>
            </a:r>
            <a:r>
              <a:rPr lang="en-US" sz="1200" b="0" u="none" strike="noStrike">
                <a:solidFill>
                  <a:srgbClr val="2B2B2B"/>
                </a:solidFill>
                <a:effectLst/>
                <a:uFillTx/>
                <a:latin typeface="Calibri"/>
                <a:ea typeface="Calibri"/>
              </a:rPr>
              <a:t>On failure, the machine shall stop accumulating running time and become assigned for repair if a compatible idle adjuster exists; otherwise it shall wait.</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FR-6  Dispatch: </a:t>
            </a:r>
            <a:r>
              <a:rPr lang="en-US" sz="1200" b="0" u="none" strike="noStrike">
                <a:solidFill>
                  <a:srgbClr val="2B2B2B"/>
                </a:solidFill>
                <a:effectLst/>
                <a:uFillTx/>
                <a:latin typeface="Calibri"/>
                <a:ea typeface="Calibri"/>
              </a:rPr>
              <a:t>The system shall dispatch waiting compatible machines to idle skilled adjusters. Selection shall favor the adjuster with the fewest skills, then adjuster ID. Compatible waiting work shall be considered in waiting order.</a:t>
            </a:r>
            <a:endParaRPr lang="en-IN" sz="1200" b="0" u="none" strike="noStrike">
              <a:solidFill>
                <a:srgbClr val="000000"/>
              </a:solidFill>
              <a:effectLst/>
              <a:uFillTx/>
              <a:latin typeface="Arial"/>
            </a:endParaRPr>
          </a:p>
        </p:txBody>
      </p:sp>
      <p:sp>
        <p:nvSpPr>
          <p:cNvPr id="197" name="Text 4"/>
          <p:cNvSpPr/>
          <p:nvPr/>
        </p:nvSpPr>
        <p:spPr>
          <a:xfrm>
            <a:off x="6172200" y="1371600"/>
            <a:ext cx="53946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28C28"/>
                </a:solidFill>
                <a:effectLst/>
                <a:uFillTx/>
                <a:latin typeface="Georgia"/>
                <a:ea typeface="Georgia"/>
              </a:rPr>
              <a:t>Results and service</a:t>
            </a:r>
            <a:endParaRPr lang="en-IN" sz="1800" b="0" u="none" strike="noStrike">
              <a:solidFill>
                <a:srgbClr val="000000"/>
              </a:solidFill>
              <a:effectLst/>
              <a:uFillTx/>
              <a:latin typeface="Arial"/>
            </a:endParaRPr>
          </a:p>
        </p:txBody>
      </p:sp>
      <p:sp>
        <p:nvSpPr>
          <p:cNvPr id="198" name="Text 5"/>
          <p:cNvSpPr/>
          <p:nvPr/>
        </p:nvSpPr>
        <p:spPr>
          <a:xfrm>
            <a:off x="6172200" y="1920240"/>
            <a:ext cx="5394600" cy="42058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FR-7  Repair completion: </a:t>
            </a:r>
            <a:r>
              <a:rPr lang="en-US" sz="1200" b="0" u="none" strike="noStrike">
                <a:solidFill>
                  <a:srgbClr val="2B2B2B"/>
                </a:solidFill>
                <a:effectLst/>
                <a:uFillTx/>
                <a:latin typeface="Calibri"/>
                <a:ea typeface="Calibri"/>
              </a:rPr>
              <a:t>On repair completion, the adjuster shall become idle, the machine shall resume operation, and a new failure shall be scheduled.</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FR-8  Results: </a:t>
            </a:r>
            <a:r>
              <a:rPr lang="en-US" sz="1200" b="0" u="none" strike="noStrike">
                <a:solidFill>
                  <a:srgbClr val="2B2B2B"/>
                </a:solidFill>
                <a:effectLst/>
                <a:uFillTx/>
                <a:latin typeface="Calibri"/>
                <a:ea typeface="Calibri"/>
              </a:rPr>
              <a:t>/simulate shall return overall and per-category machine utilization, adjuster utilization, counts, failures, waiting machines/queue length, downtime, and per-machine status/efficiency.</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FR-9  Persistence: </a:t>
            </a:r>
            <a:r>
              <a:rPr lang="en-US" sz="1200" b="0" u="none" strike="noStrike">
                <a:solidFill>
                  <a:srgbClr val="2B2B2B"/>
                </a:solidFill>
                <a:effectLst/>
                <a:uFillTx/>
                <a:latin typeface="Calibri"/>
                <a:ea typeface="Calibri"/>
              </a:rPr>
              <a:t>When save=true, the service shall attempt to save input and results in MongoDB. A persistence failure shall not discard the computed result and shall be reported as a warning.</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FR-10  Experiments: </a:t>
            </a:r>
            <a:r>
              <a:rPr lang="en-US" sz="1200" b="0" u="none" strike="noStrike">
                <a:solidFill>
                  <a:srgbClr val="2B2B2B"/>
                </a:solidFill>
                <a:effectLst/>
                <a:uFillTx/>
                <a:latin typeface="Calibri"/>
                <a:ea typeface="Calibri"/>
              </a:rPr>
              <a:t>/experiment shall evaluate the requested combinations of machine-count multiplier, MTTF multiplier, and adjuster count, summarize repeated runs, and report an optimum using configured selection criteria.</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FR-11  Dashboard: </a:t>
            </a:r>
            <a:r>
              <a:rPr lang="en-US" sz="1200" b="0" u="none" strike="noStrike">
                <a:solidFill>
                  <a:srgbClr val="2B2B2B"/>
                </a:solidFill>
                <a:effectLst/>
                <a:uFillTx/>
                <a:latin typeface="Calibri"/>
                <a:ea typeface="Calibri"/>
              </a:rPr>
              <a:t>The UI shall let a user add/remove machine groups and adjusters, set simulation duration and seed, run a simulation, and view aggregate/category/machine metrics.</a:t>
            </a:r>
            <a:endParaRPr lang="en-IN" sz="1200" b="0" u="none" strike="noStrike">
              <a:solidFill>
                <a:srgbClr val="000000"/>
              </a:solidFill>
              <a:effectLst/>
              <a:uFillTx/>
              <a:latin typeface="Arial"/>
            </a:endParaRPr>
          </a:p>
          <a:p>
            <a:pPr marL="343080" indent="-343080" defTabSz="914400">
              <a:lnSpc>
                <a:spcPct val="100000"/>
              </a:lnSpc>
              <a:spcAft>
                <a:spcPts val="799"/>
              </a:spcAft>
              <a:buClr>
                <a:srgbClr val="2B2B2B"/>
              </a:buClr>
              <a:buFont typeface="Symbol" charset="2"/>
              <a:buChar char=""/>
            </a:pPr>
            <a:r>
              <a:rPr lang="en-US" sz="1200" b="1" u="none" strike="noStrike">
                <a:solidFill>
                  <a:srgbClr val="2B2B2B"/>
                </a:solidFill>
                <a:effectLst/>
                <a:uFillTx/>
                <a:latin typeface="Calibri"/>
                <a:ea typeface="Calibri"/>
              </a:rPr>
              <a:t>FR-12  Validation (partial): </a:t>
            </a:r>
            <a:r>
              <a:rPr lang="en-US" sz="1200" b="0" u="none" strike="noStrike">
                <a:solidFill>
                  <a:srgbClr val="2B2B2B"/>
                </a:solidFill>
                <a:effectLst/>
                <a:uFillTx/>
                <a:latin typeface="Calibri"/>
                <a:ea typeface="Calibri"/>
              </a:rPr>
              <a:t>The API rejects warm-up greater than or equal to duration, an empty adjuster list, and adjusters without skills. Pydantic validates positive machine count, MTTF, and repair time. Empty machine lists, duplicate IDs, and category/skill mismatches are not currently rejected by the API.</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199"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SRS: Non-Functional Requirements</a:t>
            </a:r>
            <a:endParaRPr lang="en-IN" sz="3000" b="0" u="none" strike="noStrike">
              <a:solidFill>
                <a:srgbClr val="000000"/>
              </a:solidFill>
              <a:effectLst/>
              <a:uFillTx/>
              <a:latin typeface="Arial"/>
            </a:endParaRPr>
          </a:p>
        </p:txBody>
      </p:sp>
      <p:sp>
        <p:nvSpPr>
          <p:cNvPr id="200"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12</a:t>
            </a:r>
            <a:endParaRPr lang="en-IN" sz="1100" b="0" u="none" strike="noStrike">
              <a:solidFill>
                <a:srgbClr val="000000"/>
              </a:solidFill>
              <a:effectLst/>
              <a:uFillTx/>
              <a:latin typeface="Arial"/>
            </a:endParaRPr>
          </a:p>
        </p:txBody>
      </p:sp>
      <p:sp>
        <p:nvSpPr>
          <p:cNvPr id="201" name="Shape 2"/>
          <p:cNvSpPr/>
          <p:nvPr/>
        </p:nvSpPr>
        <p:spPr>
          <a:xfrm>
            <a:off x="548640" y="1371600"/>
            <a:ext cx="5440320" cy="1371240"/>
          </a:xfrm>
          <a:prstGeom prst="roundRect">
            <a:avLst>
              <a:gd name="adj" fmla="val 5333"/>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02" name="Text 3"/>
          <p:cNvSpPr/>
          <p:nvPr/>
        </p:nvSpPr>
        <p:spPr>
          <a:xfrm>
            <a:off x="777240" y="1554480"/>
            <a:ext cx="4983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4213D"/>
                </a:solidFill>
                <a:effectLst/>
                <a:uFillTx/>
                <a:latin typeface="Georgia"/>
                <a:ea typeface="Georgia"/>
              </a:rPr>
              <a:t>NFR-1  Performance</a:t>
            </a:r>
            <a:endParaRPr lang="en-IN" sz="1800" b="0" u="none" strike="noStrike">
              <a:solidFill>
                <a:srgbClr val="000000"/>
              </a:solidFill>
              <a:effectLst/>
              <a:uFillTx/>
              <a:latin typeface="Arial"/>
            </a:endParaRPr>
          </a:p>
        </p:txBody>
      </p:sp>
      <p:sp>
        <p:nvSpPr>
          <p:cNvPr id="203" name="Text 4"/>
          <p:cNvSpPr/>
          <p:nvPr/>
        </p:nvSpPr>
        <p:spPr>
          <a:xfrm>
            <a:off x="777240" y="2103120"/>
            <a:ext cx="4983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2B2B2B"/>
                </a:solidFill>
                <a:effectLst/>
                <a:uFillTx/>
                <a:latin typeface="Calibri"/>
                <a:ea typeface="Calibri"/>
              </a:rPr>
              <a:t>Simulation time shall depend on the number of events and scenario size rather than waiting for virtual time to pass; the timeline is simulated computationally.</a:t>
            </a:r>
            <a:endParaRPr lang="en-IN" sz="1200" b="0" u="none" strike="noStrike">
              <a:solidFill>
                <a:srgbClr val="000000"/>
              </a:solidFill>
              <a:effectLst/>
              <a:uFillTx/>
              <a:latin typeface="Arial"/>
            </a:endParaRPr>
          </a:p>
        </p:txBody>
      </p:sp>
      <p:sp>
        <p:nvSpPr>
          <p:cNvPr id="204" name="Shape 5"/>
          <p:cNvSpPr/>
          <p:nvPr/>
        </p:nvSpPr>
        <p:spPr>
          <a:xfrm>
            <a:off x="6172200" y="1371600"/>
            <a:ext cx="5440320" cy="1371240"/>
          </a:xfrm>
          <a:prstGeom prst="roundRect">
            <a:avLst>
              <a:gd name="adj" fmla="val 5333"/>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05" name="Text 6"/>
          <p:cNvSpPr/>
          <p:nvPr/>
        </p:nvSpPr>
        <p:spPr>
          <a:xfrm>
            <a:off x="6400800" y="1554480"/>
            <a:ext cx="4983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4213D"/>
                </a:solidFill>
                <a:effectLst/>
                <a:uFillTx/>
                <a:latin typeface="Georgia"/>
                <a:ea typeface="Georgia"/>
              </a:rPr>
              <a:t>NFR-2  Reproducibility</a:t>
            </a:r>
            <a:endParaRPr lang="en-IN" sz="1800" b="0" u="none" strike="noStrike">
              <a:solidFill>
                <a:srgbClr val="000000"/>
              </a:solidFill>
              <a:effectLst/>
              <a:uFillTx/>
              <a:latin typeface="Arial"/>
            </a:endParaRPr>
          </a:p>
        </p:txBody>
      </p:sp>
      <p:sp>
        <p:nvSpPr>
          <p:cNvPr id="206" name="Text 7"/>
          <p:cNvSpPr/>
          <p:nvPr/>
        </p:nvSpPr>
        <p:spPr>
          <a:xfrm>
            <a:off x="6400800" y="2103120"/>
            <a:ext cx="4983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2B2B2B"/>
                </a:solidFill>
                <a:effectLst/>
                <a:uFillTx/>
                <a:latin typeface="Calibri"/>
                <a:ea typeface="Calibri"/>
              </a:rPr>
              <a:t>A seed shall initialize the pseudo-random generator for repeatable experiments.</a:t>
            </a:r>
            <a:endParaRPr lang="en-IN" sz="1200" b="0" u="none" strike="noStrike">
              <a:solidFill>
                <a:srgbClr val="000000"/>
              </a:solidFill>
              <a:effectLst/>
              <a:uFillTx/>
              <a:latin typeface="Arial"/>
            </a:endParaRPr>
          </a:p>
        </p:txBody>
      </p:sp>
      <p:sp>
        <p:nvSpPr>
          <p:cNvPr id="207" name="Shape 8"/>
          <p:cNvSpPr/>
          <p:nvPr/>
        </p:nvSpPr>
        <p:spPr>
          <a:xfrm>
            <a:off x="548640" y="2880360"/>
            <a:ext cx="5440320" cy="1371240"/>
          </a:xfrm>
          <a:prstGeom prst="roundRect">
            <a:avLst>
              <a:gd name="adj" fmla="val 5333"/>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08" name="Text 9"/>
          <p:cNvSpPr/>
          <p:nvPr/>
        </p:nvSpPr>
        <p:spPr>
          <a:xfrm>
            <a:off x="777240" y="3063240"/>
            <a:ext cx="4983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4213D"/>
                </a:solidFill>
                <a:effectLst/>
                <a:uFillTx/>
                <a:latin typeface="Georgia"/>
                <a:ea typeface="Georgia"/>
              </a:rPr>
              <a:t>NFR-3  Separation of concerns</a:t>
            </a:r>
            <a:endParaRPr lang="en-IN" sz="1800" b="0" u="none" strike="noStrike">
              <a:solidFill>
                <a:srgbClr val="000000"/>
              </a:solidFill>
              <a:effectLst/>
              <a:uFillTx/>
              <a:latin typeface="Arial"/>
            </a:endParaRPr>
          </a:p>
        </p:txBody>
      </p:sp>
      <p:sp>
        <p:nvSpPr>
          <p:cNvPr id="209" name="Text 10"/>
          <p:cNvSpPr/>
          <p:nvPr/>
        </p:nvSpPr>
        <p:spPr>
          <a:xfrm>
            <a:off x="777240" y="3611880"/>
            <a:ext cx="4983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2B2B2B"/>
                </a:solidFill>
                <a:effectLst/>
                <a:uFillTx/>
                <a:latin typeface="Calibri"/>
                <a:ea typeface="Calibri"/>
              </a:rPr>
              <a:t>UI, API validation/orchestration, simulation logic, and persistence shall remain separate modules.</a:t>
            </a:r>
            <a:endParaRPr lang="en-IN" sz="1200" b="0" u="none" strike="noStrike">
              <a:solidFill>
                <a:srgbClr val="000000"/>
              </a:solidFill>
              <a:effectLst/>
              <a:uFillTx/>
              <a:latin typeface="Arial"/>
            </a:endParaRPr>
          </a:p>
        </p:txBody>
      </p:sp>
      <p:sp>
        <p:nvSpPr>
          <p:cNvPr id="210" name="Shape 11"/>
          <p:cNvSpPr/>
          <p:nvPr/>
        </p:nvSpPr>
        <p:spPr>
          <a:xfrm>
            <a:off x="6172200" y="2880360"/>
            <a:ext cx="5440320" cy="1371240"/>
          </a:xfrm>
          <a:prstGeom prst="roundRect">
            <a:avLst>
              <a:gd name="adj" fmla="val 5333"/>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11" name="Text 12"/>
          <p:cNvSpPr/>
          <p:nvPr/>
        </p:nvSpPr>
        <p:spPr>
          <a:xfrm>
            <a:off x="6400800" y="3063240"/>
            <a:ext cx="4983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4213D"/>
                </a:solidFill>
                <a:effectLst/>
                <a:uFillTx/>
                <a:latin typeface="Georgia"/>
                <a:ea typeface="Georgia"/>
              </a:rPr>
              <a:t>NFR-4  Data protection</a:t>
            </a:r>
            <a:endParaRPr lang="en-IN" sz="1800" b="0" u="none" strike="noStrike">
              <a:solidFill>
                <a:srgbClr val="000000"/>
              </a:solidFill>
              <a:effectLst/>
              <a:uFillTx/>
              <a:latin typeface="Arial"/>
            </a:endParaRPr>
          </a:p>
        </p:txBody>
      </p:sp>
      <p:sp>
        <p:nvSpPr>
          <p:cNvPr id="212" name="Text 13"/>
          <p:cNvSpPr/>
          <p:nvPr/>
        </p:nvSpPr>
        <p:spPr>
          <a:xfrm>
            <a:off x="6400800" y="3611880"/>
            <a:ext cx="4983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2B2B2B"/>
                </a:solidFill>
                <a:effectLst/>
                <a:uFillTx/>
                <a:latin typeface="Calibri"/>
                <a:ea typeface="Calibri"/>
              </a:rPr>
              <a:t>Database credentials shall be supplied through environment configuration and excluded from version control.</a:t>
            </a:r>
            <a:endParaRPr lang="en-IN" sz="1200" b="0" u="none" strike="noStrike">
              <a:solidFill>
                <a:srgbClr val="000000"/>
              </a:solidFill>
              <a:effectLst/>
              <a:uFillTx/>
              <a:latin typeface="Arial"/>
            </a:endParaRPr>
          </a:p>
        </p:txBody>
      </p:sp>
      <p:sp>
        <p:nvSpPr>
          <p:cNvPr id="213" name="Shape 14"/>
          <p:cNvSpPr/>
          <p:nvPr/>
        </p:nvSpPr>
        <p:spPr>
          <a:xfrm>
            <a:off x="548640" y="4434840"/>
            <a:ext cx="11063880" cy="1371240"/>
          </a:xfrm>
          <a:prstGeom prst="roundRect">
            <a:avLst>
              <a:gd name="adj" fmla="val 5333"/>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14" name="Text 15"/>
          <p:cNvSpPr/>
          <p:nvPr/>
        </p:nvSpPr>
        <p:spPr>
          <a:xfrm>
            <a:off x="777240" y="4617720"/>
            <a:ext cx="106066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4213D"/>
                </a:solidFill>
                <a:effectLst/>
                <a:uFillTx/>
                <a:latin typeface="Georgia"/>
                <a:ea typeface="Georgia"/>
              </a:rPr>
              <a:t>NFR-5  Interpretability</a:t>
            </a:r>
            <a:endParaRPr lang="en-IN" sz="1800" b="0" u="none" strike="noStrike">
              <a:solidFill>
                <a:srgbClr val="000000"/>
              </a:solidFill>
              <a:effectLst/>
              <a:uFillTx/>
              <a:latin typeface="Arial"/>
            </a:endParaRPr>
          </a:p>
        </p:txBody>
      </p:sp>
      <p:sp>
        <p:nvSpPr>
          <p:cNvPr id="215" name="Text 16"/>
          <p:cNvSpPr/>
          <p:nvPr/>
        </p:nvSpPr>
        <p:spPr>
          <a:xfrm>
            <a:off x="777240" y="5166360"/>
            <a:ext cx="106066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2B2B2B"/>
                </a:solidFill>
                <a:effectLst/>
                <a:uFillTx/>
                <a:latin typeface="Calibri"/>
                <a:ea typeface="Calibri"/>
              </a:rPr>
              <a:t>Returned measures shall define their observation interval and denominator; experiment outputs shall retain scenario factors and uncertainty summaries.</a:t>
            </a:r>
            <a:endParaRPr lang="en-IN"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216"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Use Case Diagram</a:t>
            </a:r>
            <a:endParaRPr lang="en-IN" sz="3000" b="0" u="none" strike="noStrike">
              <a:solidFill>
                <a:srgbClr val="000000"/>
              </a:solidFill>
              <a:effectLst/>
              <a:uFillTx/>
              <a:latin typeface="Arial"/>
            </a:endParaRPr>
          </a:p>
        </p:txBody>
      </p:sp>
      <p:sp>
        <p:nvSpPr>
          <p:cNvPr id="217"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13</a:t>
            </a:r>
            <a:endParaRPr lang="en-IN" sz="1100" b="0" u="none" strike="noStrike">
              <a:solidFill>
                <a:srgbClr val="000000"/>
              </a:solidFill>
              <a:effectLst/>
              <a:uFillTx/>
              <a:latin typeface="Arial"/>
            </a:endParaRPr>
          </a:p>
        </p:txBody>
      </p:sp>
      <p:sp>
        <p:nvSpPr>
          <p:cNvPr id="218" name="S"/>
          <p:cNvSpPr/>
          <p:nvPr/>
        </p:nvSpPr>
        <p:spPr>
          <a:xfrm>
            <a:off x="2331720" y="1097280"/>
            <a:ext cx="3931560" cy="4525920"/>
          </a:xfrm>
          <a:prstGeom prst="rect">
            <a:avLst/>
          </a:prstGeom>
          <a:noFill/>
          <a:ln w="15875">
            <a:solidFill>
              <a:srgbClr val="6B5A3A"/>
            </a:solidFill>
            <a:prstDash val="dash"/>
            <a:round/>
          </a:ln>
        </p:spPr>
        <p:style>
          <a:lnRef idx="0"/>
          <a:fillRef idx="0"/>
          <a:effectRef idx="0"/>
          <a:fontRef idx="minor"/>
        </p:style>
        <p:txBody>
          <a:bodyPr lIns="45720" tIns="0" rIns="45720" bIns="0" anchor="ctr">
            <a:noAutofit/>
          </a:bodyPr>
          <a:p>
            <a:endParaRPr lang="en-IN" sz="1800" b="0" u="none" strike="noStrike">
              <a:solidFill>
                <a:schemeClr val="dk1"/>
              </a:solidFill>
              <a:effectLst/>
              <a:uFillTx/>
              <a:latin typeface="Calibri"/>
            </a:endParaRPr>
          </a:p>
        </p:txBody>
      </p:sp>
      <p:sp>
        <p:nvSpPr>
          <p:cNvPr id="219" name="S"/>
          <p:cNvSpPr/>
          <p:nvPr/>
        </p:nvSpPr>
        <p:spPr>
          <a:xfrm>
            <a:off x="2468880" y="1161360"/>
            <a:ext cx="2742840" cy="228240"/>
          </a:xfrm>
          <a:prstGeom prst="rect">
            <a:avLst/>
          </a:prstGeom>
          <a:noFill/>
          <a:ln w="0">
            <a:noFill/>
          </a:ln>
        </p:spPr>
        <p:style>
          <a:lnRef idx="0"/>
          <a:fillRef idx="0"/>
          <a:effectRef idx="0"/>
          <a:fontRef idx="minor"/>
        </p:style>
        <p:txBody>
          <a:bodyPr lIns="45720" tIns="0" rIns="45720" bIns="0" anchor="t">
            <a:noAutofit/>
          </a:bodyPr>
          <a:p>
            <a:pPr defTabSz="914400">
              <a:lnSpc>
                <a:spcPct val="100000"/>
              </a:lnSpc>
            </a:pPr>
            <a:r>
              <a:rPr lang="en-US" sz="1100" b="0" i="1" u="none" strike="noStrike">
                <a:solidFill>
                  <a:srgbClr val="6B5A3A"/>
                </a:solidFill>
                <a:effectLst/>
                <a:uFillTx/>
                <a:latin typeface="Calibri"/>
              </a:rPr>
              <a:t>Factory simulation system</a:t>
            </a:r>
            <a:endParaRPr lang="en-IN" sz="1100" b="0" u="none" strike="noStrike">
              <a:solidFill>
                <a:srgbClr val="000000"/>
              </a:solidFill>
              <a:effectLst/>
              <a:uFillTx/>
              <a:latin typeface="Arial"/>
            </a:endParaRPr>
          </a:p>
        </p:txBody>
      </p:sp>
      <p:sp>
        <p:nvSpPr>
          <p:cNvPr id="220" name="S"/>
          <p:cNvSpPr/>
          <p:nvPr/>
        </p:nvSpPr>
        <p:spPr>
          <a:xfrm>
            <a:off x="2788920" y="1554480"/>
            <a:ext cx="3017160" cy="456840"/>
          </a:xfrm>
          <a:prstGeom prst="ellipse">
            <a:avLst/>
          </a:prstGeom>
          <a:solidFill>
            <a:srgbClr val="FFFFFF"/>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Configure machine groups</a:t>
            </a:r>
            <a:endParaRPr lang="en-IN" sz="1100" b="0" u="none" strike="noStrike">
              <a:solidFill>
                <a:srgbClr val="000000"/>
              </a:solidFill>
              <a:effectLst/>
              <a:uFillTx/>
              <a:latin typeface="Arial"/>
            </a:endParaRPr>
          </a:p>
        </p:txBody>
      </p:sp>
      <p:sp>
        <p:nvSpPr>
          <p:cNvPr id="221" name="S"/>
          <p:cNvSpPr/>
          <p:nvPr/>
        </p:nvSpPr>
        <p:spPr>
          <a:xfrm>
            <a:off x="2788920" y="2194560"/>
            <a:ext cx="3017160" cy="456840"/>
          </a:xfrm>
          <a:prstGeom prst="ellipse">
            <a:avLst/>
          </a:prstGeom>
          <a:solidFill>
            <a:srgbClr val="FFFFFF"/>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Configure adjusters and skills</a:t>
            </a:r>
            <a:endParaRPr lang="en-IN" sz="1100" b="0" u="none" strike="noStrike">
              <a:solidFill>
                <a:srgbClr val="000000"/>
              </a:solidFill>
              <a:effectLst/>
              <a:uFillTx/>
              <a:latin typeface="Arial"/>
            </a:endParaRPr>
          </a:p>
        </p:txBody>
      </p:sp>
      <p:sp>
        <p:nvSpPr>
          <p:cNvPr id="222" name="S"/>
          <p:cNvSpPr/>
          <p:nvPr/>
        </p:nvSpPr>
        <p:spPr>
          <a:xfrm>
            <a:off x="2788920" y="2834640"/>
            <a:ext cx="3017160" cy="456840"/>
          </a:xfrm>
          <a:prstGeom prst="ellipse">
            <a:avLst/>
          </a:prstGeom>
          <a:solidFill>
            <a:srgbClr val="FFFFFF"/>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Run simulation</a:t>
            </a:r>
            <a:endParaRPr lang="en-IN" sz="1100" b="0" u="none" strike="noStrike">
              <a:solidFill>
                <a:srgbClr val="000000"/>
              </a:solidFill>
              <a:effectLst/>
              <a:uFillTx/>
              <a:latin typeface="Arial"/>
            </a:endParaRPr>
          </a:p>
        </p:txBody>
      </p:sp>
      <p:sp>
        <p:nvSpPr>
          <p:cNvPr id="223" name="S"/>
          <p:cNvSpPr/>
          <p:nvPr/>
        </p:nvSpPr>
        <p:spPr>
          <a:xfrm>
            <a:off x="2788920" y="3474720"/>
            <a:ext cx="3017160" cy="456840"/>
          </a:xfrm>
          <a:prstGeom prst="ellipse">
            <a:avLst/>
          </a:prstGeom>
          <a:solidFill>
            <a:srgbClr val="FFFFFF"/>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Review utilization and failures</a:t>
            </a:r>
            <a:endParaRPr lang="en-IN" sz="1100" b="0" u="none" strike="noStrike">
              <a:solidFill>
                <a:srgbClr val="000000"/>
              </a:solidFill>
              <a:effectLst/>
              <a:uFillTx/>
              <a:latin typeface="Arial"/>
            </a:endParaRPr>
          </a:p>
        </p:txBody>
      </p:sp>
      <p:sp>
        <p:nvSpPr>
          <p:cNvPr id="224" name="S"/>
          <p:cNvSpPr/>
          <p:nvPr/>
        </p:nvSpPr>
        <p:spPr>
          <a:xfrm>
            <a:off x="2788920" y="4114800"/>
            <a:ext cx="3017160" cy="456840"/>
          </a:xfrm>
          <a:prstGeom prst="ellipse">
            <a:avLst/>
          </a:prstGeom>
          <a:solidFill>
            <a:srgbClr val="FFFFFF"/>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Compare staffing experiments</a:t>
            </a:r>
            <a:endParaRPr lang="en-IN" sz="1100" b="0" u="none" strike="noStrike">
              <a:solidFill>
                <a:srgbClr val="000000"/>
              </a:solidFill>
              <a:effectLst/>
              <a:uFillTx/>
              <a:latin typeface="Arial"/>
            </a:endParaRPr>
          </a:p>
        </p:txBody>
      </p:sp>
      <p:sp>
        <p:nvSpPr>
          <p:cNvPr id="225" name="S"/>
          <p:cNvSpPr/>
          <p:nvPr/>
        </p:nvSpPr>
        <p:spPr>
          <a:xfrm>
            <a:off x="2788920" y="4846320"/>
            <a:ext cx="3017160" cy="456840"/>
          </a:xfrm>
          <a:prstGeom prst="ellipse">
            <a:avLst/>
          </a:prstGeom>
          <a:solidFill>
            <a:srgbClr val="FFFFFF"/>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Persist run</a:t>
            </a:r>
            <a:endParaRPr lang="en-IN" sz="1100" b="0" u="none" strike="noStrike">
              <a:solidFill>
                <a:srgbClr val="000000"/>
              </a:solidFill>
              <a:effectLst/>
              <a:uFillTx/>
              <a:latin typeface="Arial"/>
            </a:endParaRPr>
          </a:p>
        </p:txBody>
      </p:sp>
      <p:sp>
        <p:nvSpPr>
          <p:cNvPr id="226" name="S"/>
          <p:cNvSpPr/>
          <p:nvPr/>
        </p:nvSpPr>
        <p:spPr>
          <a:xfrm>
            <a:off x="320040" y="2743200"/>
            <a:ext cx="1371240" cy="639720"/>
          </a:xfrm>
          <a:prstGeom prst="roundRect">
            <a:avLst>
              <a:gd name="adj" fmla="val 16667"/>
            </a:avLst>
          </a:prstGeom>
          <a:solidFill>
            <a:srgbClr val="14213D"/>
          </a:solidFill>
          <a:ln w="15875">
            <a:solidFill>
              <a:srgbClr val="14213D"/>
            </a:solidFill>
            <a:round/>
          </a:ln>
        </p:spPr>
        <p:style>
          <a:lnRef idx="0"/>
          <a:fillRef idx="0"/>
          <a:effectRef idx="0"/>
          <a:fontRef idx="minor"/>
        </p:style>
        <p:txBody>
          <a:bodyPr lIns="45720" tIns="0" rIns="45720" bIns="0" anchor="ctr">
            <a:noAutofit/>
          </a:bodyPr>
          <a:p>
            <a:pPr algn="ctr" defTabSz="914400">
              <a:lnSpc>
                <a:spcPct val="100000"/>
              </a:lnSpc>
            </a:pPr>
            <a:r>
              <a:rPr lang="en-US" sz="1100" b="1" u="none" strike="noStrike">
                <a:solidFill>
                  <a:srgbClr val="FFFFFF"/>
                </a:solidFill>
                <a:effectLst/>
                <a:uFillTx/>
                <a:latin typeface="Calibri"/>
              </a:rPr>
              <a:t>Factory analyst / operator</a:t>
            </a:r>
            <a:endParaRPr lang="en-IN" sz="1100" b="0" u="none" strike="noStrike">
              <a:solidFill>
                <a:srgbClr val="FFFFFF"/>
              </a:solidFill>
              <a:effectLst/>
              <a:uFillTx/>
              <a:latin typeface="Arial"/>
            </a:endParaRPr>
          </a:p>
        </p:txBody>
      </p:sp>
      <p:cxnSp>
        <p:nvCxnSpPr>
          <p:cNvPr id="227" name="L"/>
          <p:cNvCxnSpPr/>
          <p:nvPr/>
        </p:nvCxnSpPr>
        <p:spPr>
          <a:xfrm flipV="1">
            <a:off x="1691640" y="1783080"/>
            <a:ext cx="1097640" cy="1280520"/>
          </a:xfrm>
          <a:prstGeom prst="straightConnector1">
            <a:avLst/>
          </a:prstGeom>
          <a:ln w="19050">
            <a:solidFill>
              <a:srgbClr val="F28C28"/>
            </a:solidFill>
            <a:round/>
            <a:tailEnd len="med" type="triangle" w="med"/>
          </a:ln>
        </p:spPr>
      </p:cxnSp>
      <p:cxnSp>
        <p:nvCxnSpPr>
          <p:cNvPr id="228" name="L"/>
          <p:cNvCxnSpPr/>
          <p:nvPr/>
        </p:nvCxnSpPr>
        <p:spPr>
          <a:xfrm flipV="1">
            <a:off x="1691640" y="2423160"/>
            <a:ext cx="1097640" cy="640440"/>
          </a:xfrm>
          <a:prstGeom prst="straightConnector1">
            <a:avLst/>
          </a:prstGeom>
          <a:ln w="19050">
            <a:solidFill>
              <a:srgbClr val="F28C28"/>
            </a:solidFill>
            <a:round/>
            <a:tailEnd len="med" type="triangle" w="med"/>
          </a:ln>
        </p:spPr>
      </p:cxnSp>
      <p:cxnSp>
        <p:nvCxnSpPr>
          <p:cNvPr id="229" name="L"/>
          <p:cNvCxnSpPr/>
          <p:nvPr/>
        </p:nvCxnSpPr>
        <p:spPr>
          <a:xfrm>
            <a:off x="1691640" y="3063240"/>
            <a:ext cx="1097640" cy="360"/>
          </a:xfrm>
          <a:prstGeom prst="straightConnector1">
            <a:avLst/>
          </a:prstGeom>
          <a:ln w="19050">
            <a:solidFill>
              <a:srgbClr val="F28C28"/>
            </a:solidFill>
            <a:round/>
            <a:tailEnd len="med" type="triangle" w="med"/>
          </a:ln>
        </p:spPr>
      </p:cxnSp>
      <p:cxnSp>
        <p:nvCxnSpPr>
          <p:cNvPr id="230" name="L"/>
          <p:cNvCxnSpPr/>
          <p:nvPr/>
        </p:nvCxnSpPr>
        <p:spPr>
          <a:xfrm>
            <a:off x="1691640" y="3063240"/>
            <a:ext cx="1097640" cy="640440"/>
          </a:xfrm>
          <a:prstGeom prst="straightConnector1">
            <a:avLst/>
          </a:prstGeom>
          <a:ln w="19050">
            <a:solidFill>
              <a:srgbClr val="F28C28"/>
            </a:solidFill>
            <a:round/>
            <a:tailEnd len="med" type="triangle" w="med"/>
          </a:ln>
        </p:spPr>
      </p:cxnSp>
      <p:cxnSp>
        <p:nvCxnSpPr>
          <p:cNvPr id="231" name="L"/>
          <p:cNvCxnSpPr/>
          <p:nvPr/>
        </p:nvCxnSpPr>
        <p:spPr>
          <a:xfrm>
            <a:off x="1691640" y="3063240"/>
            <a:ext cx="1097640" cy="1280520"/>
          </a:xfrm>
          <a:prstGeom prst="straightConnector1">
            <a:avLst/>
          </a:prstGeom>
          <a:ln w="19050">
            <a:solidFill>
              <a:srgbClr val="F28C28"/>
            </a:solidFill>
            <a:round/>
            <a:tailEnd len="med" type="triangle" w="med"/>
          </a:ln>
        </p:spPr>
      </p:cxnSp>
      <p:sp>
        <p:nvSpPr>
          <p:cNvPr id="232" name="S"/>
          <p:cNvSpPr/>
          <p:nvPr/>
        </p:nvSpPr>
        <p:spPr>
          <a:xfrm>
            <a:off x="9418320" y="1783080"/>
            <a:ext cx="2377080" cy="822600"/>
          </a:xfrm>
          <a:prstGeom prst="roundRect">
            <a:avLst>
              <a:gd name="adj" fmla="val 16667"/>
            </a:avLst>
          </a:prstGeom>
          <a:solidFill>
            <a:srgbClr val="FFF1DD"/>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Streamlit dashboard</a:t>
            </a:r>
            <a:endParaRPr lang="en-IN" sz="1100" b="0" u="none" strike="noStrike">
              <a:solidFill>
                <a:srgbClr val="000000"/>
              </a:solidFill>
              <a:effectLst/>
              <a:uFillTx/>
              <a:latin typeface="Arial"/>
            </a:endParaRPr>
          </a:p>
        </p:txBody>
      </p:sp>
      <p:sp>
        <p:nvSpPr>
          <p:cNvPr id="233" name="S"/>
          <p:cNvSpPr/>
          <p:nvPr/>
        </p:nvSpPr>
        <p:spPr>
          <a:xfrm>
            <a:off x="9418320" y="3429000"/>
            <a:ext cx="2377080" cy="822600"/>
          </a:xfrm>
          <a:prstGeom prst="roundRect">
            <a:avLst>
              <a:gd name="adj" fmla="val 16667"/>
            </a:avLst>
          </a:prstGeom>
          <a:solidFill>
            <a:srgbClr val="FFF1DD"/>
          </a:solidFill>
          <a:ln w="15875">
            <a:solidFill>
              <a:srgbClr val="F28C28"/>
            </a:solidFill>
            <a:round/>
          </a:ln>
        </p:spPr>
        <p:style>
          <a:lnRef idx="0"/>
          <a:fillRef idx="0"/>
          <a:effectRef idx="0"/>
          <a:fontRef idx="minor"/>
        </p:style>
        <p:txBody>
          <a:bodyPr lIns="45720" tIns="0" rIns="45720" bIns="0" anchor="ctr">
            <a:noAutofit/>
          </a:bodyPr>
          <a:p>
            <a:pPr algn="ctr" defTabSz="914400">
              <a:lnSpc>
                <a:spcPct val="100000"/>
              </a:lnSpc>
            </a:pPr>
            <a:r>
              <a:rPr lang="en-US" sz="1100" b="0" u="none" strike="noStrike">
                <a:solidFill>
                  <a:srgbClr val="2B2B2B"/>
                </a:solidFill>
                <a:effectLst/>
                <a:uFillTx/>
                <a:latin typeface="Calibri"/>
              </a:rPr>
              <a:t>Factory simulation API</a:t>
            </a:r>
            <a:endParaRPr lang="en-IN" sz="1100" b="0" u="none" strike="noStrike">
              <a:solidFill>
                <a:srgbClr val="000000"/>
              </a:solidFill>
              <a:effectLst/>
              <a:uFillTx/>
              <a:latin typeface="Arial"/>
            </a:endParaRPr>
          </a:p>
        </p:txBody>
      </p:sp>
      <p:sp>
        <p:nvSpPr>
          <p:cNvPr id="234" name="S"/>
          <p:cNvSpPr/>
          <p:nvPr/>
        </p:nvSpPr>
        <p:spPr>
          <a:xfrm>
            <a:off x="9418320" y="4663440"/>
            <a:ext cx="2377080" cy="822600"/>
          </a:xfrm>
          <a:prstGeom prst="can">
            <a:avLst>
              <a:gd name="adj" fmla="val 25000"/>
            </a:avLst>
          </a:prstGeom>
          <a:solidFill>
            <a:srgbClr val="14213D"/>
          </a:solidFill>
          <a:ln w="15875">
            <a:solidFill>
              <a:srgbClr val="14213D"/>
            </a:solidFill>
            <a:round/>
          </a:ln>
        </p:spPr>
        <p:style>
          <a:lnRef idx="0"/>
          <a:fillRef idx="0"/>
          <a:effectRef idx="0"/>
          <a:fontRef idx="minor"/>
        </p:style>
        <p:txBody>
          <a:bodyPr lIns="45720" tIns="0" rIns="45720" bIns="0" anchor="ctr">
            <a:noAutofit/>
          </a:bodyPr>
          <a:p>
            <a:pPr algn="ctr" defTabSz="914400">
              <a:lnSpc>
                <a:spcPct val="100000"/>
              </a:lnSpc>
            </a:pPr>
            <a:r>
              <a:rPr lang="en-US" sz="1200" b="1" u="none" strike="noStrike">
                <a:solidFill>
                  <a:srgbClr val="FFFFFF"/>
                </a:solidFill>
                <a:effectLst/>
                <a:uFillTx/>
                <a:latin typeface="Calibri"/>
              </a:rPr>
              <a:t>MongoDB</a:t>
            </a:r>
            <a:endParaRPr lang="en-IN" sz="1200" b="0" u="none" strike="noStrike">
              <a:solidFill>
                <a:srgbClr val="FFFFFF"/>
              </a:solidFill>
              <a:effectLst/>
              <a:uFillTx/>
              <a:latin typeface="Arial"/>
            </a:endParaRPr>
          </a:p>
        </p:txBody>
      </p:sp>
      <p:cxnSp>
        <p:nvCxnSpPr>
          <p:cNvPr id="235" name="L"/>
          <p:cNvCxnSpPr/>
          <p:nvPr/>
        </p:nvCxnSpPr>
        <p:spPr>
          <a:xfrm>
            <a:off x="5806440" y="1783080"/>
            <a:ext cx="3612240" cy="411840"/>
          </a:xfrm>
          <a:prstGeom prst="straightConnector1">
            <a:avLst/>
          </a:prstGeom>
          <a:ln w="19050">
            <a:solidFill>
              <a:srgbClr val="F28C28"/>
            </a:solidFill>
            <a:round/>
          </a:ln>
        </p:spPr>
      </p:cxnSp>
      <p:cxnSp>
        <p:nvCxnSpPr>
          <p:cNvPr id="236" name="L"/>
          <p:cNvCxnSpPr/>
          <p:nvPr/>
        </p:nvCxnSpPr>
        <p:spPr>
          <a:xfrm flipV="1">
            <a:off x="5806440" y="2194560"/>
            <a:ext cx="3612240" cy="228960"/>
          </a:xfrm>
          <a:prstGeom prst="straightConnector1">
            <a:avLst/>
          </a:prstGeom>
          <a:ln w="19050">
            <a:solidFill>
              <a:srgbClr val="F28C28"/>
            </a:solidFill>
            <a:round/>
          </a:ln>
        </p:spPr>
      </p:cxnSp>
      <p:cxnSp>
        <p:nvCxnSpPr>
          <p:cNvPr id="237" name="L"/>
          <p:cNvCxnSpPr/>
          <p:nvPr/>
        </p:nvCxnSpPr>
        <p:spPr>
          <a:xfrm flipV="1">
            <a:off x="5806440" y="2194560"/>
            <a:ext cx="3612240" cy="869040"/>
          </a:xfrm>
          <a:prstGeom prst="straightConnector1">
            <a:avLst/>
          </a:prstGeom>
          <a:ln w="19050">
            <a:solidFill>
              <a:srgbClr val="F28C28"/>
            </a:solidFill>
            <a:round/>
          </a:ln>
        </p:spPr>
      </p:cxnSp>
      <p:cxnSp>
        <p:nvCxnSpPr>
          <p:cNvPr id="238" name="L"/>
          <p:cNvCxnSpPr/>
          <p:nvPr/>
        </p:nvCxnSpPr>
        <p:spPr>
          <a:xfrm flipV="1">
            <a:off x="5806440" y="2194560"/>
            <a:ext cx="3612240" cy="1509120"/>
          </a:xfrm>
          <a:prstGeom prst="straightConnector1">
            <a:avLst/>
          </a:prstGeom>
          <a:ln w="19050">
            <a:solidFill>
              <a:srgbClr val="F28C28"/>
            </a:solidFill>
            <a:round/>
          </a:ln>
        </p:spPr>
      </p:cxnSp>
      <p:cxnSp>
        <p:nvCxnSpPr>
          <p:cNvPr id="239" name="L"/>
          <p:cNvCxnSpPr/>
          <p:nvPr/>
        </p:nvCxnSpPr>
        <p:spPr>
          <a:xfrm>
            <a:off x="5806440" y="3063240"/>
            <a:ext cx="3612240" cy="777600"/>
          </a:xfrm>
          <a:prstGeom prst="straightConnector1">
            <a:avLst/>
          </a:prstGeom>
          <a:ln w="19050">
            <a:solidFill>
              <a:srgbClr val="F28C28"/>
            </a:solidFill>
            <a:round/>
          </a:ln>
        </p:spPr>
      </p:cxnSp>
      <p:cxnSp>
        <p:nvCxnSpPr>
          <p:cNvPr id="240" name="L"/>
          <p:cNvCxnSpPr/>
          <p:nvPr/>
        </p:nvCxnSpPr>
        <p:spPr>
          <a:xfrm flipV="1">
            <a:off x="5806440" y="3840480"/>
            <a:ext cx="3612240" cy="503280"/>
          </a:xfrm>
          <a:prstGeom prst="straightConnector1">
            <a:avLst/>
          </a:prstGeom>
          <a:ln w="19050">
            <a:solidFill>
              <a:srgbClr val="F28C28"/>
            </a:solidFill>
            <a:round/>
          </a:ln>
        </p:spPr>
      </p:cxnSp>
      <p:cxnSp>
        <p:nvCxnSpPr>
          <p:cNvPr id="241" name="L"/>
          <p:cNvCxnSpPr/>
          <p:nvPr/>
        </p:nvCxnSpPr>
        <p:spPr>
          <a:xfrm>
            <a:off x="10607040" y="2606040"/>
            <a:ext cx="360" cy="823320"/>
          </a:xfrm>
          <a:prstGeom prst="straightConnector1">
            <a:avLst/>
          </a:prstGeom>
          <a:ln w="19050">
            <a:solidFill>
              <a:srgbClr val="F28C28"/>
            </a:solidFill>
            <a:round/>
            <a:tailEnd len="med" type="triangle" w="med"/>
          </a:ln>
        </p:spPr>
      </p:cxnSp>
      <p:cxnSp>
        <p:nvCxnSpPr>
          <p:cNvPr id="242" name="L"/>
          <p:cNvCxnSpPr/>
          <p:nvPr/>
        </p:nvCxnSpPr>
        <p:spPr>
          <a:xfrm flipH="1">
            <a:off x="5429160" y="4251960"/>
            <a:ext cx="3989520" cy="672120"/>
          </a:xfrm>
          <a:prstGeom prst="straightConnector1">
            <a:avLst/>
          </a:prstGeom>
          <a:ln w="19050">
            <a:solidFill>
              <a:srgbClr val="F28C28"/>
            </a:solidFill>
            <a:round/>
            <a:tailEnd len="med" type="triangle" w="med"/>
          </a:ln>
        </p:spPr>
      </p:cxnSp>
      <p:cxnSp>
        <p:nvCxnSpPr>
          <p:cNvPr id="243" name="L"/>
          <p:cNvCxnSpPr/>
          <p:nvPr/>
        </p:nvCxnSpPr>
        <p:spPr>
          <a:xfrm>
            <a:off x="5806440" y="5074920"/>
            <a:ext cx="3612240" cy="360"/>
          </a:xfrm>
          <a:prstGeom prst="straightConnector1">
            <a:avLst/>
          </a:prstGeom>
          <a:ln w="19050">
            <a:solidFill>
              <a:srgbClr val="F28C28"/>
            </a:solidFill>
            <a:round/>
            <a:tailEnd len="med" type="triangle" w="med"/>
          </a:ln>
        </p:spPr>
      </p:cxnSp>
      <p:sp>
        <p:nvSpPr>
          <p:cNvPr id="244" name="Shape 30"/>
          <p:cNvSpPr/>
          <p:nvPr/>
        </p:nvSpPr>
        <p:spPr>
          <a:xfrm>
            <a:off x="548640" y="576072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245" name="Text 31"/>
          <p:cNvSpPr/>
          <p:nvPr/>
        </p:nvSpPr>
        <p:spPr>
          <a:xfrm>
            <a:off x="685800" y="576072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Ovals are actions inside the system; boxes on the right are supporting systems. Experiments are called through the API only.</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246"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rgbClr val="F28C28"/>
                </a:solidFill>
                <a:effectLst/>
                <a:uFillTx/>
                <a:latin typeface="Georgia"/>
                <a:ea typeface="Georgia"/>
              </a:rPr>
              <a:t>Class Diagram</a:t>
            </a:r>
            <a:endParaRPr lang="en-IN" sz="3000" b="0" u="none" strike="noStrike">
              <a:solidFill>
                <a:srgbClr val="FFFFFF"/>
              </a:solidFill>
              <a:effectLst/>
              <a:uFillTx/>
              <a:latin typeface="Arial"/>
            </a:endParaRPr>
          </a:p>
        </p:txBody>
      </p:sp>
      <p:sp>
        <p:nvSpPr>
          <p:cNvPr id="247"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C9C9C9"/>
                </a:solidFill>
                <a:effectLst/>
                <a:uFillTx/>
                <a:latin typeface="Calibri"/>
                <a:ea typeface="Calibri"/>
              </a:rPr>
              <a:t>Factory Adjuster Simulation  |  14</a:t>
            </a:r>
            <a:endParaRPr lang="en-IN" sz="1100" b="0" u="none" strike="noStrike">
              <a:solidFill>
                <a:srgbClr val="FFFFFF"/>
              </a:solidFill>
              <a:effectLst/>
              <a:uFillTx/>
              <a:latin typeface="Arial"/>
            </a:endParaRPr>
          </a:p>
        </p:txBody>
      </p:sp>
      <p:sp>
        <p:nvSpPr>
          <p:cNvPr id="248" name="Shape"/>
          <p:cNvSpPr/>
          <p:nvPr/>
        </p:nvSpPr>
        <p:spPr>
          <a:xfrm>
            <a:off x="548640" y="1051560"/>
            <a:ext cx="3200040" cy="132552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49" name="Shape"/>
          <p:cNvSpPr/>
          <p:nvPr/>
        </p:nvSpPr>
        <p:spPr>
          <a:xfrm>
            <a:off x="548640" y="105156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MachineConfig</a:t>
            </a:r>
            <a:endParaRPr lang="en-IN" sz="1400" b="0" u="none" strike="noStrike">
              <a:solidFill>
                <a:srgbClr val="FFFFFF"/>
              </a:solidFill>
              <a:effectLst/>
              <a:uFillTx/>
              <a:latin typeface="Arial"/>
            </a:endParaRPr>
          </a:p>
        </p:txBody>
      </p:sp>
      <p:sp>
        <p:nvSpPr>
          <p:cNvPr id="250" name="Shape"/>
          <p:cNvSpPr/>
          <p:nvPr/>
        </p:nvSpPr>
        <p:spPr>
          <a:xfrm>
            <a:off x="548640" y="1380600"/>
            <a:ext cx="3200040" cy="99648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+category: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+count: int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+mttf: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+repair_min: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+repair_max: float</a:t>
            </a:r>
            <a:endParaRPr lang="en-IN" sz="1000" b="0" u="none" strike="noStrike">
              <a:solidFill>
                <a:srgbClr val="FFFFFF"/>
              </a:solidFill>
              <a:effectLst/>
              <a:uFillTx/>
              <a:latin typeface="Arial"/>
            </a:endParaRPr>
          </a:p>
        </p:txBody>
      </p:sp>
      <p:sp>
        <p:nvSpPr>
          <p:cNvPr id="251" name="Shape"/>
          <p:cNvSpPr/>
          <p:nvPr/>
        </p:nvSpPr>
        <p:spPr>
          <a:xfrm>
            <a:off x="4480560" y="1051560"/>
            <a:ext cx="3200040" cy="132552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52" name="Shape"/>
          <p:cNvSpPr/>
          <p:nvPr/>
        </p:nvSpPr>
        <p:spPr>
          <a:xfrm>
            <a:off x="4480560" y="105156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Scenario</a:t>
            </a:r>
            <a:endParaRPr lang="en-IN" sz="1400" b="0" u="none" strike="noStrike">
              <a:solidFill>
                <a:srgbClr val="FFFFFF"/>
              </a:solidFill>
              <a:effectLst/>
              <a:uFillTx/>
              <a:latin typeface="Arial"/>
            </a:endParaRPr>
          </a:p>
        </p:txBody>
      </p:sp>
      <p:sp>
        <p:nvSpPr>
          <p:cNvPr id="253" name="Shape"/>
          <p:cNvSpPr/>
          <p:nvPr/>
        </p:nvSpPr>
        <p:spPr>
          <a:xfrm>
            <a:off x="4480560" y="1380600"/>
            <a:ext cx="3200040" cy="99648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+machine_configs: List[MachineConfig]</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+adjusters: List[AdjusterConfig]</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+duration: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+warmup: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+seed: int</a:t>
            </a:r>
            <a:endParaRPr lang="en-IN" sz="1000" b="0" u="none" strike="noStrike">
              <a:solidFill>
                <a:srgbClr val="FFFFFF"/>
              </a:solidFill>
              <a:effectLst/>
              <a:uFillTx/>
              <a:latin typeface="Arial"/>
            </a:endParaRPr>
          </a:p>
        </p:txBody>
      </p:sp>
      <p:sp>
        <p:nvSpPr>
          <p:cNvPr id="254" name="Shape"/>
          <p:cNvSpPr/>
          <p:nvPr/>
        </p:nvSpPr>
        <p:spPr>
          <a:xfrm>
            <a:off x="8412480" y="1051560"/>
            <a:ext cx="3200040" cy="97812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55" name="Shape"/>
          <p:cNvSpPr/>
          <p:nvPr/>
        </p:nvSpPr>
        <p:spPr>
          <a:xfrm>
            <a:off x="8412480" y="105156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AdjusterConfig</a:t>
            </a:r>
            <a:endParaRPr lang="en-IN" sz="1400" b="0" u="none" strike="noStrike">
              <a:solidFill>
                <a:srgbClr val="FFFFFF"/>
              </a:solidFill>
              <a:effectLst/>
              <a:uFillTx/>
              <a:latin typeface="Arial"/>
            </a:endParaRPr>
          </a:p>
        </p:txBody>
      </p:sp>
      <p:sp>
        <p:nvSpPr>
          <p:cNvPr id="256" name="Shape"/>
          <p:cNvSpPr/>
          <p:nvPr/>
        </p:nvSpPr>
        <p:spPr>
          <a:xfrm>
            <a:off x="8412480" y="1380600"/>
            <a:ext cx="3200040" cy="64872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+adjuster_id: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+skills: List[str]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+skill_capacity: dict</a:t>
            </a:r>
            <a:endParaRPr lang="en-IN" sz="1000" b="0" u="none" strike="noStrike">
              <a:solidFill>
                <a:srgbClr val="FFFFFF"/>
              </a:solidFill>
              <a:effectLst/>
              <a:uFillTx/>
              <a:latin typeface="Arial"/>
            </a:endParaRPr>
          </a:p>
        </p:txBody>
      </p:sp>
      <p:sp>
        <p:nvSpPr>
          <p:cNvPr id="257" name="Shape"/>
          <p:cNvSpPr/>
          <p:nvPr/>
        </p:nvSpPr>
        <p:spPr>
          <a:xfrm>
            <a:off x="548640" y="2743200"/>
            <a:ext cx="3200040" cy="167292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58" name="Shape"/>
          <p:cNvSpPr/>
          <p:nvPr/>
        </p:nvSpPr>
        <p:spPr>
          <a:xfrm>
            <a:off x="548640" y="274320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Machine</a:t>
            </a:r>
            <a:endParaRPr lang="en-IN" sz="1400" b="0" u="none" strike="noStrike">
              <a:solidFill>
                <a:srgbClr val="FFFFFF"/>
              </a:solidFill>
              <a:effectLst/>
              <a:uFillTx/>
              <a:latin typeface="Arial"/>
            </a:endParaRPr>
          </a:p>
        </p:txBody>
      </p:sp>
      <p:sp>
        <p:nvSpPr>
          <p:cNvPr id="259" name="Shape"/>
          <p:cNvSpPr/>
          <p:nvPr/>
        </p:nvSpPr>
        <p:spPr>
          <a:xfrm>
            <a:off x="548640" y="3072240"/>
            <a:ext cx="3200040" cy="134388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+machine_id: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+category: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+mttf: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+status: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+running_since: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+running_time: float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+failures: int</a:t>
            </a:r>
            <a:endParaRPr lang="en-IN" sz="1000" b="0" u="none" strike="noStrike">
              <a:solidFill>
                <a:srgbClr val="FFFFFF"/>
              </a:solidFill>
              <a:effectLst/>
              <a:uFillTx/>
              <a:latin typeface="Arial"/>
            </a:endParaRPr>
          </a:p>
        </p:txBody>
      </p:sp>
      <p:sp>
        <p:nvSpPr>
          <p:cNvPr id="260" name="Shape"/>
          <p:cNvSpPr/>
          <p:nvPr/>
        </p:nvSpPr>
        <p:spPr>
          <a:xfrm>
            <a:off x="4480560" y="2743200"/>
            <a:ext cx="3200040" cy="80424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61" name="Shape"/>
          <p:cNvSpPr/>
          <p:nvPr/>
        </p:nvSpPr>
        <p:spPr>
          <a:xfrm>
            <a:off x="4480560" y="274320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Simulator</a:t>
            </a:r>
            <a:endParaRPr lang="en-IN" sz="1400" b="0" u="none" strike="noStrike">
              <a:solidFill>
                <a:srgbClr val="FFFFFF"/>
              </a:solidFill>
              <a:effectLst/>
              <a:uFillTx/>
              <a:latin typeface="Arial"/>
            </a:endParaRPr>
          </a:p>
        </p:txBody>
      </p:sp>
      <p:sp>
        <p:nvSpPr>
          <p:cNvPr id="262" name="Shape"/>
          <p:cNvSpPr/>
          <p:nvPr/>
        </p:nvSpPr>
        <p:spPr>
          <a:xfrm>
            <a:off x="4480560" y="3072240"/>
            <a:ext cx="3200040" cy="47520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+run_simulation(scenario) dict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+run_replications(scenario, replications) dict</a:t>
            </a:r>
            <a:endParaRPr lang="en-IN" sz="1000" b="0" u="none" strike="noStrike">
              <a:solidFill>
                <a:srgbClr val="FFFFFF"/>
              </a:solidFill>
              <a:effectLst/>
              <a:uFillTx/>
              <a:latin typeface="Arial"/>
            </a:endParaRPr>
          </a:p>
        </p:txBody>
      </p:sp>
      <p:sp>
        <p:nvSpPr>
          <p:cNvPr id="263" name="Shape"/>
          <p:cNvSpPr/>
          <p:nvPr/>
        </p:nvSpPr>
        <p:spPr>
          <a:xfrm>
            <a:off x="8412480" y="2743200"/>
            <a:ext cx="3200040" cy="115164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64" name="Shape"/>
          <p:cNvSpPr/>
          <p:nvPr/>
        </p:nvSpPr>
        <p:spPr>
          <a:xfrm>
            <a:off x="8412480" y="274320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Adjuster</a:t>
            </a:r>
            <a:endParaRPr lang="en-IN" sz="1400" b="0" u="none" strike="noStrike">
              <a:solidFill>
                <a:srgbClr val="FFFFFF"/>
              </a:solidFill>
              <a:effectLst/>
              <a:uFillTx/>
              <a:latin typeface="Arial"/>
            </a:endParaRPr>
          </a:p>
        </p:txBody>
      </p:sp>
      <p:sp>
        <p:nvSpPr>
          <p:cNvPr id="265" name="Shape"/>
          <p:cNvSpPr/>
          <p:nvPr/>
        </p:nvSpPr>
        <p:spPr>
          <a:xfrm>
            <a:off x="8412480" y="3072240"/>
            <a:ext cx="3200040" cy="82260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+adjuster_id: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+skills: set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+status: str</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+busy_time: float</a:t>
            </a:r>
            <a:endParaRPr lang="en-IN" sz="1000" b="0" u="none" strike="noStrike">
              <a:solidFill>
                <a:srgbClr val="FFFFFF"/>
              </a:solidFill>
              <a:effectLst/>
              <a:uFillTx/>
              <a:latin typeface="Arial"/>
            </a:endParaRPr>
          </a:p>
        </p:txBody>
      </p:sp>
      <p:sp>
        <p:nvSpPr>
          <p:cNvPr id="266" name="Shape"/>
          <p:cNvSpPr/>
          <p:nvPr/>
        </p:nvSpPr>
        <p:spPr>
          <a:xfrm>
            <a:off x="548640" y="4800600"/>
            <a:ext cx="3200040" cy="97812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67" name="Shape"/>
          <p:cNvSpPr/>
          <p:nvPr/>
        </p:nvSpPr>
        <p:spPr>
          <a:xfrm>
            <a:off x="548640" y="480060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StreamlitDashboard</a:t>
            </a:r>
            <a:endParaRPr lang="en-IN" sz="1400" b="0" u="none" strike="noStrike">
              <a:solidFill>
                <a:srgbClr val="FFFFFF"/>
              </a:solidFill>
              <a:effectLst/>
              <a:uFillTx/>
              <a:latin typeface="Arial"/>
            </a:endParaRPr>
          </a:p>
        </p:txBody>
      </p:sp>
      <p:sp>
        <p:nvSpPr>
          <p:cNvPr id="268" name="Shape"/>
          <p:cNvSpPr/>
          <p:nvPr/>
        </p:nvSpPr>
        <p:spPr>
          <a:xfrm>
            <a:off x="548640" y="5129640"/>
            <a:ext cx="3200040" cy="64872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+configure_scenario()</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+run_simulation()</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+display_results()</a:t>
            </a:r>
            <a:endParaRPr lang="en-IN" sz="1000" b="0" u="none" strike="noStrike">
              <a:solidFill>
                <a:srgbClr val="FFFFFF"/>
              </a:solidFill>
              <a:effectLst/>
              <a:uFillTx/>
              <a:latin typeface="Arial"/>
            </a:endParaRPr>
          </a:p>
        </p:txBody>
      </p:sp>
      <p:sp>
        <p:nvSpPr>
          <p:cNvPr id="269" name="Shape"/>
          <p:cNvSpPr/>
          <p:nvPr/>
        </p:nvSpPr>
        <p:spPr>
          <a:xfrm>
            <a:off x="4480560" y="4800600"/>
            <a:ext cx="3200040" cy="97812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70" name="Shape"/>
          <p:cNvSpPr/>
          <p:nvPr/>
        </p:nvSpPr>
        <p:spPr>
          <a:xfrm>
            <a:off x="4480560" y="480060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FastAPIService</a:t>
            </a:r>
            <a:endParaRPr lang="en-IN" sz="1400" b="0" u="none" strike="noStrike">
              <a:solidFill>
                <a:srgbClr val="FFFFFF"/>
              </a:solidFill>
              <a:effectLst/>
              <a:uFillTx/>
              <a:latin typeface="Arial"/>
            </a:endParaRPr>
          </a:p>
        </p:txBody>
      </p:sp>
      <p:sp>
        <p:nvSpPr>
          <p:cNvPr id="271" name="Shape"/>
          <p:cNvSpPr/>
          <p:nvPr/>
        </p:nvSpPr>
        <p:spPr>
          <a:xfrm>
            <a:off x="4480560" y="5129640"/>
            <a:ext cx="3200040" cy="64872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+health() dict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+simulate(payload) dict</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+experiment(payload) dict</a:t>
            </a:r>
            <a:endParaRPr lang="en-IN" sz="1000" b="0" u="none" strike="noStrike">
              <a:solidFill>
                <a:srgbClr val="FFFFFF"/>
              </a:solidFill>
              <a:effectLst/>
              <a:uFillTx/>
              <a:latin typeface="Arial"/>
            </a:endParaRPr>
          </a:p>
        </p:txBody>
      </p:sp>
      <p:sp>
        <p:nvSpPr>
          <p:cNvPr id="272" name="Shape"/>
          <p:cNvSpPr/>
          <p:nvPr/>
        </p:nvSpPr>
        <p:spPr>
          <a:xfrm>
            <a:off x="8412480" y="4800600"/>
            <a:ext cx="3200040" cy="804240"/>
          </a:xfrm>
          <a:prstGeom prst="rect">
            <a:avLst/>
          </a:prstGeom>
          <a:solidFill>
            <a:srgbClr val="FFFFFF"/>
          </a:solidFill>
          <a:ln w="15875">
            <a:solidFill>
              <a:srgbClr val="F28C28"/>
            </a:solidFill>
            <a:round/>
          </a:ln>
        </p:spPr>
        <p:style>
          <a:lnRef idx="0"/>
          <a:fillRef idx="0"/>
          <a:effectRef idx="0"/>
          <a:fontRef idx="minor"/>
        </p:style>
        <p:txBody>
          <a:bodyPr lIns="0" rIns="0" bIns="0" anchor="t">
            <a:noAutofit/>
          </a:bodyPr>
          <a:p>
            <a:endParaRPr lang="en-IN" sz="1800" b="0" u="none" strike="noStrike">
              <a:solidFill>
                <a:schemeClr val="dk1"/>
              </a:solidFill>
              <a:effectLst/>
              <a:uFillTx/>
              <a:latin typeface="Calibri"/>
            </a:endParaRPr>
          </a:p>
        </p:txBody>
      </p:sp>
      <p:sp>
        <p:nvSpPr>
          <p:cNvPr id="273" name="Shape"/>
          <p:cNvSpPr/>
          <p:nvPr/>
        </p:nvSpPr>
        <p:spPr>
          <a:xfrm>
            <a:off x="8412480" y="4800600"/>
            <a:ext cx="3200040" cy="328680"/>
          </a:xfrm>
          <a:prstGeom prst="rect">
            <a:avLst/>
          </a:prstGeom>
          <a:solidFill>
            <a:srgbClr val="14213D"/>
          </a:solidFill>
          <a:ln w="15875">
            <a:solidFill>
              <a:srgbClr val="14213D"/>
            </a:solidFill>
            <a:round/>
          </a:ln>
        </p:spPr>
        <p:style>
          <a:lnRef idx="0"/>
          <a:fillRef idx="0"/>
          <a:effectRef idx="0"/>
          <a:fontRef idx="minor"/>
        </p:style>
        <p:txBody>
          <a:bodyPr lIns="0" rIns="0" bIns="0" anchor="ctr">
            <a:noAutofit/>
          </a:bodyPr>
          <a:p>
            <a:pPr algn="ctr" defTabSz="914400">
              <a:lnSpc>
                <a:spcPct val="100000"/>
              </a:lnSpc>
              <a:tabLst>
                <a:tab pos="0" algn="l"/>
              </a:tabLst>
            </a:pPr>
            <a:r>
              <a:rPr lang="en-US" sz="1400" b="1" u="none" strike="noStrike">
                <a:solidFill>
                  <a:srgbClr val="FFFFFF"/>
                </a:solidFill>
                <a:effectLst/>
                <a:uFillTx/>
                <a:latin typeface="Calibri"/>
              </a:rPr>
              <a:t>MongoPersistence</a:t>
            </a:r>
            <a:endParaRPr lang="en-IN" sz="1400" b="0" u="none" strike="noStrike">
              <a:solidFill>
                <a:srgbClr val="FFFFFF"/>
              </a:solidFill>
              <a:effectLst/>
              <a:uFillTx/>
              <a:latin typeface="Arial"/>
            </a:endParaRPr>
          </a:p>
        </p:txBody>
      </p:sp>
      <p:sp>
        <p:nvSpPr>
          <p:cNvPr id="274" name="Shape"/>
          <p:cNvSpPr/>
          <p:nvPr/>
        </p:nvSpPr>
        <p:spPr>
          <a:xfrm>
            <a:off x="8412480" y="5129640"/>
            <a:ext cx="3200040" cy="475200"/>
          </a:xfrm>
          <a:prstGeom prst="rect">
            <a:avLst/>
          </a:prstGeom>
          <a:noFill/>
          <a:ln w="0">
            <a:noFill/>
          </a:ln>
        </p:spPr>
        <p:style>
          <a:lnRef idx="0"/>
          <a:fillRef idx="0"/>
          <a:effectRef idx="0"/>
          <a:fontRef idx="minor"/>
        </p:style>
        <p:txBody>
          <a:bodyPr lIns="109800" rIns="109800" bIns="0" anchor="t">
            <a:noAutofit/>
          </a:bodyPr>
          <a:p>
            <a:pPr defTabSz="914400">
              <a:lnSpc>
                <a:spcPct val="100000"/>
              </a:lnSpc>
              <a:tabLst>
                <a:tab pos="0" algn="l"/>
              </a:tabLst>
            </a:pPr>
            <a:r>
              <a:rPr lang="en-US" sz="1000" b="0" u="none" strike="noStrike">
                <a:solidFill>
                  <a:srgbClr val="2B2B2B"/>
                </a:solidFill>
                <a:effectLst/>
                <a:uFillTx/>
                <a:latin typeface="Calibri"/>
              </a:rPr>
              <a:t>+get_database()</a:t>
            </a:r>
            <a:endParaRPr lang="en-IN"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2B2B2B"/>
                </a:solidFill>
                <a:effectLst/>
                <a:uFillTx/>
                <a:latin typeface="Calibri"/>
              </a:rPr>
              <a:t>+save_run(result, scenario)</a:t>
            </a:r>
            <a:endParaRPr lang="en-IN" sz="1000" b="0" u="none" strike="noStrike">
              <a:solidFill>
                <a:srgbClr val="FFFFFF"/>
              </a:solidFill>
              <a:effectLst/>
              <a:uFillTx/>
              <a:latin typeface="Arial"/>
            </a:endParaRPr>
          </a:p>
        </p:txBody>
      </p:sp>
      <p:cxnSp>
        <p:nvCxnSpPr>
          <p:cNvPr id="275" name="Relation"/>
          <p:cNvCxnSpPr/>
          <p:nvPr/>
        </p:nvCxnSpPr>
        <p:spPr>
          <a:xfrm flipH="1">
            <a:off x="3749040" y="1746360"/>
            <a:ext cx="731880" cy="360"/>
          </a:xfrm>
          <a:prstGeom prst="straightConnector1">
            <a:avLst/>
          </a:prstGeom>
          <a:ln w="19050">
            <a:solidFill>
              <a:srgbClr val="F28C28"/>
            </a:solidFill>
            <a:round/>
            <a:headEnd len="lg" type="diamond" w="lg"/>
          </a:ln>
        </p:spPr>
      </p:cxnSp>
      <p:cxnSp>
        <p:nvCxnSpPr>
          <p:cNvPr id="276" name="Relation"/>
          <p:cNvCxnSpPr/>
          <p:nvPr/>
        </p:nvCxnSpPr>
        <p:spPr>
          <a:xfrm>
            <a:off x="7680960" y="1746360"/>
            <a:ext cx="731880" cy="360"/>
          </a:xfrm>
          <a:prstGeom prst="straightConnector1">
            <a:avLst/>
          </a:prstGeom>
          <a:ln w="19050">
            <a:solidFill>
              <a:srgbClr val="F28C28"/>
            </a:solidFill>
            <a:round/>
            <a:headEnd len="lg" type="diamond" w="lg"/>
          </a:ln>
        </p:spPr>
      </p:cxnSp>
      <p:sp>
        <p:nvSpPr>
          <p:cNvPr id="277" name="Shape"/>
          <p:cNvSpPr/>
          <p:nvPr/>
        </p:nvSpPr>
        <p:spPr>
          <a:xfrm>
            <a:off x="4256640" y="1508760"/>
            <a:ext cx="228240" cy="18252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1</a:t>
            </a:r>
            <a:endParaRPr lang="en-IN" sz="1000" b="0" u="none" strike="noStrike">
              <a:solidFill>
                <a:srgbClr val="FFFFFF"/>
              </a:solidFill>
              <a:effectLst/>
              <a:uFillTx/>
              <a:latin typeface="Arial"/>
            </a:endParaRPr>
          </a:p>
        </p:txBody>
      </p:sp>
      <p:sp>
        <p:nvSpPr>
          <p:cNvPr id="278" name="Shape"/>
          <p:cNvSpPr/>
          <p:nvPr/>
        </p:nvSpPr>
        <p:spPr>
          <a:xfrm>
            <a:off x="3749040" y="1508760"/>
            <a:ext cx="365400" cy="18252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1..*</a:t>
            </a:r>
            <a:endParaRPr lang="en-IN" sz="1000" b="0" u="none" strike="noStrike">
              <a:solidFill>
                <a:srgbClr val="FFFFFF"/>
              </a:solidFill>
              <a:effectLst/>
              <a:uFillTx/>
              <a:latin typeface="Arial"/>
            </a:endParaRPr>
          </a:p>
        </p:txBody>
      </p:sp>
      <p:sp>
        <p:nvSpPr>
          <p:cNvPr id="279" name="Shape"/>
          <p:cNvSpPr/>
          <p:nvPr/>
        </p:nvSpPr>
        <p:spPr>
          <a:xfrm>
            <a:off x="7676280" y="1508760"/>
            <a:ext cx="228240" cy="18252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1</a:t>
            </a:r>
            <a:endParaRPr lang="en-IN" sz="1000" b="0" u="none" strike="noStrike">
              <a:solidFill>
                <a:srgbClr val="FFFFFF"/>
              </a:solidFill>
              <a:effectLst/>
              <a:uFillTx/>
              <a:latin typeface="Arial"/>
            </a:endParaRPr>
          </a:p>
        </p:txBody>
      </p:sp>
      <p:sp>
        <p:nvSpPr>
          <p:cNvPr id="280" name="Shape"/>
          <p:cNvSpPr/>
          <p:nvPr/>
        </p:nvSpPr>
        <p:spPr>
          <a:xfrm>
            <a:off x="8046720" y="1508760"/>
            <a:ext cx="365400" cy="18252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1..*</a:t>
            </a:r>
            <a:endParaRPr lang="en-IN" sz="1000" b="0" u="none" strike="noStrike">
              <a:solidFill>
                <a:srgbClr val="FFFFFF"/>
              </a:solidFill>
              <a:effectLst/>
              <a:uFillTx/>
              <a:latin typeface="Arial"/>
            </a:endParaRPr>
          </a:p>
        </p:txBody>
      </p:sp>
      <p:cxnSp>
        <p:nvCxnSpPr>
          <p:cNvPr id="281" name="Relation"/>
          <p:cNvCxnSpPr/>
          <p:nvPr/>
        </p:nvCxnSpPr>
        <p:spPr>
          <a:xfrm flipV="1">
            <a:off x="6080760" y="2377440"/>
            <a:ext cx="360" cy="366120"/>
          </a:xfrm>
          <a:prstGeom prst="straightConnector1">
            <a:avLst/>
          </a:prstGeom>
          <a:ln w="19050">
            <a:solidFill>
              <a:srgbClr val="F28C28"/>
            </a:solidFill>
            <a:prstDash val="dash"/>
            <a:round/>
            <a:tailEnd len="lg" type="arrow" w="lg"/>
          </a:ln>
        </p:spPr>
      </p:cxnSp>
      <p:sp>
        <p:nvSpPr>
          <p:cNvPr id="282" name="Shape"/>
          <p:cNvSpPr/>
          <p:nvPr/>
        </p:nvSpPr>
        <p:spPr>
          <a:xfrm>
            <a:off x="6172200" y="2468880"/>
            <a:ext cx="731160" cy="182520"/>
          </a:xfrm>
          <a:prstGeom prst="rect">
            <a:avLst/>
          </a:prstGeom>
          <a:noFill/>
          <a:ln w="0">
            <a:noFill/>
          </a:ln>
        </p:spPr>
        <p:style>
          <a:lnRef idx="0"/>
          <a:fillRef idx="0"/>
          <a:effectRef idx="0"/>
          <a:fontRef idx="minor"/>
        </p:style>
        <p:txBody>
          <a:bodyPr lIns="0" rIns="0" bIns="0" anchor="ctr">
            <a:noAutofit/>
          </a:bodyPr>
          <a:p>
            <a:pPr defTabSz="914400">
              <a:lnSpc>
                <a:spcPct val="100000"/>
              </a:lnSpc>
              <a:tabLst>
                <a:tab pos="0" algn="l"/>
              </a:tabLst>
            </a:pPr>
            <a:r>
              <a:rPr lang="en-US" sz="1000" b="0" u="none" strike="noStrike">
                <a:solidFill>
                  <a:srgbClr val="F7F1E3"/>
                </a:solidFill>
                <a:effectLst/>
                <a:uFillTx/>
                <a:latin typeface="Calibri"/>
              </a:rPr>
              <a:t>consumes</a:t>
            </a:r>
            <a:endParaRPr lang="en-IN" sz="1000" b="0" u="none" strike="noStrike">
              <a:solidFill>
                <a:srgbClr val="FFFFFF"/>
              </a:solidFill>
              <a:effectLst/>
              <a:uFillTx/>
              <a:latin typeface="Arial"/>
            </a:endParaRPr>
          </a:p>
        </p:txBody>
      </p:sp>
      <p:cxnSp>
        <p:nvCxnSpPr>
          <p:cNvPr id="283" name="Relation"/>
          <p:cNvCxnSpPr/>
          <p:nvPr/>
        </p:nvCxnSpPr>
        <p:spPr>
          <a:xfrm flipH="1">
            <a:off x="3749040" y="3438000"/>
            <a:ext cx="731880" cy="360"/>
          </a:xfrm>
          <a:prstGeom prst="straightConnector1">
            <a:avLst/>
          </a:prstGeom>
          <a:ln w="19050">
            <a:solidFill>
              <a:srgbClr val="F28C28"/>
            </a:solidFill>
            <a:prstDash val="dash"/>
            <a:round/>
            <a:tailEnd len="lg" type="arrow" w="lg"/>
          </a:ln>
        </p:spPr>
      </p:cxnSp>
      <p:sp>
        <p:nvSpPr>
          <p:cNvPr id="284" name="Shape"/>
          <p:cNvSpPr/>
          <p:nvPr/>
        </p:nvSpPr>
        <p:spPr>
          <a:xfrm>
            <a:off x="3749040" y="3200400"/>
            <a:ext cx="731160" cy="18252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creates</a:t>
            </a:r>
            <a:endParaRPr lang="en-IN" sz="1000" b="0" u="none" strike="noStrike">
              <a:solidFill>
                <a:srgbClr val="FFFFFF"/>
              </a:solidFill>
              <a:effectLst/>
              <a:uFillTx/>
              <a:latin typeface="Arial"/>
            </a:endParaRPr>
          </a:p>
        </p:txBody>
      </p:sp>
      <p:cxnSp>
        <p:nvCxnSpPr>
          <p:cNvPr id="285" name="Relation"/>
          <p:cNvCxnSpPr/>
          <p:nvPr/>
        </p:nvCxnSpPr>
        <p:spPr>
          <a:xfrm>
            <a:off x="7680960" y="3438000"/>
            <a:ext cx="731880" cy="360"/>
          </a:xfrm>
          <a:prstGeom prst="straightConnector1">
            <a:avLst/>
          </a:prstGeom>
          <a:ln w="19050">
            <a:solidFill>
              <a:srgbClr val="F28C28"/>
            </a:solidFill>
            <a:prstDash val="dash"/>
            <a:round/>
            <a:tailEnd len="lg" type="arrow" w="lg"/>
          </a:ln>
        </p:spPr>
      </p:cxnSp>
      <p:sp>
        <p:nvSpPr>
          <p:cNvPr id="286" name="Shape"/>
          <p:cNvSpPr/>
          <p:nvPr/>
        </p:nvSpPr>
        <p:spPr>
          <a:xfrm>
            <a:off x="7680960" y="3200400"/>
            <a:ext cx="731160" cy="18252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creates</a:t>
            </a:r>
            <a:endParaRPr lang="en-IN" sz="1000" b="0" u="none" strike="noStrike">
              <a:solidFill>
                <a:srgbClr val="FFFFFF"/>
              </a:solidFill>
              <a:effectLst/>
              <a:uFillTx/>
              <a:latin typeface="Arial"/>
            </a:endParaRPr>
          </a:p>
        </p:txBody>
      </p:sp>
      <p:cxnSp>
        <p:nvCxnSpPr>
          <p:cNvPr id="287" name="Relation"/>
          <p:cNvCxnSpPr/>
          <p:nvPr/>
        </p:nvCxnSpPr>
        <p:spPr>
          <a:xfrm flipV="1">
            <a:off x="6080760" y="3547800"/>
            <a:ext cx="360" cy="1253160"/>
          </a:xfrm>
          <a:prstGeom prst="straightConnector1">
            <a:avLst/>
          </a:prstGeom>
          <a:ln w="19050">
            <a:solidFill>
              <a:srgbClr val="F28C28"/>
            </a:solidFill>
            <a:prstDash val="dash"/>
            <a:round/>
            <a:tailEnd len="lg" type="arrow" w="lg"/>
          </a:ln>
        </p:spPr>
      </p:cxnSp>
      <p:sp>
        <p:nvSpPr>
          <p:cNvPr id="288" name="Shape"/>
          <p:cNvSpPr/>
          <p:nvPr/>
        </p:nvSpPr>
        <p:spPr>
          <a:xfrm>
            <a:off x="6172200" y="4082760"/>
            <a:ext cx="456840" cy="182520"/>
          </a:xfrm>
          <a:prstGeom prst="rect">
            <a:avLst/>
          </a:prstGeom>
          <a:noFill/>
          <a:ln w="0">
            <a:noFill/>
          </a:ln>
        </p:spPr>
        <p:style>
          <a:lnRef idx="0"/>
          <a:fillRef idx="0"/>
          <a:effectRef idx="0"/>
          <a:fontRef idx="minor"/>
        </p:style>
        <p:txBody>
          <a:bodyPr lIns="0" rIns="0" bIns="0" anchor="ctr">
            <a:noAutofit/>
          </a:bodyPr>
          <a:p>
            <a:pPr defTabSz="914400">
              <a:lnSpc>
                <a:spcPct val="100000"/>
              </a:lnSpc>
              <a:tabLst>
                <a:tab pos="0" algn="l"/>
              </a:tabLst>
            </a:pPr>
            <a:r>
              <a:rPr lang="en-US" sz="1000" b="0" u="none" strike="noStrike">
                <a:solidFill>
                  <a:srgbClr val="F7F1E3"/>
                </a:solidFill>
                <a:effectLst/>
                <a:uFillTx/>
                <a:latin typeface="Calibri"/>
              </a:rPr>
              <a:t>calls</a:t>
            </a:r>
            <a:endParaRPr lang="en-IN" sz="1000" b="0" u="none" strike="noStrike">
              <a:solidFill>
                <a:srgbClr val="FFFFFF"/>
              </a:solidFill>
              <a:effectLst/>
              <a:uFillTx/>
              <a:latin typeface="Arial"/>
            </a:endParaRPr>
          </a:p>
        </p:txBody>
      </p:sp>
      <p:cxnSp>
        <p:nvCxnSpPr>
          <p:cNvPr id="289" name="Relation"/>
          <p:cNvCxnSpPr/>
          <p:nvPr/>
        </p:nvCxnSpPr>
        <p:spPr>
          <a:xfrm>
            <a:off x="3749040" y="5495400"/>
            <a:ext cx="731880" cy="360"/>
          </a:xfrm>
          <a:prstGeom prst="straightConnector1">
            <a:avLst/>
          </a:prstGeom>
          <a:ln w="19050">
            <a:solidFill>
              <a:srgbClr val="F28C28"/>
            </a:solidFill>
            <a:prstDash val="dash"/>
            <a:round/>
            <a:tailEnd len="lg" type="arrow" w="lg"/>
          </a:ln>
        </p:spPr>
      </p:cxnSp>
      <p:sp>
        <p:nvSpPr>
          <p:cNvPr id="290" name="Shape"/>
          <p:cNvSpPr/>
          <p:nvPr/>
        </p:nvSpPr>
        <p:spPr>
          <a:xfrm>
            <a:off x="3749040" y="5083920"/>
            <a:ext cx="731160" cy="32868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HTTP</a:t>
            </a:r>
            <a:endParaRPr lang="en-IN" sz="1000" b="0" u="none" strike="noStrike">
              <a:solidFill>
                <a:srgbClr val="FFFFFF"/>
              </a:solidFill>
              <a:effectLst/>
              <a:uFillTx/>
              <a:latin typeface="Arial"/>
            </a:endParaRPr>
          </a:p>
          <a:p>
            <a:pPr algn="ctr" defTabSz="914400">
              <a:lnSpc>
                <a:spcPct val="100000"/>
              </a:lnSpc>
              <a:tabLst>
                <a:tab pos="0" algn="l"/>
              </a:tabLst>
            </a:pPr>
            <a:r>
              <a:rPr lang="en-US" sz="1000" b="0" u="none" strike="noStrike">
                <a:solidFill>
                  <a:srgbClr val="F7F1E3"/>
                </a:solidFill>
                <a:effectLst/>
                <a:uFillTx/>
                <a:latin typeface="Calibri"/>
              </a:rPr>
              <a:t>JSON</a:t>
            </a:r>
            <a:endParaRPr lang="en-IN" sz="1000" b="0" u="none" strike="noStrike">
              <a:solidFill>
                <a:srgbClr val="FFFFFF"/>
              </a:solidFill>
              <a:effectLst/>
              <a:uFillTx/>
              <a:latin typeface="Arial"/>
            </a:endParaRPr>
          </a:p>
        </p:txBody>
      </p:sp>
      <p:cxnSp>
        <p:nvCxnSpPr>
          <p:cNvPr id="291" name="Relation"/>
          <p:cNvCxnSpPr/>
          <p:nvPr/>
        </p:nvCxnSpPr>
        <p:spPr>
          <a:xfrm>
            <a:off x="7680960" y="5495400"/>
            <a:ext cx="731880" cy="360"/>
          </a:xfrm>
          <a:prstGeom prst="straightConnector1">
            <a:avLst/>
          </a:prstGeom>
          <a:ln w="19050">
            <a:solidFill>
              <a:srgbClr val="F28C28"/>
            </a:solidFill>
            <a:prstDash val="dash"/>
            <a:round/>
            <a:tailEnd len="lg" type="arrow" w="lg"/>
          </a:ln>
        </p:spPr>
      </p:cxnSp>
      <p:sp>
        <p:nvSpPr>
          <p:cNvPr id="292" name="Shape"/>
          <p:cNvSpPr/>
          <p:nvPr/>
        </p:nvSpPr>
        <p:spPr>
          <a:xfrm>
            <a:off x="7680960" y="5083920"/>
            <a:ext cx="731160" cy="328680"/>
          </a:xfrm>
          <a:prstGeom prst="rect">
            <a:avLst/>
          </a:prstGeom>
          <a:noFill/>
          <a:ln w="0">
            <a:noFill/>
          </a:ln>
        </p:spPr>
        <p:style>
          <a:lnRef idx="0"/>
          <a:fillRef idx="0"/>
          <a:effectRef idx="0"/>
          <a:fontRef idx="minor"/>
        </p:style>
        <p:txBody>
          <a:bodyPr lIns="0" rIns="0" bIns="0" anchor="ctr">
            <a:noAutofit/>
          </a:bodyPr>
          <a:p>
            <a:pPr algn="ctr" defTabSz="914400">
              <a:lnSpc>
                <a:spcPct val="100000"/>
              </a:lnSpc>
              <a:tabLst>
                <a:tab pos="0" algn="l"/>
              </a:tabLst>
            </a:pPr>
            <a:r>
              <a:rPr lang="en-US" sz="1000" b="0" u="none" strike="noStrike">
                <a:solidFill>
                  <a:srgbClr val="F7F1E3"/>
                </a:solidFill>
                <a:effectLst/>
                <a:uFillTx/>
                <a:latin typeface="Calibri"/>
              </a:rPr>
              <a:t>optionally</a:t>
            </a:r>
            <a:endParaRPr lang="en-IN" sz="1000" b="0" u="none" strike="noStrike">
              <a:solidFill>
                <a:srgbClr val="FFFFFF"/>
              </a:solidFill>
              <a:effectLst/>
              <a:uFillTx/>
              <a:latin typeface="Arial"/>
            </a:endParaRPr>
          </a:p>
          <a:p>
            <a:pPr algn="ctr" defTabSz="914400">
              <a:lnSpc>
                <a:spcPct val="100000"/>
              </a:lnSpc>
              <a:tabLst>
                <a:tab pos="0" algn="l"/>
              </a:tabLst>
            </a:pPr>
            <a:r>
              <a:rPr lang="en-US" sz="1000" b="0" u="none" strike="noStrike">
                <a:solidFill>
                  <a:srgbClr val="F7F1E3"/>
                </a:solidFill>
                <a:effectLst/>
                <a:uFillTx/>
                <a:latin typeface="Calibri"/>
              </a:rPr>
              <a:t>saves</a:t>
            </a:r>
            <a:endParaRPr lang="en-IN" sz="1000" b="0" u="none" strike="noStrike">
              <a:solidFill>
                <a:srgbClr val="FFFFFF"/>
              </a:solidFill>
              <a:effectLst/>
              <a:uFillTx/>
              <a:latin typeface="Arial"/>
            </a:endParaRPr>
          </a:p>
        </p:txBody>
      </p:sp>
      <p:sp>
        <p:nvSpPr>
          <p:cNvPr id="293" name="Text 54"/>
          <p:cNvSpPr/>
          <p:nvPr/>
        </p:nvSpPr>
        <p:spPr>
          <a:xfrm>
            <a:off x="548640" y="6035040"/>
            <a:ext cx="110638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i="1" u="none" strike="noStrike">
                <a:solidFill>
                  <a:srgbClr val="F7F1E3"/>
                </a:solidFill>
                <a:effectLst/>
                <a:uFillTx/>
                <a:latin typeface="Calibri"/>
                <a:ea typeface="Calibri"/>
              </a:rPr>
              <a:t>Classes follow the specification document.</a:t>
            </a:r>
            <a:endParaRPr lang="en-IN"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294"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Activity Diagram, Simulation Run</a:t>
            </a:r>
            <a:endParaRPr lang="en-IN" sz="3000" b="0" u="none" strike="noStrike">
              <a:solidFill>
                <a:srgbClr val="000000"/>
              </a:solidFill>
              <a:effectLst/>
              <a:uFillTx/>
              <a:latin typeface="Arial"/>
            </a:endParaRPr>
          </a:p>
        </p:txBody>
      </p:sp>
      <p:sp>
        <p:nvSpPr>
          <p:cNvPr id="295"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15</a:t>
            </a:r>
            <a:endParaRPr lang="en-IN" sz="1100" b="0" u="none" strike="noStrike">
              <a:solidFill>
                <a:srgbClr val="000000"/>
              </a:solidFill>
              <a:effectLst/>
              <a:uFillTx/>
              <a:latin typeface="Arial"/>
            </a:endParaRPr>
          </a:p>
        </p:txBody>
      </p:sp>
      <p:sp>
        <p:nvSpPr>
          <p:cNvPr id="296" name="Node A"/>
          <p:cNvSpPr/>
          <p:nvPr/>
        </p:nvSpPr>
        <p:spPr>
          <a:xfrm>
            <a:off x="339840" y="1149840"/>
            <a:ext cx="719640" cy="419760"/>
          </a:xfrm>
          <a:prstGeom prst="ellipse">
            <a:avLst/>
          </a:prstGeom>
          <a:solidFill>
            <a:srgbClr val="F28C28"/>
          </a:solidFill>
          <a:ln w="15875">
            <a:solidFill>
              <a:srgbClr val="F28C28"/>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900" b="1" u="none" strike="noStrike">
                <a:solidFill>
                  <a:srgbClr val="FFFFFF"/>
                </a:solidFill>
                <a:effectLst/>
                <a:uFillTx/>
                <a:latin typeface="Calibri"/>
                <a:ea typeface="Calibri"/>
              </a:rPr>
              <a:t>Start</a:t>
            </a:r>
            <a:endParaRPr lang="en-IN" sz="900" b="0" u="none" strike="noStrike">
              <a:solidFill>
                <a:srgbClr val="000000"/>
              </a:solidFill>
              <a:effectLst/>
              <a:uFillTx/>
              <a:latin typeface="Arial"/>
            </a:endParaRPr>
          </a:p>
        </p:txBody>
      </p:sp>
      <p:sp>
        <p:nvSpPr>
          <p:cNvPr id="297" name="Node B"/>
          <p:cNvSpPr/>
          <p:nvPr/>
        </p:nvSpPr>
        <p:spPr>
          <a:xfrm>
            <a:off x="1275120" y="1080000"/>
            <a:ext cx="114948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Configure machine groups, adjusters, duration, seed</a:t>
            </a:r>
            <a:endParaRPr lang="en-IN" sz="850" b="0" u="none" strike="noStrike">
              <a:solidFill>
                <a:srgbClr val="000000"/>
              </a:solidFill>
              <a:effectLst/>
              <a:uFillTx/>
              <a:latin typeface="Arial"/>
            </a:endParaRPr>
          </a:p>
        </p:txBody>
      </p:sp>
      <p:sp>
        <p:nvSpPr>
          <p:cNvPr id="298" name="Node C"/>
          <p:cNvSpPr/>
          <p:nvPr/>
        </p:nvSpPr>
        <p:spPr>
          <a:xfrm>
            <a:off x="2625120" y="1080000"/>
            <a:ext cx="94968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Submit scenario</a:t>
            </a:r>
            <a:endParaRPr lang="en-IN" sz="850" b="0" u="none" strike="noStrike">
              <a:solidFill>
                <a:srgbClr val="000000"/>
              </a:solidFill>
              <a:effectLst/>
              <a:uFillTx/>
              <a:latin typeface="Arial"/>
            </a:endParaRPr>
          </a:p>
        </p:txBody>
      </p:sp>
      <p:sp>
        <p:nvSpPr>
          <p:cNvPr id="299" name="Node D"/>
          <p:cNvSpPr/>
          <p:nvPr/>
        </p:nvSpPr>
        <p:spPr>
          <a:xfrm>
            <a:off x="3849840" y="960120"/>
            <a:ext cx="1499760" cy="79956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00" name="Text D"/>
          <p:cNvSpPr/>
          <p:nvPr/>
        </p:nvSpPr>
        <p:spPr>
          <a:xfrm>
            <a:off x="3954960" y="1119960"/>
            <a:ext cx="1289520" cy="47952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850" b="1" u="none" strike="noStrike">
                <a:solidFill>
                  <a:srgbClr val="14213D"/>
                </a:solidFill>
                <a:effectLst/>
                <a:uFillTx/>
                <a:latin typeface="Calibri"/>
                <a:ea typeface="Calibri"/>
              </a:rPr>
              <a:t>Request valid?</a:t>
            </a:r>
            <a:endParaRPr lang="en-IN" sz="850" b="0" u="none" strike="noStrike">
              <a:solidFill>
                <a:srgbClr val="000000"/>
              </a:solidFill>
              <a:effectLst/>
              <a:uFillTx/>
              <a:latin typeface="Arial"/>
            </a:endParaRPr>
          </a:p>
        </p:txBody>
      </p:sp>
      <p:sp>
        <p:nvSpPr>
          <p:cNvPr id="301" name="Node F"/>
          <p:cNvSpPr/>
          <p:nvPr/>
        </p:nvSpPr>
        <p:spPr>
          <a:xfrm>
            <a:off x="7149960" y="1080000"/>
            <a:ext cx="129960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Build machines, adjusters, failure</a:t>
            </a:r>
            <a:endParaRPr lang="en-IN" sz="850" b="0" u="none" strike="noStrike">
              <a:solidFill>
                <a:srgbClr val="000000"/>
              </a:solidFill>
              <a:effectLst/>
              <a:uFillTx/>
              <a:latin typeface="Arial"/>
            </a:endParaRPr>
          </a:p>
        </p:txBody>
      </p:sp>
      <p:sp>
        <p:nvSpPr>
          <p:cNvPr id="302" name="Node E"/>
          <p:cNvSpPr/>
          <p:nvPr/>
        </p:nvSpPr>
        <p:spPr>
          <a:xfrm>
            <a:off x="2599920" y="3080160"/>
            <a:ext cx="119952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Return validation error</a:t>
            </a:r>
            <a:endParaRPr lang="en-IN" sz="850" b="0" u="none" strike="noStrike">
              <a:solidFill>
                <a:srgbClr val="000000"/>
              </a:solidFill>
              <a:effectLst/>
              <a:uFillTx/>
              <a:latin typeface="Arial"/>
            </a:endParaRPr>
          </a:p>
        </p:txBody>
      </p:sp>
      <p:sp>
        <p:nvSpPr>
          <p:cNvPr id="303" name="Node Z"/>
          <p:cNvSpPr/>
          <p:nvPr/>
        </p:nvSpPr>
        <p:spPr>
          <a:xfrm>
            <a:off x="2800080" y="4089960"/>
            <a:ext cx="799560" cy="419760"/>
          </a:xfrm>
          <a:prstGeom prst="ellipse">
            <a:avLst/>
          </a:prstGeom>
          <a:solidFill>
            <a:srgbClr val="F28C28"/>
          </a:solidFill>
          <a:ln w="15875">
            <a:solidFill>
              <a:srgbClr val="F28C28"/>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900" b="1" u="none" strike="noStrike">
                <a:solidFill>
                  <a:srgbClr val="FFFFFF"/>
                </a:solidFill>
                <a:effectLst/>
                <a:uFillTx/>
                <a:latin typeface="Calibri"/>
                <a:ea typeface="Calibri"/>
              </a:rPr>
              <a:t>End</a:t>
            </a:r>
            <a:endParaRPr lang="en-IN" sz="900" b="0" u="none" strike="noStrike">
              <a:solidFill>
                <a:srgbClr val="000000"/>
              </a:solidFill>
              <a:effectLst/>
              <a:uFillTx/>
              <a:latin typeface="Arial"/>
            </a:endParaRPr>
          </a:p>
        </p:txBody>
      </p:sp>
      <p:sp>
        <p:nvSpPr>
          <p:cNvPr id="304" name="Node G"/>
          <p:cNvSpPr/>
          <p:nvPr/>
        </p:nvSpPr>
        <p:spPr>
          <a:xfrm>
            <a:off x="7049880" y="1900080"/>
            <a:ext cx="1499760" cy="79956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05" name="Text G"/>
          <p:cNvSpPr/>
          <p:nvPr/>
        </p:nvSpPr>
        <p:spPr>
          <a:xfrm>
            <a:off x="7155000" y="2059920"/>
            <a:ext cx="1289520" cy="47952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850" b="1" u="none" strike="noStrike">
                <a:solidFill>
                  <a:srgbClr val="14213D"/>
                </a:solidFill>
                <a:effectLst/>
                <a:uFillTx/>
                <a:latin typeface="Calibri"/>
                <a:ea typeface="Calibri"/>
              </a:rPr>
              <a:t>Next event within</a:t>
            </a:r>
            <a:endParaRPr lang="en-IN" sz="850" b="0" u="none" strike="noStrike">
              <a:solidFill>
                <a:srgbClr val="000000"/>
              </a:solidFill>
              <a:effectLst/>
              <a:uFillTx/>
              <a:latin typeface="Arial"/>
            </a:endParaRPr>
          </a:p>
          <a:p>
            <a:pPr algn="ctr" defTabSz="914400">
              <a:lnSpc>
                <a:spcPct val="100000"/>
              </a:lnSpc>
              <a:tabLst>
                <a:tab pos="0" algn="l"/>
              </a:tabLst>
            </a:pPr>
            <a:r>
              <a:rPr lang="en-US" sz="850" b="1" u="none" strike="noStrike">
                <a:solidFill>
                  <a:srgbClr val="14213D"/>
                </a:solidFill>
                <a:effectLst/>
                <a:uFillTx/>
                <a:latin typeface="Calibri"/>
                <a:ea typeface="Calibri"/>
              </a:rPr>
              <a:t>duration?</a:t>
            </a:r>
            <a:endParaRPr lang="en-IN" sz="850" b="0" u="none" strike="noStrike">
              <a:solidFill>
                <a:srgbClr val="000000"/>
              </a:solidFill>
              <a:effectLst/>
              <a:uFillTx/>
              <a:latin typeface="Arial"/>
            </a:endParaRPr>
          </a:p>
        </p:txBody>
      </p:sp>
      <p:sp>
        <p:nvSpPr>
          <p:cNvPr id="306" name="Node H"/>
          <p:cNvSpPr/>
          <p:nvPr/>
        </p:nvSpPr>
        <p:spPr>
          <a:xfrm>
            <a:off x="10374840" y="2019960"/>
            <a:ext cx="114948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Compute utilization, failures, waiting, downtime</a:t>
            </a:r>
            <a:endParaRPr lang="en-IN" sz="850" b="0" u="none" strike="noStrike">
              <a:solidFill>
                <a:srgbClr val="000000"/>
              </a:solidFill>
              <a:effectLst/>
              <a:uFillTx/>
              <a:latin typeface="Arial"/>
            </a:endParaRPr>
          </a:p>
        </p:txBody>
      </p:sp>
      <p:sp>
        <p:nvSpPr>
          <p:cNvPr id="307" name="Node I"/>
          <p:cNvSpPr/>
          <p:nvPr/>
        </p:nvSpPr>
        <p:spPr>
          <a:xfrm>
            <a:off x="10249920" y="2959920"/>
            <a:ext cx="1399680" cy="79956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08" name="Text I"/>
          <p:cNvSpPr/>
          <p:nvPr/>
        </p:nvSpPr>
        <p:spPr>
          <a:xfrm>
            <a:off x="10347840" y="3120120"/>
            <a:ext cx="1203480" cy="47952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850" b="1" u="none" strike="noStrike">
                <a:solidFill>
                  <a:srgbClr val="14213D"/>
                </a:solidFill>
                <a:effectLst/>
                <a:uFillTx/>
                <a:latin typeface="Calibri"/>
                <a:ea typeface="Calibri"/>
              </a:rPr>
              <a:t>Save requested?</a:t>
            </a:r>
            <a:endParaRPr lang="en-IN" sz="850" b="0" u="none" strike="noStrike">
              <a:solidFill>
                <a:srgbClr val="000000"/>
              </a:solidFill>
              <a:effectLst/>
              <a:uFillTx/>
              <a:latin typeface="Arial"/>
            </a:endParaRPr>
          </a:p>
        </p:txBody>
      </p:sp>
      <p:sp>
        <p:nvSpPr>
          <p:cNvPr id="309" name="Node K"/>
          <p:cNvSpPr/>
          <p:nvPr/>
        </p:nvSpPr>
        <p:spPr>
          <a:xfrm>
            <a:off x="10374840" y="4020120"/>
            <a:ext cx="114948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Attempt MongoDB persistence</a:t>
            </a:r>
            <a:endParaRPr lang="en-IN" sz="850" b="0" u="none" strike="noStrike">
              <a:solidFill>
                <a:srgbClr val="000000"/>
              </a:solidFill>
              <a:effectLst/>
              <a:uFillTx/>
              <a:latin typeface="Arial"/>
            </a:endParaRPr>
          </a:p>
        </p:txBody>
      </p:sp>
      <p:sp>
        <p:nvSpPr>
          <p:cNvPr id="310" name="Node L"/>
          <p:cNvSpPr/>
          <p:nvPr/>
        </p:nvSpPr>
        <p:spPr>
          <a:xfrm>
            <a:off x="10374840" y="4939920"/>
            <a:ext cx="114948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Attach persistence warning if save fails</a:t>
            </a:r>
            <a:endParaRPr lang="en-IN" sz="850" b="0" u="none" strike="noStrike">
              <a:solidFill>
                <a:srgbClr val="000000"/>
              </a:solidFill>
              <a:effectLst/>
              <a:uFillTx/>
              <a:latin typeface="Arial"/>
            </a:endParaRPr>
          </a:p>
        </p:txBody>
      </p:sp>
      <p:sp>
        <p:nvSpPr>
          <p:cNvPr id="311" name="Node J"/>
          <p:cNvSpPr/>
          <p:nvPr/>
        </p:nvSpPr>
        <p:spPr>
          <a:xfrm>
            <a:off x="10374840" y="5720040"/>
            <a:ext cx="114948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Return results</a:t>
            </a:r>
            <a:endParaRPr lang="en-IN" sz="850" b="0" u="none" strike="noStrike">
              <a:solidFill>
                <a:srgbClr val="000000"/>
              </a:solidFill>
              <a:effectLst/>
              <a:uFillTx/>
              <a:latin typeface="Arial"/>
            </a:endParaRPr>
          </a:p>
        </p:txBody>
      </p:sp>
      <p:sp>
        <p:nvSpPr>
          <p:cNvPr id="312" name="Node M"/>
          <p:cNvSpPr/>
          <p:nvPr/>
        </p:nvSpPr>
        <p:spPr>
          <a:xfrm>
            <a:off x="7049880" y="2959920"/>
            <a:ext cx="1499760" cy="79956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13" name="Text M"/>
          <p:cNvSpPr/>
          <p:nvPr/>
        </p:nvSpPr>
        <p:spPr>
          <a:xfrm>
            <a:off x="7155000" y="3120120"/>
            <a:ext cx="1289520" cy="47952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850" b="1" u="none" strike="noStrike">
                <a:solidFill>
                  <a:srgbClr val="14213D"/>
                </a:solidFill>
                <a:effectLst/>
                <a:uFillTx/>
                <a:latin typeface="Calibri"/>
                <a:ea typeface="Calibri"/>
              </a:rPr>
              <a:t>Event type</a:t>
            </a:r>
            <a:endParaRPr lang="en-IN" sz="850" b="0" u="none" strike="noStrike">
              <a:solidFill>
                <a:srgbClr val="000000"/>
              </a:solidFill>
              <a:effectLst/>
              <a:uFillTx/>
              <a:latin typeface="Arial"/>
            </a:endParaRPr>
          </a:p>
        </p:txBody>
      </p:sp>
      <p:sp>
        <p:nvSpPr>
          <p:cNvPr id="314" name="Node Nn"/>
          <p:cNvSpPr/>
          <p:nvPr/>
        </p:nvSpPr>
        <p:spPr>
          <a:xfrm>
            <a:off x="5349960" y="3080160"/>
            <a:ext cx="119952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Stop machine running interval; increment failures</a:t>
            </a:r>
            <a:endParaRPr lang="en-IN" sz="850" b="0" u="none" strike="noStrike">
              <a:solidFill>
                <a:srgbClr val="000000"/>
              </a:solidFill>
              <a:effectLst/>
              <a:uFillTx/>
              <a:latin typeface="Arial"/>
            </a:endParaRPr>
          </a:p>
        </p:txBody>
      </p:sp>
      <p:sp>
        <p:nvSpPr>
          <p:cNvPr id="315" name="Node O"/>
          <p:cNvSpPr/>
          <p:nvPr/>
        </p:nvSpPr>
        <p:spPr>
          <a:xfrm>
            <a:off x="5199840" y="3899880"/>
            <a:ext cx="1499760" cy="79956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16" name="Text O"/>
          <p:cNvSpPr/>
          <p:nvPr/>
        </p:nvSpPr>
        <p:spPr>
          <a:xfrm>
            <a:off x="5304960" y="4060080"/>
            <a:ext cx="1289520" cy="47952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850" b="1" u="none" strike="noStrike">
                <a:solidFill>
                  <a:srgbClr val="14213D"/>
                </a:solidFill>
                <a:effectLst/>
                <a:uFillTx/>
                <a:latin typeface="Calibri"/>
                <a:ea typeface="Calibri"/>
              </a:rPr>
              <a:t>Compatible idle</a:t>
            </a:r>
            <a:endParaRPr lang="en-IN" sz="850" b="0" u="none" strike="noStrike">
              <a:solidFill>
                <a:srgbClr val="000000"/>
              </a:solidFill>
              <a:effectLst/>
              <a:uFillTx/>
              <a:latin typeface="Arial"/>
            </a:endParaRPr>
          </a:p>
          <a:p>
            <a:pPr algn="ctr" defTabSz="914400">
              <a:lnSpc>
                <a:spcPct val="100000"/>
              </a:lnSpc>
              <a:tabLst>
                <a:tab pos="0" algn="l"/>
              </a:tabLst>
            </a:pPr>
            <a:r>
              <a:rPr lang="en-US" sz="850" b="1" u="none" strike="noStrike">
                <a:solidFill>
                  <a:srgbClr val="14213D"/>
                </a:solidFill>
                <a:effectLst/>
                <a:uFillTx/>
                <a:latin typeface="Calibri"/>
                <a:ea typeface="Calibri"/>
              </a:rPr>
              <a:t>adjuster?</a:t>
            </a:r>
            <a:endParaRPr lang="en-IN" sz="850" b="0" u="none" strike="noStrike">
              <a:solidFill>
                <a:srgbClr val="000000"/>
              </a:solidFill>
              <a:effectLst/>
              <a:uFillTx/>
              <a:latin typeface="Arial"/>
            </a:endParaRPr>
          </a:p>
        </p:txBody>
      </p:sp>
      <p:sp>
        <p:nvSpPr>
          <p:cNvPr id="317" name="Node P"/>
          <p:cNvSpPr/>
          <p:nvPr/>
        </p:nvSpPr>
        <p:spPr>
          <a:xfrm>
            <a:off x="5349960" y="4939920"/>
            <a:ext cx="119952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Select least-skilled eligible adjuster; begin repair</a:t>
            </a:r>
            <a:endParaRPr lang="en-IN" sz="850" b="0" u="none" strike="noStrike">
              <a:solidFill>
                <a:srgbClr val="000000"/>
              </a:solidFill>
              <a:effectLst/>
              <a:uFillTx/>
              <a:latin typeface="Arial"/>
            </a:endParaRPr>
          </a:p>
        </p:txBody>
      </p:sp>
      <p:sp>
        <p:nvSpPr>
          <p:cNvPr id="318" name="Node Q"/>
          <p:cNvSpPr/>
          <p:nvPr/>
        </p:nvSpPr>
        <p:spPr>
          <a:xfrm>
            <a:off x="7200000" y="4939920"/>
            <a:ext cx="119952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Mark machine WAITING; enqueue</a:t>
            </a:r>
            <a:endParaRPr lang="en-IN" sz="850" b="0" u="none" strike="noStrike">
              <a:solidFill>
                <a:srgbClr val="000000"/>
              </a:solidFill>
              <a:effectLst/>
              <a:uFillTx/>
              <a:latin typeface="Arial"/>
            </a:endParaRPr>
          </a:p>
        </p:txBody>
      </p:sp>
      <p:sp>
        <p:nvSpPr>
          <p:cNvPr id="319" name="Node R"/>
          <p:cNvSpPr/>
          <p:nvPr/>
        </p:nvSpPr>
        <p:spPr>
          <a:xfrm>
            <a:off x="9050040" y="3080160"/>
            <a:ext cx="104976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End repair; free adjuster; resume machine</a:t>
            </a:r>
            <a:endParaRPr lang="en-IN" sz="850" b="0" u="none" strike="noStrike">
              <a:solidFill>
                <a:srgbClr val="000000"/>
              </a:solidFill>
              <a:effectLst/>
              <a:uFillTx/>
              <a:latin typeface="Arial"/>
            </a:endParaRPr>
          </a:p>
        </p:txBody>
      </p:sp>
      <p:sp>
        <p:nvSpPr>
          <p:cNvPr id="320" name="Node S"/>
          <p:cNvSpPr/>
          <p:nvPr/>
        </p:nvSpPr>
        <p:spPr>
          <a:xfrm>
            <a:off x="9050040" y="4020120"/>
            <a:ext cx="104976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Schedule next failure</a:t>
            </a:r>
            <a:endParaRPr lang="en-IN" sz="850" b="0" u="none" strike="noStrike">
              <a:solidFill>
                <a:srgbClr val="000000"/>
              </a:solidFill>
              <a:effectLst/>
              <a:uFillTx/>
              <a:latin typeface="Arial"/>
            </a:endParaRPr>
          </a:p>
        </p:txBody>
      </p:sp>
      <p:sp>
        <p:nvSpPr>
          <p:cNvPr id="321" name="Node T"/>
          <p:cNvSpPr/>
          <p:nvPr/>
        </p:nvSpPr>
        <p:spPr>
          <a:xfrm>
            <a:off x="9050040" y="4939920"/>
            <a:ext cx="1049760" cy="559800"/>
          </a:xfrm>
          <a:prstGeom prst="roundRect">
            <a:avLst>
              <a:gd name="adj" fmla="val 10000"/>
            </a:avLst>
          </a:prstGeom>
          <a:solidFill>
            <a:srgbClr val="FFFFFF"/>
          </a:solidFill>
          <a:ln w="15875">
            <a:solidFill>
              <a:srgbClr val="E3D9BF"/>
            </a:solidFill>
            <a:round/>
          </a:ln>
        </p:spPr>
        <p:style>
          <a:lnRef idx="0"/>
          <a:fillRef idx="0"/>
          <a:effectRef idx="0"/>
          <a:fontRef idx="minor"/>
        </p:style>
        <p:txBody>
          <a:bodyPr lIns="36000" tIns="18000" rIns="36000" bIns="18000" anchor="ctr">
            <a:noAutofit/>
          </a:bodyPr>
          <a:p>
            <a:pPr algn="ctr" defTabSz="914400">
              <a:lnSpc>
                <a:spcPct val="100000"/>
              </a:lnSpc>
              <a:tabLst>
                <a:tab pos="0" algn="l"/>
              </a:tabLst>
            </a:pPr>
            <a:r>
              <a:rPr lang="en-US" sz="850" b="0" u="none" strike="noStrike">
                <a:solidFill>
                  <a:srgbClr val="2B2B2B"/>
                </a:solidFill>
                <a:effectLst/>
                <a:uFillTx/>
                <a:latin typeface="Calibri"/>
                <a:ea typeface="Calibri"/>
              </a:rPr>
              <a:t>Dispatch compatible waiting work</a:t>
            </a:r>
            <a:endParaRPr lang="en-IN" sz="850" b="0" u="none" strike="noStrike">
              <a:solidFill>
                <a:srgbClr val="000000"/>
              </a:solidFill>
              <a:effectLst/>
              <a:uFillTx/>
              <a:latin typeface="Arial"/>
            </a:endParaRPr>
          </a:p>
        </p:txBody>
      </p:sp>
      <p:cxnSp>
        <p:nvCxnSpPr>
          <p:cNvPr id="322" name="Arrow"/>
          <p:cNvCxnSpPr/>
          <p:nvPr/>
        </p:nvCxnSpPr>
        <p:spPr>
          <a:xfrm>
            <a:off x="1059840" y="1359720"/>
            <a:ext cx="215280" cy="360"/>
          </a:xfrm>
          <a:prstGeom prst="straightConnector1">
            <a:avLst/>
          </a:prstGeom>
          <a:ln w="19050">
            <a:solidFill>
              <a:srgbClr val="F28C28"/>
            </a:solidFill>
            <a:round/>
            <a:tailEnd len="med" type="triangle" w="med"/>
          </a:ln>
        </p:spPr>
      </p:cxnSp>
      <p:cxnSp>
        <p:nvCxnSpPr>
          <p:cNvPr id="323" name="Arrow"/>
          <p:cNvCxnSpPr/>
          <p:nvPr/>
        </p:nvCxnSpPr>
        <p:spPr>
          <a:xfrm>
            <a:off x="2424960" y="1359720"/>
            <a:ext cx="200160" cy="360"/>
          </a:xfrm>
          <a:prstGeom prst="straightConnector1">
            <a:avLst/>
          </a:prstGeom>
          <a:ln w="19050">
            <a:solidFill>
              <a:srgbClr val="F28C28"/>
            </a:solidFill>
            <a:round/>
            <a:tailEnd len="med" type="triangle" w="med"/>
          </a:ln>
        </p:spPr>
      </p:cxnSp>
      <p:cxnSp>
        <p:nvCxnSpPr>
          <p:cNvPr id="324" name="Arrow"/>
          <p:cNvCxnSpPr/>
          <p:nvPr/>
        </p:nvCxnSpPr>
        <p:spPr>
          <a:xfrm>
            <a:off x="3574800" y="1359720"/>
            <a:ext cx="275400" cy="360"/>
          </a:xfrm>
          <a:prstGeom prst="straightConnector1">
            <a:avLst/>
          </a:prstGeom>
          <a:ln w="19050">
            <a:solidFill>
              <a:srgbClr val="F28C28"/>
            </a:solidFill>
            <a:round/>
            <a:tailEnd len="med" type="triangle" w="med"/>
          </a:ln>
        </p:spPr>
      </p:cxnSp>
      <p:cxnSp>
        <p:nvCxnSpPr>
          <p:cNvPr id="325" name="Arrow"/>
          <p:cNvCxnSpPr/>
          <p:nvPr/>
        </p:nvCxnSpPr>
        <p:spPr>
          <a:xfrm>
            <a:off x="4599720" y="1759680"/>
            <a:ext cx="360" cy="1600560"/>
          </a:xfrm>
          <a:prstGeom prst="straightConnector1">
            <a:avLst/>
          </a:prstGeom>
          <a:ln w="19050">
            <a:solidFill>
              <a:srgbClr val="F28C28"/>
            </a:solidFill>
            <a:round/>
          </a:ln>
        </p:spPr>
      </p:cxnSp>
      <p:cxnSp>
        <p:nvCxnSpPr>
          <p:cNvPr id="326" name="Arrow"/>
          <p:cNvCxnSpPr/>
          <p:nvPr/>
        </p:nvCxnSpPr>
        <p:spPr>
          <a:xfrm flipH="1">
            <a:off x="3799800" y="3359880"/>
            <a:ext cx="800280" cy="360"/>
          </a:xfrm>
          <a:prstGeom prst="straightConnector1">
            <a:avLst/>
          </a:prstGeom>
          <a:ln w="19050">
            <a:solidFill>
              <a:srgbClr val="F28C28"/>
            </a:solidFill>
            <a:round/>
            <a:tailEnd len="med" type="triangle" w="med"/>
          </a:ln>
        </p:spPr>
      </p:cxnSp>
      <p:cxnSp>
        <p:nvCxnSpPr>
          <p:cNvPr id="327" name="Arrow"/>
          <p:cNvCxnSpPr/>
          <p:nvPr/>
        </p:nvCxnSpPr>
        <p:spPr>
          <a:xfrm>
            <a:off x="3199680" y="3639960"/>
            <a:ext cx="360" cy="450360"/>
          </a:xfrm>
          <a:prstGeom prst="straightConnector1">
            <a:avLst/>
          </a:prstGeom>
          <a:ln w="19050">
            <a:solidFill>
              <a:srgbClr val="F28C28"/>
            </a:solidFill>
            <a:round/>
            <a:tailEnd len="med" type="triangle" w="med"/>
          </a:ln>
        </p:spPr>
      </p:cxnSp>
      <p:cxnSp>
        <p:nvCxnSpPr>
          <p:cNvPr id="328" name="Arrow"/>
          <p:cNvCxnSpPr/>
          <p:nvPr/>
        </p:nvCxnSpPr>
        <p:spPr>
          <a:xfrm>
            <a:off x="5349960" y="1359720"/>
            <a:ext cx="1800360" cy="360"/>
          </a:xfrm>
          <a:prstGeom prst="straightConnector1">
            <a:avLst/>
          </a:prstGeom>
          <a:ln w="19050">
            <a:solidFill>
              <a:srgbClr val="F28C28"/>
            </a:solidFill>
            <a:round/>
            <a:tailEnd len="med" type="triangle" w="med"/>
          </a:ln>
        </p:spPr>
      </p:cxnSp>
      <p:cxnSp>
        <p:nvCxnSpPr>
          <p:cNvPr id="329" name="Arrow"/>
          <p:cNvCxnSpPr/>
          <p:nvPr/>
        </p:nvCxnSpPr>
        <p:spPr>
          <a:xfrm>
            <a:off x="7799760" y="1639800"/>
            <a:ext cx="360" cy="260280"/>
          </a:xfrm>
          <a:prstGeom prst="straightConnector1">
            <a:avLst/>
          </a:prstGeom>
          <a:ln w="19050">
            <a:solidFill>
              <a:srgbClr val="F28C28"/>
            </a:solidFill>
            <a:round/>
            <a:tailEnd len="med" type="triangle" w="med"/>
          </a:ln>
        </p:spPr>
      </p:cxnSp>
      <p:cxnSp>
        <p:nvCxnSpPr>
          <p:cNvPr id="330" name="Arrow"/>
          <p:cNvCxnSpPr/>
          <p:nvPr/>
        </p:nvCxnSpPr>
        <p:spPr>
          <a:xfrm>
            <a:off x="8550000" y="2299680"/>
            <a:ext cx="1825200" cy="360"/>
          </a:xfrm>
          <a:prstGeom prst="straightConnector1">
            <a:avLst/>
          </a:prstGeom>
          <a:ln w="19050">
            <a:solidFill>
              <a:srgbClr val="F28C28"/>
            </a:solidFill>
            <a:round/>
            <a:tailEnd len="med" type="triangle" w="med"/>
          </a:ln>
        </p:spPr>
      </p:cxnSp>
      <p:cxnSp>
        <p:nvCxnSpPr>
          <p:cNvPr id="331" name="Arrow"/>
          <p:cNvCxnSpPr/>
          <p:nvPr/>
        </p:nvCxnSpPr>
        <p:spPr>
          <a:xfrm>
            <a:off x="10949760" y="2579760"/>
            <a:ext cx="360" cy="380520"/>
          </a:xfrm>
          <a:prstGeom prst="straightConnector1">
            <a:avLst/>
          </a:prstGeom>
          <a:ln w="19050">
            <a:solidFill>
              <a:srgbClr val="F28C28"/>
            </a:solidFill>
            <a:round/>
            <a:tailEnd len="med" type="triangle" w="med"/>
          </a:ln>
        </p:spPr>
      </p:cxnSp>
      <p:cxnSp>
        <p:nvCxnSpPr>
          <p:cNvPr id="332" name="Arrow"/>
          <p:cNvCxnSpPr/>
          <p:nvPr/>
        </p:nvCxnSpPr>
        <p:spPr>
          <a:xfrm>
            <a:off x="11649960" y="3359880"/>
            <a:ext cx="250200" cy="360"/>
          </a:xfrm>
          <a:prstGeom prst="straightConnector1">
            <a:avLst/>
          </a:prstGeom>
          <a:ln w="19050">
            <a:solidFill>
              <a:srgbClr val="F28C28"/>
            </a:solidFill>
            <a:round/>
          </a:ln>
        </p:spPr>
      </p:cxnSp>
      <p:cxnSp>
        <p:nvCxnSpPr>
          <p:cNvPr id="333" name="Arrow"/>
          <p:cNvCxnSpPr/>
          <p:nvPr/>
        </p:nvCxnSpPr>
        <p:spPr>
          <a:xfrm>
            <a:off x="11899800" y="3359880"/>
            <a:ext cx="360" cy="2640240"/>
          </a:xfrm>
          <a:prstGeom prst="straightConnector1">
            <a:avLst/>
          </a:prstGeom>
          <a:ln w="19050">
            <a:solidFill>
              <a:srgbClr val="F28C28"/>
            </a:solidFill>
            <a:round/>
          </a:ln>
        </p:spPr>
      </p:cxnSp>
      <p:cxnSp>
        <p:nvCxnSpPr>
          <p:cNvPr id="334" name="Arrow"/>
          <p:cNvCxnSpPr/>
          <p:nvPr/>
        </p:nvCxnSpPr>
        <p:spPr>
          <a:xfrm flipH="1">
            <a:off x="11524680" y="5999760"/>
            <a:ext cx="375480" cy="360"/>
          </a:xfrm>
          <a:prstGeom prst="straightConnector1">
            <a:avLst/>
          </a:prstGeom>
          <a:ln w="19050">
            <a:solidFill>
              <a:srgbClr val="F28C28"/>
            </a:solidFill>
            <a:round/>
            <a:tailEnd len="med" type="triangle" w="med"/>
          </a:ln>
        </p:spPr>
      </p:cxnSp>
      <p:cxnSp>
        <p:nvCxnSpPr>
          <p:cNvPr id="335" name="Arrow"/>
          <p:cNvCxnSpPr/>
          <p:nvPr/>
        </p:nvCxnSpPr>
        <p:spPr>
          <a:xfrm>
            <a:off x="10949760" y="3759840"/>
            <a:ext cx="360" cy="260280"/>
          </a:xfrm>
          <a:prstGeom prst="straightConnector1">
            <a:avLst/>
          </a:prstGeom>
          <a:ln w="19050">
            <a:solidFill>
              <a:srgbClr val="F28C28"/>
            </a:solidFill>
            <a:round/>
            <a:tailEnd len="med" type="triangle" w="med"/>
          </a:ln>
        </p:spPr>
      </p:cxnSp>
      <p:cxnSp>
        <p:nvCxnSpPr>
          <p:cNvPr id="336" name="Arrow"/>
          <p:cNvCxnSpPr/>
          <p:nvPr/>
        </p:nvCxnSpPr>
        <p:spPr>
          <a:xfrm>
            <a:off x="10949760" y="4579920"/>
            <a:ext cx="360" cy="360360"/>
          </a:xfrm>
          <a:prstGeom prst="straightConnector1">
            <a:avLst/>
          </a:prstGeom>
          <a:ln w="19050">
            <a:solidFill>
              <a:srgbClr val="F28C28"/>
            </a:solidFill>
            <a:round/>
            <a:tailEnd len="med" type="triangle" w="med"/>
          </a:ln>
        </p:spPr>
      </p:cxnSp>
      <p:cxnSp>
        <p:nvCxnSpPr>
          <p:cNvPr id="337" name="Arrow"/>
          <p:cNvCxnSpPr/>
          <p:nvPr/>
        </p:nvCxnSpPr>
        <p:spPr>
          <a:xfrm>
            <a:off x="10949760" y="5499720"/>
            <a:ext cx="360" cy="220320"/>
          </a:xfrm>
          <a:prstGeom prst="straightConnector1">
            <a:avLst/>
          </a:prstGeom>
          <a:ln w="19050">
            <a:solidFill>
              <a:srgbClr val="F28C28"/>
            </a:solidFill>
            <a:round/>
            <a:tailEnd len="med" type="triangle" w="med"/>
          </a:ln>
        </p:spPr>
      </p:cxnSp>
      <p:cxnSp>
        <p:nvCxnSpPr>
          <p:cNvPr id="338" name="Arrow"/>
          <p:cNvCxnSpPr/>
          <p:nvPr/>
        </p:nvCxnSpPr>
        <p:spPr>
          <a:xfrm flipH="1">
            <a:off x="3199680" y="5999760"/>
            <a:ext cx="7175520" cy="360"/>
          </a:xfrm>
          <a:prstGeom prst="straightConnector1">
            <a:avLst/>
          </a:prstGeom>
          <a:ln w="19050">
            <a:solidFill>
              <a:srgbClr val="F28C28"/>
            </a:solidFill>
            <a:round/>
          </a:ln>
        </p:spPr>
      </p:cxnSp>
      <p:cxnSp>
        <p:nvCxnSpPr>
          <p:cNvPr id="339" name="Arrow"/>
          <p:cNvCxnSpPr/>
          <p:nvPr/>
        </p:nvCxnSpPr>
        <p:spPr>
          <a:xfrm flipV="1">
            <a:off x="3199680" y="4509720"/>
            <a:ext cx="360" cy="1490400"/>
          </a:xfrm>
          <a:prstGeom prst="straightConnector1">
            <a:avLst/>
          </a:prstGeom>
          <a:ln w="19050">
            <a:solidFill>
              <a:srgbClr val="F28C28"/>
            </a:solidFill>
            <a:round/>
            <a:tailEnd len="med" type="triangle" w="med"/>
          </a:ln>
        </p:spPr>
      </p:cxnSp>
      <p:cxnSp>
        <p:nvCxnSpPr>
          <p:cNvPr id="340" name="Arrow"/>
          <p:cNvCxnSpPr/>
          <p:nvPr/>
        </p:nvCxnSpPr>
        <p:spPr>
          <a:xfrm>
            <a:off x="7799760" y="2700000"/>
            <a:ext cx="360" cy="260280"/>
          </a:xfrm>
          <a:prstGeom prst="straightConnector1">
            <a:avLst/>
          </a:prstGeom>
          <a:ln w="19050">
            <a:solidFill>
              <a:srgbClr val="F28C28"/>
            </a:solidFill>
            <a:round/>
            <a:tailEnd len="med" type="triangle" w="med"/>
          </a:ln>
        </p:spPr>
      </p:cxnSp>
      <p:cxnSp>
        <p:nvCxnSpPr>
          <p:cNvPr id="341" name="Arrow"/>
          <p:cNvCxnSpPr/>
          <p:nvPr/>
        </p:nvCxnSpPr>
        <p:spPr>
          <a:xfrm flipH="1">
            <a:off x="6549840" y="3359880"/>
            <a:ext cx="500400" cy="360"/>
          </a:xfrm>
          <a:prstGeom prst="straightConnector1">
            <a:avLst/>
          </a:prstGeom>
          <a:ln w="19050">
            <a:solidFill>
              <a:srgbClr val="F28C28"/>
            </a:solidFill>
            <a:round/>
            <a:tailEnd len="med" type="triangle" w="med"/>
          </a:ln>
        </p:spPr>
      </p:cxnSp>
      <p:cxnSp>
        <p:nvCxnSpPr>
          <p:cNvPr id="342" name="Arrow"/>
          <p:cNvCxnSpPr/>
          <p:nvPr/>
        </p:nvCxnSpPr>
        <p:spPr>
          <a:xfrm>
            <a:off x="5949720" y="3639960"/>
            <a:ext cx="360" cy="260280"/>
          </a:xfrm>
          <a:prstGeom prst="straightConnector1">
            <a:avLst/>
          </a:prstGeom>
          <a:ln w="19050">
            <a:solidFill>
              <a:srgbClr val="F28C28"/>
            </a:solidFill>
            <a:round/>
            <a:tailEnd len="med" type="triangle" w="med"/>
          </a:ln>
        </p:spPr>
      </p:cxnSp>
      <p:cxnSp>
        <p:nvCxnSpPr>
          <p:cNvPr id="343" name="Arrow"/>
          <p:cNvCxnSpPr/>
          <p:nvPr/>
        </p:nvCxnSpPr>
        <p:spPr>
          <a:xfrm>
            <a:off x="5949720" y="4699800"/>
            <a:ext cx="360" cy="240480"/>
          </a:xfrm>
          <a:prstGeom prst="straightConnector1">
            <a:avLst/>
          </a:prstGeom>
          <a:ln w="19050">
            <a:solidFill>
              <a:srgbClr val="F28C28"/>
            </a:solidFill>
            <a:round/>
            <a:tailEnd len="med" type="triangle" w="med"/>
          </a:ln>
        </p:spPr>
      </p:cxnSp>
      <p:cxnSp>
        <p:nvCxnSpPr>
          <p:cNvPr id="344" name="Arrow"/>
          <p:cNvCxnSpPr/>
          <p:nvPr/>
        </p:nvCxnSpPr>
        <p:spPr>
          <a:xfrm>
            <a:off x="6699960" y="4299840"/>
            <a:ext cx="1100160" cy="360"/>
          </a:xfrm>
          <a:prstGeom prst="straightConnector1">
            <a:avLst/>
          </a:prstGeom>
          <a:ln w="19050">
            <a:solidFill>
              <a:srgbClr val="F28C28"/>
            </a:solidFill>
            <a:round/>
          </a:ln>
        </p:spPr>
      </p:cxnSp>
      <p:cxnSp>
        <p:nvCxnSpPr>
          <p:cNvPr id="345" name="Arrow"/>
          <p:cNvCxnSpPr/>
          <p:nvPr/>
        </p:nvCxnSpPr>
        <p:spPr>
          <a:xfrm>
            <a:off x="7799760" y="4299840"/>
            <a:ext cx="360" cy="640440"/>
          </a:xfrm>
          <a:prstGeom prst="straightConnector1">
            <a:avLst/>
          </a:prstGeom>
          <a:ln w="19050">
            <a:solidFill>
              <a:srgbClr val="F28C28"/>
            </a:solidFill>
            <a:round/>
            <a:tailEnd len="med" type="triangle" w="med"/>
          </a:ln>
        </p:spPr>
      </p:cxnSp>
      <p:cxnSp>
        <p:nvCxnSpPr>
          <p:cNvPr id="346" name="Arrow"/>
          <p:cNvCxnSpPr/>
          <p:nvPr/>
        </p:nvCxnSpPr>
        <p:spPr>
          <a:xfrm>
            <a:off x="8550000" y="3359880"/>
            <a:ext cx="500040" cy="360"/>
          </a:xfrm>
          <a:prstGeom prst="straightConnector1">
            <a:avLst/>
          </a:prstGeom>
          <a:ln w="19050">
            <a:solidFill>
              <a:srgbClr val="F28C28"/>
            </a:solidFill>
            <a:round/>
            <a:tailEnd len="med" type="triangle" w="med"/>
          </a:ln>
        </p:spPr>
      </p:cxnSp>
      <p:cxnSp>
        <p:nvCxnSpPr>
          <p:cNvPr id="347" name="Arrow"/>
          <p:cNvCxnSpPr/>
          <p:nvPr/>
        </p:nvCxnSpPr>
        <p:spPr>
          <a:xfrm>
            <a:off x="9574920" y="3639960"/>
            <a:ext cx="360" cy="380160"/>
          </a:xfrm>
          <a:prstGeom prst="straightConnector1">
            <a:avLst/>
          </a:prstGeom>
          <a:ln w="19050">
            <a:solidFill>
              <a:srgbClr val="F28C28"/>
            </a:solidFill>
            <a:round/>
            <a:tailEnd len="med" type="triangle" w="med"/>
          </a:ln>
        </p:spPr>
      </p:cxnSp>
      <p:cxnSp>
        <p:nvCxnSpPr>
          <p:cNvPr id="348" name="Arrow"/>
          <p:cNvCxnSpPr/>
          <p:nvPr/>
        </p:nvCxnSpPr>
        <p:spPr>
          <a:xfrm>
            <a:off x="9574920" y="4579920"/>
            <a:ext cx="360" cy="360360"/>
          </a:xfrm>
          <a:prstGeom prst="straightConnector1">
            <a:avLst/>
          </a:prstGeom>
          <a:ln w="19050">
            <a:solidFill>
              <a:srgbClr val="F28C28"/>
            </a:solidFill>
            <a:round/>
            <a:tailEnd len="med" type="triangle" w="med"/>
          </a:ln>
        </p:spPr>
      </p:cxnSp>
      <p:cxnSp>
        <p:nvCxnSpPr>
          <p:cNvPr id="349" name="Arrow"/>
          <p:cNvCxnSpPr/>
          <p:nvPr/>
        </p:nvCxnSpPr>
        <p:spPr>
          <a:xfrm>
            <a:off x="5949720" y="5499720"/>
            <a:ext cx="360" cy="200520"/>
          </a:xfrm>
          <a:prstGeom prst="straightConnector1">
            <a:avLst/>
          </a:prstGeom>
          <a:ln w="19050">
            <a:solidFill>
              <a:srgbClr val="F28C28"/>
            </a:solidFill>
            <a:round/>
          </a:ln>
        </p:spPr>
      </p:cxnSp>
      <p:cxnSp>
        <p:nvCxnSpPr>
          <p:cNvPr id="350" name="Arrow"/>
          <p:cNvCxnSpPr/>
          <p:nvPr/>
        </p:nvCxnSpPr>
        <p:spPr>
          <a:xfrm>
            <a:off x="7799760" y="5499720"/>
            <a:ext cx="360" cy="200520"/>
          </a:xfrm>
          <a:prstGeom prst="straightConnector1">
            <a:avLst/>
          </a:prstGeom>
          <a:ln w="19050">
            <a:solidFill>
              <a:srgbClr val="F28C28"/>
            </a:solidFill>
            <a:round/>
          </a:ln>
        </p:spPr>
      </p:cxnSp>
      <p:cxnSp>
        <p:nvCxnSpPr>
          <p:cNvPr id="351" name="Arrow"/>
          <p:cNvCxnSpPr/>
          <p:nvPr/>
        </p:nvCxnSpPr>
        <p:spPr>
          <a:xfrm>
            <a:off x="9574920" y="5499720"/>
            <a:ext cx="360" cy="200520"/>
          </a:xfrm>
          <a:prstGeom prst="straightConnector1">
            <a:avLst/>
          </a:prstGeom>
          <a:ln w="19050">
            <a:solidFill>
              <a:srgbClr val="F28C28"/>
            </a:solidFill>
            <a:round/>
          </a:ln>
        </p:spPr>
      </p:cxnSp>
      <p:cxnSp>
        <p:nvCxnSpPr>
          <p:cNvPr id="352" name="Arrow"/>
          <p:cNvCxnSpPr/>
          <p:nvPr/>
        </p:nvCxnSpPr>
        <p:spPr>
          <a:xfrm flipH="1">
            <a:off x="4899960" y="5699880"/>
            <a:ext cx="4675320" cy="360"/>
          </a:xfrm>
          <a:prstGeom prst="straightConnector1">
            <a:avLst/>
          </a:prstGeom>
          <a:ln w="19050">
            <a:solidFill>
              <a:srgbClr val="F28C28"/>
            </a:solidFill>
            <a:round/>
          </a:ln>
        </p:spPr>
      </p:cxnSp>
      <p:cxnSp>
        <p:nvCxnSpPr>
          <p:cNvPr id="353" name="Arrow"/>
          <p:cNvCxnSpPr/>
          <p:nvPr/>
        </p:nvCxnSpPr>
        <p:spPr>
          <a:xfrm flipV="1">
            <a:off x="4899960" y="2299680"/>
            <a:ext cx="360" cy="3400560"/>
          </a:xfrm>
          <a:prstGeom prst="straightConnector1">
            <a:avLst/>
          </a:prstGeom>
          <a:ln w="19050">
            <a:solidFill>
              <a:srgbClr val="F28C28"/>
            </a:solidFill>
            <a:round/>
          </a:ln>
        </p:spPr>
      </p:cxnSp>
      <p:cxnSp>
        <p:nvCxnSpPr>
          <p:cNvPr id="354" name="Arrow"/>
          <p:cNvCxnSpPr/>
          <p:nvPr/>
        </p:nvCxnSpPr>
        <p:spPr>
          <a:xfrm>
            <a:off x="4899960" y="2299680"/>
            <a:ext cx="2150280" cy="360"/>
          </a:xfrm>
          <a:prstGeom prst="straightConnector1">
            <a:avLst/>
          </a:prstGeom>
          <a:ln w="19050">
            <a:solidFill>
              <a:srgbClr val="F28C28"/>
            </a:solidFill>
            <a:round/>
            <a:tailEnd len="med" type="triangle" w="med"/>
          </a:ln>
        </p:spPr>
      </p:cxnSp>
      <p:sp>
        <p:nvSpPr>
          <p:cNvPr id="355" name="Junction"/>
          <p:cNvSpPr/>
          <p:nvPr/>
        </p:nvSpPr>
        <p:spPr>
          <a:xfrm>
            <a:off x="5905080" y="5654880"/>
            <a:ext cx="89640" cy="89640"/>
          </a:xfrm>
          <a:prstGeom prst="ellipse">
            <a:avLst/>
          </a:prstGeom>
          <a:solidFill>
            <a:srgbClr val="F28C28"/>
          </a:solidFill>
          <a:ln w="0">
            <a:noFill/>
          </a:ln>
        </p:spPr>
        <p:style>
          <a:lnRef idx="0"/>
          <a:fillRef idx="0"/>
          <a:effectRef idx="0"/>
          <a:fontRef idx="minor"/>
        </p:style>
        <p:txBody>
          <a:bodyPr lIns="90000" tIns="18720" rIns="90000" bIns="18720" anchor="t">
            <a:noAutofit/>
          </a:bodyPr>
          <a:p>
            <a:endParaRPr lang="en-IN" sz="1800" b="0" u="none" strike="noStrike">
              <a:solidFill>
                <a:schemeClr val="dk1"/>
              </a:solidFill>
              <a:effectLst/>
              <a:uFillTx/>
              <a:latin typeface="Calibri"/>
            </a:endParaRPr>
          </a:p>
        </p:txBody>
      </p:sp>
      <p:sp>
        <p:nvSpPr>
          <p:cNvPr id="356" name="Junction"/>
          <p:cNvSpPr/>
          <p:nvPr/>
        </p:nvSpPr>
        <p:spPr>
          <a:xfrm>
            <a:off x="7755120" y="5654880"/>
            <a:ext cx="89640" cy="89640"/>
          </a:xfrm>
          <a:prstGeom prst="ellipse">
            <a:avLst/>
          </a:prstGeom>
          <a:solidFill>
            <a:srgbClr val="F28C28"/>
          </a:solidFill>
          <a:ln w="0">
            <a:noFill/>
          </a:ln>
        </p:spPr>
        <p:style>
          <a:lnRef idx="0"/>
          <a:fillRef idx="0"/>
          <a:effectRef idx="0"/>
          <a:fontRef idx="minor"/>
        </p:style>
        <p:txBody>
          <a:bodyPr lIns="90000" tIns="18720" rIns="90000" bIns="18720" anchor="t">
            <a:noAutofit/>
          </a:bodyPr>
          <a:p>
            <a:endParaRPr lang="en-IN" sz="1800" b="0" u="none" strike="noStrike">
              <a:solidFill>
                <a:schemeClr val="dk1"/>
              </a:solidFill>
              <a:effectLst/>
              <a:uFillTx/>
              <a:latin typeface="Calibri"/>
            </a:endParaRPr>
          </a:p>
        </p:txBody>
      </p:sp>
      <p:sp>
        <p:nvSpPr>
          <p:cNvPr id="357" name="Label"/>
          <p:cNvSpPr/>
          <p:nvPr/>
        </p:nvSpPr>
        <p:spPr>
          <a:xfrm>
            <a:off x="5420160" y="1100160"/>
            <a:ext cx="499680" cy="19980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900" b="1" u="none" strike="noStrike">
                <a:solidFill>
                  <a:srgbClr val="14213D"/>
                </a:solidFill>
                <a:effectLst/>
                <a:uFillTx/>
                <a:latin typeface="Calibri"/>
                <a:ea typeface="Calibri"/>
              </a:rPr>
              <a:t>Yes</a:t>
            </a:r>
            <a:endParaRPr lang="en-IN" sz="900" b="0" u="none" strike="noStrike">
              <a:solidFill>
                <a:srgbClr val="000000"/>
              </a:solidFill>
              <a:effectLst/>
              <a:uFillTx/>
              <a:latin typeface="Arial"/>
            </a:endParaRPr>
          </a:p>
        </p:txBody>
      </p:sp>
      <p:sp>
        <p:nvSpPr>
          <p:cNvPr id="358" name="Label"/>
          <p:cNvSpPr/>
          <p:nvPr/>
        </p:nvSpPr>
        <p:spPr>
          <a:xfrm>
            <a:off x="4129920" y="2180160"/>
            <a:ext cx="399600" cy="199800"/>
          </a:xfrm>
          <a:prstGeom prst="rect">
            <a:avLst/>
          </a:prstGeom>
          <a:noFill/>
          <a:ln w="0">
            <a:noFill/>
          </a:ln>
        </p:spPr>
        <p:style>
          <a:lnRef idx="0"/>
          <a:fillRef idx="0"/>
          <a:effectRef idx="0"/>
          <a:fontRef idx="minor"/>
        </p:style>
        <p:txBody>
          <a:bodyPr wrap="none" lIns="0" tIns="0" rIns="0" bIns="0" anchor="ctr">
            <a:noAutofit/>
          </a:bodyPr>
          <a:p>
            <a:pPr algn="r" defTabSz="914400">
              <a:lnSpc>
                <a:spcPct val="100000"/>
              </a:lnSpc>
              <a:tabLst>
                <a:tab pos="0" algn="l"/>
              </a:tabLst>
            </a:pPr>
            <a:r>
              <a:rPr lang="en-US" sz="900" b="1" u="none" strike="noStrike">
                <a:solidFill>
                  <a:srgbClr val="14213D"/>
                </a:solidFill>
                <a:effectLst/>
                <a:uFillTx/>
                <a:latin typeface="Calibri"/>
                <a:ea typeface="Calibri"/>
              </a:rPr>
              <a:t>No</a:t>
            </a:r>
            <a:endParaRPr lang="en-IN" sz="900" b="0" u="none" strike="noStrike">
              <a:solidFill>
                <a:srgbClr val="000000"/>
              </a:solidFill>
              <a:effectLst/>
              <a:uFillTx/>
              <a:latin typeface="Arial"/>
            </a:endParaRPr>
          </a:p>
        </p:txBody>
      </p:sp>
      <p:sp>
        <p:nvSpPr>
          <p:cNvPr id="359" name="Label"/>
          <p:cNvSpPr/>
          <p:nvPr/>
        </p:nvSpPr>
        <p:spPr>
          <a:xfrm>
            <a:off x="8600040" y="2040120"/>
            <a:ext cx="499680" cy="19980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900" b="1" u="none" strike="noStrike">
                <a:solidFill>
                  <a:srgbClr val="14213D"/>
                </a:solidFill>
                <a:effectLst/>
                <a:uFillTx/>
                <a:latin typeface="Calibri"/>
                <a:ea typeface="Calibri"/>
              </a:rPr>
              <a:t>No</a:t>
            </a:r>
            <a:endParaRPr lang="en-IN" sz="900" b="0" u="none" strike="noStrike">
              <a:solidFill>
                <a:srgbClr val="000000"/>
              </a:solidFill>
              <a:effectLst/>
              <a:uFillTx/>
              <a:latin typeface="Arial"/>
            </a:endParaRPr>
          </a:p>
        </p:txBody>
      </p:sp>
      <p:sp>
        <p:nvSpPr>
          <p:cNvPr id="360" name="Label"/>
          <p:cNvSpPr/>
          <p:nvPr/>
        </p:nvSpPr>
        <p:spPr>
          <a:xfrm>
            <a:off x="7899840" y="2729880"/>
            <a:ext cx="399600" cy="199800"/>
          </a:xfrm>
          <a:prstGeom prst="rect">
            <a:avLst/>
          </a:prstGeom>
          <a:noFill/>
          <a:ln w="0">
            <a:noFill/>
          </a:ln>
        </p:spPr>
        <p:style>
          <a:lnRef idx="0"/>
          <a:fillRef idx="0"/>
          <a:effectRef idx="0"/>
          <a:fontRef idx="minor"/>
        </p:style>
        <p:txBody>
          <a:bodyPr wrap="none" lIns="0" tIns="0" rIns="0" bIns="0" anchor="ctr">
            <a:noAutofit/>
          </a:bodyPr>
          <a:p>
            <a:pPr defTabSz="914400">
              <a:lnSpc>
                <a:spcPct val="100000"/>
              </a:lnSpc>
              <a:tabLst>
                <a:tab pos="0" algn="l"/>
              </a:tabLst>
            </a:pPr>
            <a:r>
              <a:rPr lang="en-US" sz="900" b="1" u="none" strike="noStrike">
                <a:solidFill>
                  <a:srgbClr val="14213D"/>
                </a:solidFill>
                <a:effectLst/>
                <a:uFillTx/>
                <a:latin typeface="Calibri"/>
                <a:ea typeface="Calibri"/>
              </a:rPr>
              <a:t>Yes</a:t>
            </a:r>
            <a:endParaRPr lang="en-IN" sz="900" b="0" u="none" strike="noStrike">
              <a:solidFill>
                <a:srgbClr val="000000"/>
              </a:solidFill>
              <a:effectLst/>
              <a:uFillTx/>
              <a:latin typeface="Arial"/>
            </a:endParaRPr>
          </a:p>
        </p:txBody>
      </p:sp>
      <p:sp>
        <p:nvSpPr>
          <p:cNvPr id="361" name="Label"/>
          <p:cNvSpPr/>
          <p:nvPr/>
        </p:nvSpPr>
        <p:spPr>
          <a:xfrm>
            <a:off x="11639880" y="3089880"/>
            <a:ext cx="299520" cy="19980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900" b="1" u="none" strike="noStrike">
                <a:solidFill>
                  <a:srgbClr val="14213D"/>
                </a:solidFill>
                <a:effectLst/>
                <a:uFillTx/>
                <a:latin typeface="Calibri"/>
                <a:ea typeface="Calibri"/>
              </a:rPr>
              <a:t>No</a:t>
            </a:r>
            <a:endParaRPr lang="en-IN" sz="900" b="0" u="none" strike="noStrike">
              <a:solidFill>
                <a:srgbClr val="000000"/>
              </a:solidFill>
              <a:effectLst/>
              <a:uFillTx/>
              <a:latin typeface="Arial"/>
            </a:endParaRPr>
          </a:p>
        </p:txBody>
      </p:sp>
      <p:sp>
        <p:nvSpPr>
          <p:cNvPr id="362" name="Label"/>
          <p:cNvSpPr/>
          <p:nvPr/>
        </p:nvSpPr>
        <p:spPr>
          <a:xfrm>
            <a:off x="11049840" y="3790080"/>
            <a:ext cx="399600" cy="199800"/>
          </a:xfrm>
          <a:prstGeom prst="rect">
            <a:avLst/>
          </a:prstGeom>
          <a:noFill/>
          <a:ln w="0">
            <a:noFill/>
          </a:ln>
        </p:spPr>
        <p:style>
          <a:lnRef idx="0"/>
          <a:fillRef idx="0"/>
          <a:effectRef idx="0"/>
          <a:fontRef idx="minor"/>
        </p:style>
        <p:txBody>
          <a:bodyPr wrap="none" lIns="0" tIns="0" rIns="0" bIns="0" anchor="ctr">
            <a:noAutofit/>
          </a:bodyPr>
          <a:p>
            <a:pPr defTabSz="914400">
              <a:lnSpc>
                <a:spcPct val="100000"/>
              </a:lnSpc>
              <a:tabLst>
                <a:tab pos="0" algn="l"/>
              </a:tabLst>
            </a:pPr>
            <a:r>
              <a:rPr lang="en-US" sz="900" b="1" u="none" strike="noStrike">
                <a:solidFill>
                  <a:srgbClr val="14213D"/>
                </a:solidFill>
                <a:effectLst/>
                <a:uFillTx/>
                <a:latin typeface="Calibri"/>
                <a:ea typeface="Calibri"/>
              </a:rPr>
              <a:t>Yes</a:t>
            </a:r>
            <a:endParaRPr lang="en-IN" sz="900" b="0" u="none" strike="noStrike">
              <a:solidFill>
                <a:srgbClr val="000000"/>
              </a:solidFill>
              <a:effectLst/>
              <a:uFillTx/>
              <a:latin typeface="Arial"/>
            </a:endParaRPr>
          </a:p>
        </p:txBody>
      </p:sp>
      <p:sp>
        <p:nvSpPr>
          <p:cNvPr id="363" name="Label"/>
          <p:cNvSpPr/>
          <p:nvPr/>
        </p:nvSpPr>
        <p:spPr>
          <a:xfrm>
            <a:off x="6549840" y="3089880"/>
            <a:ext cx="499680" cy="19980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900" b="1" u="none" strike="noStrike">
                <a:solidFill>
                  <a:srgbClr val="14213D"/>
                </a:solidFill>
                <a:effectLst/>
                <a:uFillTx/>
                <a:latin typeface="Calibri"/>
                <a:ea typeface="Calibri"/>
              </a:rPr>
              <a:t>Failure</a:t>
            </a:r>
            <a:endParaRPr lang="en-IN" sz="900" b="0" u="none" strike="noStrike">
              <a:solidFill>
                <a:srgbClr val="000000"/>
              </a:solidFill>
              <a:effectLst/>
              <a:uFillTx/>
              <a:latin typeface="Arial"/>
            </a:endParaRPr>
          </a:p>
        </p:txBody>
      </p:sp>
      <p:sp>
        <p:nvSpPr>
          <p:cNvPr id="364" name="Label"/>
          <p:cNvSpPr/>
          <p:nvPr/>
        </p:nvSpPr>
        <p:spPr>
          <a:xfrm>
            <a:off x="8550000" y="2990160"/>
            <a:ext cx="499680" cy="33948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900" b="1" u="none" strike="noStrike">
                <a:solidFill>
                  <a:srgbClr val="14213D"/>
                </a:solidFill>
                <a:effectLst/>
                <a:uFillTx/>
                <a:latin typeface="Calibri"/>
                <a:ea typeface="Calibri"/>
              </a:rPr>
              <a:t>Repair</a:t>
            </a:r>
            <a:endParaRPr lang="en-IN" sz="900" b="0" u="none" strike="noStrike">
              <a:solidFill>
                <a:srgbClr val="000000"/>
              </a:solidFill>
              <a:effectLst/>
              <a:uFillTx/>
              <a:latin typeface="Arial"/>
            </a:endParaRPr>
          </a:p>
          <a:p>
            <a:pPr algn="ctr" defTabSz="914400">
              <a:lnSpc>
                <a:spcPct val="100000"/>
              </a:lnSpc>
              <a:tabLst>
                <a:tab pos="0" algn="l"/>
              </a:tabLst>
            </a:pPr>
            <a:r>
              <a:rPr lang="en-US" sz="900" b="1" u="none" strike="noStrike">
                <a:solidFill>
                  <a:srgbClr val="14213D"/>
                </a:solidFill>
                <a:effectLst/>
                <a:uFillTx/>
                <a:latin typeface="Calibri"/>
                <a:ea typeface="Calibri"/>
              </a:rPr>
              <a:t>complete</a:t>
            </a:r>
            <a:endParaRPr lang="en-IN" sz="900" b="0" u="none" strike="noStrike">
              <a:solidFill>
                <a:srgbClr val="000000"/>
              </a:solidFill>
              <a:effectLst/>
              <a:uFillTx/>
              <a:latin typeface="Arial"/>
            </a:endParaRPr>
          </a:p>
        </p:txBody>
      </p:sp>
      <p:sp>
        <p:nvSpPr>
          <p:cNvPr id="365" name="Label"/>
          <p:cNvSpPr/>
          <p:nvPr/>
        </p:nvSpPr>
        <p:spPr>
          <a:xfrm>
            <a:off x="6050160" y="4719960"/>
            <a:ext cx="399600" cy="199800"/>
          </a:xfrm>
          <a:prstGeom prst="rect">
            <a:avLst/>
          </a:prstGeom>
          <a:noFill/>
          <a:ln w="0">
            <a:noFill/>
          </a:ln>
        </p:spPr>
        <p:style>
          <a:lnRef idx="0"/>
          <a:fillRef idx="0"/>
          <a:effectRef idx="0"/>
          <a:fontRef idx="minor"/>
        </p:style>
        <p:txBody>
          <a:bodyPr wrap="none" lIns="0" tIns="0" rIns="0" bIns="0" anchor="ctr">
            <a:noAutofit/>
          </a:bodyPr>
          <a:p>
            <a:pPr defTabSz="914400">
              <a:lnSpc>
                <a:spcPct val="100000"/>
              </a:lnSpc>
              <a:tabLst>
                <a:tab pos="0" algn="l"/>
              </a:tabLst>
            </a:pPr>
            <a:r>
              <a:rPr lang="en-US" sz="900" b="1" u="none" strike="noStrike">
                <a:solidFill>
                  <a:srgbClr val="14213D"/>
                </a:solidFill>
                <a:effectLst/>
                <a:uFillTx/>
                <a:latin typeface="Calibri"/>
                <a:ea typeface="Calibri"/>
              </a:rPr>
              <a:t>Yes</a:t>
            </a:r>
            <a:endParaRPr lang="en-IN" sz="900" b="0" u="none" strike="noStrike">
              <a:solidFill>
                <a:srgbClr val="000000"/>
              </a:solidFill>
              <a:effectLst/>
              <a:uFillTx/>
              <a:latin typeface="Arial"/>
            </a:endParaRPr>
          </a:p>
        </p:txBody>
      </p:sp>
      <p:sp>
        <p:nvSpPr>
          <p:cNvPr id="366" name="Label"/>
          <p:cNvSpPr/>
          <p:nvPr/>
        </p:nvSpPr>
        <p:spPr>
          <a:xfrm>
            <a:off x="6999840" y="4029840"/>
            <a:ext cx="499680" cy="199800"/>
          </a:xfrm>
          <a:prstGeom prst="rect">
            <a:avLst/>
          </a:prstGeom>
          <a:noFill/>
          <a:ln w="0">
            <a:noFill/>
          </a:ln>
        </p:spPr>
        <p:style>
          <a:lnRef idx="0"/>
          <a:fillRef idx="0"/>
          <a:effectRef idx="0"/>
          <a:fontRef idx="minor"/>
        </p:style>
        <p:txBody>
          <a:bodyPr wrap="none" lIns="0" tIns="0" rIns="0" bIns="0" anchor="ctr">
            <a:noAutofit/>
          </a:bodyPr>
          <a:p>
            <a:pPr algn="ctr" defTabSz="914400">
              <a:lnSpc>
                <a:spcPct val="100000"/>
              </a:lnSpc>
              <a:tabLst>
                <a:tab pos="0" algn="l"/>
              </a:tabLst>
            </a:pPr>
            <a:r>
              <a:rPr lang="en-US" sz="900" b="1" u="none" strike="noStrike">
                <a:solidFill>
                  <a:srgbClr val="14213D"/>
                </a:solidFill>
                <a:effectLst/>
                <a:uFillTx/>
                <a:latin typeface="Calibri"/>
                <a:ea typeface="Calibri"/>
              </a:rPr>
              <a:t>No</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367" name="Text 0"/>
          <p:cNvSpPr/>
          <p:nvPr/>
        </p:nvSpPr>
        <p:spPr>
          <a:xfrm>
            <a:off x="548640" y="4334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Edge Case, Machine Fails, No Adjuster</a:t>
            </a:r>
            <a:endParaRPr lang="en-IN" sz="3000" b="0" u="none" strike="noStrike">
              <a:solidFill>
                <a:srgbClr val="000000"/>
              </a:solidFill>
              <a:effectLst/>
              <a:uFillTx/>
              <a:latin typeface="Arial"/>
            </a:endParaRPr>
          </a:p>
        </p:txBody>
      </p:sp>
      <p:sp>
        <p:nvSpPr>
          <p:cNvPr id="368"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16</a:t>
            </a:r>
            <a:endParaRPr lang="en-IN" sz="1100" b="0" u="none" strike="noStrike">
              <a:solidFill>
                <a:srgbClr val="000000"/>
              </a:solidFill>
              <a:effectLst/>
              <a:uFillTx/>
              <a:latin typeface="Arial"/>
            </a:endParaRPr>
          </a:p>
        </p:txBody>
      </p:sp>
      <p:sp>
        <p:nvSpPr>
          <p:cNvPr id="369" name="Shape 2"/>
          <p:cNvSpPr/>
          <p:nvPr/>
        </p:nvSpPr>
        <p:spPr>
          <a:xfrm>
            <a:off x="365760" y="1463040"/>
            <a:ext cx="191988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70" name="Text 3"/>
          <p:cNvSpPr/>
          <p:nvPr/>
        </p:nvSpPr>
        <p:spPr>
          <a:xfrm>
            <a:off x="457200" y="1463040"/>
            <a:ext cx="17370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Machine is RUNNING</a:t>
            </a:r>
            <a:endParaRPr lang="en-IN" sz="1100" b="0" u="none" strike="noStrike">
              <a:solidFill>
                <a:srgbClr val="000000"/>
              </a:solidFill>
              <a:effectLst/>
              <a:uFillTx/>
              <a:latin typeface="Arial"/>
            </a:endParaRPr>
          </a:p>
        </p:txBody>
      </p:sp>
      <p:sp>
        <p:nvSpPr>
          <p:cNvPr id="371" name="Shape 4"/>
          <p:cNvSpPr/>
          <p:nvPr/>
        </p:nvSpPr>
        <p:spPr>
          <a:xfrm>
            <a:off x="2651760" y="1463040"/>
            <a:ext cx="191988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72" name="Text 5"/>
          <p:cNvSpPr/>
          <p:nvPr/>
        </p:nvSpPr>
        <p:spPr>
          <a:xfrm>
            <a:off x="2743200" y="1463040"/>
            <a:ext cx="17370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Failure event occurs</a:t>
            </a:r>
            <a:endParaRPr lang="en-IN" sz="1100" b="0" u="none" strike="noStrike">
              <a:solidFill>
                <a:srgbClr val="000000"/>
              </a:solidFill>
              <a:effectLst/>
              <a:uFillTx/>
              <a:latin typeface="Arial"/>
            </a:endParaRPr>
          </a:p>
        </p:txBody>
      </p:sp>
      <p:sp>
        <p:nvSpPr>
          <p:cNvPr id="373" name="Shape 6"/>
          <p:cNvSpPr/>
          <p:nvPr/>
        </p:nvSpPr>
        <p:spPr>
          <a:xfrm>
            <a:off x="4937760" y="1463040"/>
            <a:ext cx="237708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74" name="Text 7"/>
          <p:cNvSpPr/>
          <p:nvPr/>
        </p:nvSpPr>
        <p:spPr>
          <a:xfrm>
            <a:off x="5029200" y="1463040"/>
            <a:ext cx="21942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Close running interval; increment failures</a:t>
            </a:r>
            <a:endParaRPr lang="en-IN" sz="1100" b="0" u="none" strike="noStrike">
              <a:solidFill>
                <a:srgbClr val="000000"/>
              </a:solidFill>
              <a:effectLst/>
              <a:uFillTx/>
              <a:latin typeface="Arial"/>
            </a:endParaRPr>
          </a:p>
        </p:txBody>
      </p:sp>
      <p:sp>
        <p:nvSpPr>
          <p:cNvPr id="375" name="Shape 8"/>
          <p:cNvSpPr/>
          <p:nvPr/>
        </p:nvSpPr>
        <p:spPr>
          <a:xfrm>
            <a:off x="7680960" y="1234440"/>
            <a:ext cx="2468520" cy="127980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76" name="Text 9"/>
          <p:cNvSpPr/>
          <p:nvPr/>
        </p:nvSpPr>
        <p:spPr>
          <a:xfrm>
            <a:off x="7772400" y="1234440"/>
            <a:ext cx="228564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213D"/>
                </a:solidFill>
                <a:effectLst/>
                <a:uFillTx/>
                <a:latin typeface="Calibri"/>
                <a:ea typeface="Calibri"/>
              </a:rPr>
              <a:t>Idle adjuster with required skill?</a:t>
            </a:r>
            <a:endParaRPr lang="en-IN" sz="1100" b="0" u="none" strike="noStrike">
              <a:solidFill>
                <a:srgbClr val="000000"/>
              </a:solidFill>
              <a:effectLst/>
              <a:uFillTx/>
              <a:latin typeface="Arial"/>
            </a:endParaRPr>
          </a:p>
        </p:txBody>
      </p:sp>
      <p:sp>
        <p:nvSpPr>
          <p:cNvPr id="377" name="Shape 10"/>
          <p:cNvSpPr/>
          <p:nvPr/>
        </p:nvSpPr>
        <p:spPr>
          <a:xfrm>
            <a:off x="10515600" y="1463040"/>
            <a:ext cx="137124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78" name="Text 11"/>
          <p:cNvSpPr/>
          <p:nvPr/>
        </p:nvSpPr>
        <p:spPr>
          <a:xfrm>
            <a:off x="10607040" y="1463040"/>
            <a:ext cx="118836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Set machine WAITING</a:t>
            </a:r>
            <a:endParaRPr lang="en-IN" sz="1100" b="0" u="none" strike="noStrike">
              <a:solidFill>
                <a:srgbClr val="000000"/>
              </a:solidFill>
              <a:effectLst/>
              <a:uFillTx/>
              <a:latin typeface="Arial"/>
            </a:endParaRPr>
          </a:p>
        </p:txBody>
      </p:sp>
      <p:sp>
        <p:nvSpPr>
          <p:cNvPr id="379" name="Shape 12"/>
          <p:cNvSpPr/>
          <p:nvPr/>
        </p:nvSpPr>
        <p:spPr>
          <a:xfrm>
            <a:off x="10424160" y="3154680"/>
            <a:ext cx="146268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80" name="Text 13"/>
          <p:cNvSpPr/>
          <p:nvPr/>
        </p:nvSpPr>
        <p:spPr>
          <a:xfrm>
            <a:off x="10515600" y="3154680"/>
            <a:ext cx="12798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Append to waiting list</a:t>
            </a:r>
            <a:endParaRPr lang="en-IN" sz="1100" b="0" u="none" strike="noStrike">
              <a:solidFill>
                <a:srgbClr val="000000"/>
              </a:solidFill>
              <a:effectLst/>
              <a:uFillTx/>
              <a:latin typeface="Arial"/>
            </a:endParaRPr>
          </a:p>
        </p:txBody>
      </p:sp>
      <p:sp>
        <p:nvSpPr>
          <p:cNvPr id="381" name="Shape 14"/>
          <p:cNvSpPr/>
          <p:nvPr/>
        </p:nvSpPr>
        <p:spPr>
          <a:xfrm>
            <a:off x="7589520" y="2926080"/>
            <a:ext cx="2468520" cy="1279800"/>
          </a:xfrm>
          <a:prstGeom prst="diamond">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82" name="Text 15"/>
          <p:cNvSpPr/>
          <p:nvPr/>
        </p:nvSpPr>
        <p:spPr>
          <a:xfrm>
            <a:off x="7680960" y="2926080"/>
            <a:ext cx="2285640" cy="127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4213D"/>
                </a:solidFill>
                <a:effectLst/>
                <a:uFillTx/>
                <a:latin typeface="Calibri"/>
                <a:ea typeface="Calibri"/>
              </a:rPr>
              <a:t>Compatible adjuster becomes IDLE?</a:t>
            </a:r>
            <a:endParaRPr lang="en-IN" sz="1100" b="0" u="none" strike="noStrike">
              <a:solidFill>
                <a:srgbClr val="000000"/>
              </a:solidFill>
              <a:effectLst/>
              <a:uFillTx/>
              <a:latin typeface="Arial"/>
            </a:endParaRPr>
          </a:p>
        </p:txBody>
      </p:sp>
      <p:sp>
        <p:nvSpPr>
          <p:cNvPr id="383" name="Shape 16"/>
          <p:cNvSpPr/>
          <p:nvPr/>
        </p:nvSpPr>
        <p:spPr>
          <a:xfrm>
            <a:off x="4572000" y="3154680"/>
            <a:ext cx="246852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84" name="Text 17"/>
          <p:cNvSpPr/>
          <p:nvPr/>
        </p:nvSpPr>
        <p:spPr>
          <a:xfrm>
            <a:off x="4663440" y="3154680"/>
            <a:ext cx="228564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Choose earliest compatible waiting machine</a:t>
            </a:r>
            <a:endParaRPr lang="en-IN" sz="1100" b="0" u="none" strike="noStrike">
              <a:solidFill>
                <a:srgbClr val="000000"/>
              </a:solidFill>
              <a:effectLst/>
              <a:uFillTx/>
              <a:latin typeface="Arial"/>
            </a:endParaRPr>
          </a:p>
        </p:txBody>
      </p:sp>
      <p:sp>
        <p:nvSpPr>
          <p:cNvPr id="385" name="Shape 18"/>
          <p:cNvSpPr/>
          <p:nvPr/>
        </p:nvSpPr>
        <p:spPr>
          <a:xfrm>
            <a:off x="2103120" y="3154680"/>
            <a:ext cx="219420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86" name="Text 19"/>
          <p:cNvSpPr/>
          <p:nvPr/>
        </p:nvSpPr>
        <p:spPr>
          <a:xfrm>
            <a:off x="2194560" y="3154680"/>
            <a:ext cx="20113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Assign: machine REPAIR, adjuster BUSY</a:t>
            </a:r>
            <a:endParaRPr lang="en-IN" sz="1100" b="0" u="none" strike="noStrike">
              <a:solidFill>
                <a:srgbClr val="000000"/>
              </a:solidFill>
              <a:effectLst/>
              <a:uFillTx/>
              <a:latin typeface="Arial"/>
            </a:endParaRPr>
          </a:p>
        </p:txBody>
      </p:sp>
      <p:sp>
        <p:nvSpPr>
          <p:cNvPr id="387" name="Shape 20"/>
          <p:cNvSpPr/>
          <p:nvPr/>
        </p:nvSpPr>
        <p:spPr>
          <a:xfrm>
            <a:off x="365760" y="3154680"/>
            <a:ext cx="1462680" cy="822600"/>
          </a:xfrm>
          <a:prstGeom prst="roundRect">
            <a:avLst>
              <a:gd name="adj" fmla="val 8889"/>
            </a:avLst>
          </a:prstGeom>
          <a:solidFill>
            <a:srgbClr val="FFFFFF"/>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88" name="Text 21"/>
          <p:cNvSpPr/>
          <p:nvPr/>
        </p:nvSpPr>
        <p:spPr>
          <a:xfrm>
            <a:off x="457200" y="3154680"/>
            <a:ext cx="127980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Schedule repair completion</a:t>
            </a:r>
            <a:endParaRPr lang="en-IN" sz="1100" b="0" u="none" strike="noStrike">
              <a:solidFill>
                <a:srgbClr val="000000"/>
              </a:solidFill>
              <a:effectLst/>
              <a:uFillTx/>
              <a:latin typeface="Arial"/>
            </a:endParaRPr>
          </a:p>
        </p:txBody>
      </p:sp>
      <p:sp>
        <p:nvSpPr>
          <p:cNvPr id="389" name="Shape 22"/>
          <p:cNvSpPr/>
          <p:nvPr/>
        </p:nvSpPr>
        <p:spPr>
          <a:xfrm>
            <a:off x="7589520" y="4663440"/>
            <a:ext cx="2468520" cy="639720"/>
          </a:xfrm>
          <a:prstGeom prst="roundRect">
            <a:avLst>
              <a:gd name="adj" fmla="val 11429"/>
            </a:avLst>
          </a:prstGeom>
          <a:solidFill>
            <a:srgbClr val="FFF1DD"/>
          </a:solidFill>
          <a:ln w="15875">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90" name="Text 23"/>
          <p:cNvSpPr/>
          <p:nvPr/>
        </p:nvSpPr>
        <p:spPr>
          <a:xfrm>
            <a:off x="7680960" y="4663440"/>
            <a:ext cx="228564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Remain waiting; uptime does not accrue</a:t>
            </a:r>
            <a:endParaRPr lang="en-IN" sz="1100" b="0" u="none" strike="noStrike">
              <a:solidFill>
                <a:srgbClr val="000000"/>
              </a:solidFill>
              <a:effectLst/>
              <a:uFillTx/>
              <a:latin typeface="Arial"/>
            </a:endParaRPr>
          </a:p>
        </p:txBody>
      </p:sp>
      <p:sp>
        <p:nvSpPr>
          <p:cNvPr id="391" name="Shape 24"/>
          <p:cNvSpPr/>
          <p:nvPr/>
        </p:nvSpPr>
        <p:spPr>
          <a:xfrm>
            <a:off x="2286000" y="1874520"/>
            <a:ext cx="3657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2" name="Shape 25"/>
          <p:cNvSpPr/>
          <p:nvPr/>
        </p:nvSpPr>
        <p:spPr>
          <a:xfrm>
            <a:off x="4572000" y="1874520"/>
            <a:ext cx="3657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3" name="Shape 26"/>
          <p:cNvSpPr/>
          <p:nvPr/>
        </p:nvSpPr>
        <p:spPr>
          <a:xfrm>
            <a:off x="7315200" y="1874520"/>
            <a:ext cx="3657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4" name="Shape 27"/>
          <p:cNvSpPr/>
          <p:nvPr/>
        </p:nvSpPr>
        <p:spPr>
          <a:xfrm>
            <a:off x="10149840" y="1874520"/>
            <a:ext cx="3657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5" name="Shape 28"/>
          <p:cNvSpPr/>
          <p:nvPr/>
        </p:nvSpPr>
        <p:spPr>
          <a:xfrm>
            <a:off x="11201400" y="2286000"/>
            <a:ext cx="360" cy="86868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396" name="Shape 29"/>
          <p:cNvSpPr/>
          <p:nvPr/>
        </p:nvSpPr>
        <p:spPr>
          <a:xfrm flipH="1">
            <a:off x="10058400" y="3566160"/>
            <a:ext cx="3657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7" name="Shape 30"/>
          <p:cNvSpPr/>
          <p:nvPr/>
        </p:nvSpPr>
        <p:spPr>
          <a:xfrm flipH="1">
            <a:off x="7040880" y="3566160"/>
            <a:ext cx="54864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8" name="Shape 31"/>
          <p:cNvSpPr/>
          <p:nvPr/>
        </p:nvSpPr>
        <p:spPr>
          <a:xfrm flipH="1">
            <a:off x="4297680" y="3566160"/>
            <a:ext cx="27432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399" name="Shape 32"/>
          <p:cNvSpPr/>
          <p:nvPr/>
        </p:nvSpPr>
        <p:spPr>
          <a:xfrm flipH="1">
            <a:off x="1828800" y="3566160"/>
            <a:ext cx="27432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400" name="Shape 33"/>
          <p:cNvSpPr/>
          <p:nvPr/>
        </p:nvSpPr>
        <p:spPr>
          <a:xfrm>
            <a:off x="8823960" y="4206240"/>
            <a:ext cx="360" cy="45720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01" name="Text 34"/>
          <p:cNvSpPr/>
          <p:nvPr/>
        </p:nvSpPr>
        <p:spPr>
          <a:xfrm>
            <a:off x="10149840" y="1554480"/>
            <a:ext cx="3654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213D"/>
                </a:solidFill>
                <a:effectLst/>
                <a:uFillTx/>
                <a:latin typeface="Calibri"/>
                <a:ea typeface="Calibri"/>
              </a:rPr>
              <a:t>No</a:t>
            </a:r>
            <a:endParaRPr lang="en-IN" sz="1200" b="0" u="none" strike="noStrike">
              <a:solidFill>
                <a:srgbClr val="000000"/>
              </a:solidFill>
              <a:effectLst/>
              <a:uFillTx/>
              <a:latin typeface="Arial"/>
            </a:endParaRPr>
          </a:p>
        </p:txBody>
      </p:sp>
      <p:sp>
        <p:nvSpPr>
          <p:cNvPr id="402" name="Text 35"/>
          <p:cNvSpPr/>
          <p:nvPr/>
        </p:nvSpPr>
        <p:spPr>
          <a:xfrm>
            <a:off x="7040880" y="3246120"/>
            <a:ext cx="54828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213D"/>
                </a:solidFill>
                <a:effectLst/>
                <a:uFillTx/>
                <a:latin typeface="Calibri"/>
                <a:ea typeface="Calibri"/>
              </a:rPr>
              <a:t>Yes</a:t>
            </a:r>
            <a:endParaRPr lang="en-IN" sz="1200" b="0" u="none" strike="noStrike">
              <a:solidFill>
                <a:srgbClr val="000000"/>
              </a:solidFill>
              <a:effectLst/>
              <a:uFillTx/>
              <a:latin typeface="Arial"/>
            </a:endParaRPr>
          </a:p>
        </p:txBody>
      </p:sp>
      <p:sp>
        <p:nvSpPr>
          <p:cNvPr id="403" name="Text 36"/>
          <p:cNvSpPr/>
          <p:nvPr/>
        </p:nvSpPr>
        <p:spPr>
          <a:xfrm>
            <a:off x="8915400" y="4343400"/>
            <a:ext cx="456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No</a:t>
            </a:r>
            <a:endParaRPr lang="en-IN" sz="1200" b="0" u="none" strike="noStrike">
              <a:solidFill>
                <a:srgbClr val="000000"/>
              </a:solidFill>
              <a:effectLst/>
              <a:uFillTx/>
              <a:latin typeface="Arial"/>
            </a:endParaRPr>
          </a:p>
        </p:txBody>
      </p:sp>
      <p:sp>
        <p:nvSpPr>
          <p:cNvPr id="404" name="Shape 37"/>
          <p:cNvSpPr/>
          <p:nvPr/>
        </p:nvSpPr>
        <p:spPr>
          <a:xfrm>
            <a:off x="548640" y="548640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05" name="Text 38"/>
          <p:cNvSpPr/>
          <p:nvPr/>
        </p:nvSpPr>
        <p:spPr>
          <a:xfrm>
            <a:off x="685800" y="548640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No means all adjusters are busy or none has the required skill. A waiting machine earns no uptime until it is repaired.</a:t>
            </a:r>
            <a:endParaRPr lang="en-IN" sz="1300" b="0" u="none" strike="noStrike">
              <a:solidFill>
                <a:srgbClr val="000000"/>
              </a:solidFill>
              <a:effectLst/>
              <a:uFillTx/>
              <a:latin typeface="Arial"/>
            </a:endParaRPr>
          </a:p>
        </p:txBody>
      </p:sp>
      <p:sp>
        <p:nvSpPr>
          <p:cNvPr id="406" name="Shape 33"/>
          <p:cNvSpPr/>
          <p:nvPr/>
        </p:nvSpPr>
        <p:spPr>
          <a:xfrm flipV="1">
            <a:off x="8130240" y="4042800"/>
            <a:ext cx="419040" cy="64008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407"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State Chart Diagrams</a:t>
            </a:r>
            <a:endParaRPr lang="en-IN" sz="3000" b="0" u="none" strike="noStrike">
              <a:solidFill>
                <a:srgbClr val="000000"/>
              </a:solidFill>
              <a:effectLst/>
              <a:uFillTx/>
              <a:latin typeface="Arial"/>
            </a:endParaRPr>
          </a:p>
        </p:txBody>
      </p:sp>
      <p:sp>
        <p:nvSpPr>
          <p:cNvPr id="408"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17</a:t>
            </a:r>
            <a:endParaRPr lang="en-IN" sz="1100" b="0" u="none" strike="noStrike">
              <a:solidFill>
                <a:srgbClr val="000000"/>
              </a:solidFill>
              <a:effectLst/>
              <a:uFillTx/>
              <a:latin typeface="Arial"/>
            </a:endParaRPr>
          </a:p>
        </p:txBody>
      </p:sp>
      <p:sp>
        <p:nvSpPr>
          <p:cNvPr id="409" name="S"/>
          <p:cNvSpPr/>
          <p:nvPr/>
        </p:nvSpPr>
        <p:spPr>
          <a:xfrm>
            <a:off x="548640" y="987480"/>
            <a:ext cx="1828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600" b="1" u="none" strike="noStrike">
                <a:solidFill>
                  <a:srgbClr val="F28C28"/>
                </a:solidFill>
                <a:effectLst/>
                <a:uFillTx/>
                <a:latin typeface="Calibri"/>
              </a:rPr>
              <a:t>Machine</a:t>
            </a:r>
            <a:endParaRPr lang="en-IN" sz="1600" b="0" u="none" strike="noStrike">
              <a:solidFill>
                <a:srgbClr val="000000"/>
              </a:solidFill>
              <a:effectLst/>
              <a:uFillTx/>
              <a:latin typeface="Arial"/>
            </a:endParaRPr>
          </a:p>
        </p:txBody>
      </p:sp>
      <p:sp>
        <p:nvSpPr>
          <p:cNvPr id="410" name="S"/>
          <p:cNvSpPr/>
          <p:nvPr/>
        </p:nvSpPr>
        <p:spPr>
          <a:xfrm>
            <a:off x="557640" y="1974960"/>
            <a:ext cx="255600" cy="25560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11" name="S"/>
          <p:cNvSpPr/>
          <p:nvPr/>
        </p:nvSpPr>
        <p:spPr>
          <a:xfrm>
            <a:off x="2057400" y="1783080"/>
            <a:ext cx="1371240" cy="639720"/>
          </a:xfrm>
          <a:prstGeom prst="ellipse">
            <a:avLst/>
          </a:prstGeom>
          <a:solidFill>
            <a:srgbClr val="FFFFFF"/>
          </a:solidFill>
          <a:ln w="15875">
            <a:solidFill>
              <a:srgbClr val="F28C28"/>
            </a:solidFill>
            <a:round/>
          </a:ln>
        </p:spPr>
        <p:style>
          <a:lnRef idx="0"/>
          <a:fillRef idx="0"/>
          <a:effectRef idx="0"/>
          <a:fontRef idx="minor"/>
        </p:style>
        <p:txBody>
          <a:bodyPr lIns="0" tIns="0" rIns="0" bIns="0" anchor="ctr">
            <a:noAutofit/>
          </a:bodyPr>
          <a:p>
            <a:pPr algn="ctr" defTabSz="914400">
              <a:lnSpc>
                <a:spcPct val="100000"/>
              </a:lnSpc>
            </a:pPr>
            <a:r>
              <a:rPr lang="en-US" sz="1300" b="1" u="none" strike="noStrike">
                <a:solidFill>
                  <a:srgbClr val="14213D"/>
                </a:solidFill>
                <a:effectLst/>
                <a:uFillTx/>
                <a:latin typeface="Calibri"/>
              </a:rPr>
              <a:t>RUNNING</a:t>
            </a:r>
            <a:endParaRPr lang="en-IN" sz="1300" b="0" u="none" strike="noStrike">
              <a:solidFill>
                <a:srgbClr val="000000"/>
              </a:solidFill>
              <a:effectLst/>
              <a:uFillTx/>
              <a:latin typeface="Arial"/>
            </a:endParaRPr>
          </a:p>
        </p:txBody>
      </p:sp>
      <p:sp>
        <p:nvSpPr>
          <p:cNvPr id="412" name="S"/>
          <p:cNvSpPr/>
          <p:nvPr/>
        </p:nvSpPr>
        <p:spPr>
          <a:xfrm>
            <a:off x="5623560" y="1783080"/>
            <a:ext cx="1371240" cy="639720"/>
          </a:xfrm>
          <a:prstGeom prst="ellipse">
            <a:avLst/>
          </a:prstGeom>
          <a:solidFill>
            <a:srgbClr val="FFFFFF"/>
          </a:solidFill>
          <a:ln w="15875">
            <a:solidFill>
              <a:srgbClr val="F28C28"/>
            </a:solidFill>
            <a:round/>
          </a:ln>
        </p:spPr>
        <p:style>
          <a:lnRef idx="0"/>
          <a:fillRef idx="0"/>
          <a:effectRef idx="0"/>
          <a:fontRef idx="minor"/>
        </p:style>
        <p:txBody>
          <a:bodyPr lIns="0" tIns="0" rIns="0" bIns="0" anchor="ctr">
            <a:noAutofit/>
          </a:bodyPr>
          <a:p>
            <a:pPr algn="ctr" defTabSz="914400">
              <a:lnSpc>
                <a:spcPct val="100000"/>
              </a:lnSpc>
            </a:pPr>
            <a:r>
              <a:rPr lang="en-US" sz="1300" b="1" u="none" strike="noStrike">
                <a:solidFill>
                  <a:srgbClr val="14213D"/>
                </a:solidFill>
                <a:effectLst/>
                <a:uFillTx/>
                <a:latin typeface="Calibri"/>
              </a:rPr>
              <a:t>FAILED</a:t>
            </a:r>
            <a:endParaRPr lang="en-IN" sz="1300" b="0" u="none" strike="noStrike">
              <a:solidFill>
                <a:srgbClr val="000000"/>
              </a:solidFill>
              <a:effectLst/>
              <a:uFillTx/>
              <a:latin typeface="Arial"/>
            </a:endParaRPr>
          </a:p>
        </p:txBody>
      </p:sp>
      <p:sp>
        <p:nvSpPr>
          <p:cNvPr id="413" name="S"/>
          <p:cNvSpPr/>
          <p:nvPr/>
        </p:nvSpPr>
        <p:spPr>
          <a:xfrm>
            <a:off x="9281160" y="1783080"/>
            <a:ext cx="1371240" cy="639720"/>
          </a:xfrm>
          <a:prstGeom prst="ellipse">
            <a:avLst/>
          </a:prstGeom>
          <a:solidFill>
            <a:srgbClr val="FFFFFF"/>
          </a:solidFill>
          <a:ln w="15875">
            <a:solidFill>
              <a:srgbClr val="F28C28"/>
            </a:solidFill>
            <a:round/>
          </a:ln>
        </p:spPr>
        <p:style>
          <a:lnRef idx="0"/>
          <a:fillRef idx="0"/>
          <a:effectRef idx="0"/>
          <a:fontRef idx="minor"/>
        </p:style>
        <p:txBody>
          <a:bodyPr lIns="0" tIns="0" rIns="0" bIns="0" anchor="ctr">
            <a:noAutofit/>
          </a:bodyPr>
          <a:p>
            <a:pPr algn="ctr" defTabSz="914400">
              <a:lnSpc>
                <a:spcPct val="100000"/>
              </a:lnSpc>
            </a:pPr>
            <a:r>
              <a:rPr lang="en-US" sz="1300" b="1" u="none" strike="noStrike">
                <a:solidFill>
                  <a:srgbClr val="14213D"/>
                </a:solidFill>
                <a:effectLst/>
                <a:uFillTx/>
                <a:latin typeface="Calibri"/>
              </a:rPr>
              <a:t>WAITING</a:t>
            </a:r>
            <a:endParaRPr lang="en-IN" sz="1300" b="0" u="none" strike="noStrike">
              <a:solidFill>
                <a:srgbClr val="000000"/>
              </a:solidFill>
              <a:effectLst/>
              <a:uFillTx/>
              <a:latin typeface="Arial"/>
            </a:endParaRPr>
          </a:p>
        </p:txBody>
      </p:sp>
      <p:sp>
        <p:nvSpPr>
          <p:cNvPr id="414" name="S"/>
          <p:cNvSpPr/>
          <p:nvPr/>
        </p:nvSpPr>
        <p:spPr>
          <a:xfrm>
            <a:off x="5623560" y="3063240"/>
            <a:ext cx="1371240" cy="639720"/>
          </a:xfrm>
          <a:prstGeom prst="ellipse">
            <a:avLst/>
          </a:prstGeom>
          <a:solidFill>
            <a:srgbClr val="FFFFFF"/>
          </a:solidFill>
          <a:ln w="15875">
            <a:solidFill>
              <a:srgbClr val="F28C28"/>
            </a:solidFill>
            <a:round/>
          </a:ln>
        </p:spPr>
        <p:style>
          <a:lnRef idx="0"/>
          <a:fillRef idx="0"/>
          <a:effectRef idx="0"/>
          <a:fontRef idx="minor"/>
        </p:style>
        <p:txBody>
          <a:bodyPr lIns="0" tIns="0" rIns="0" bIns="0" anchor="ctr">
            <a:noAutofit/>
          </a:bodyPr>
          <a:p>
            <a:pPr algn="ctr" defTabSz="914400">
              <a:lnSpc>
                <a:spcPct val="100000"/>
              </a:lnSpc>
            </a:pPr>
            <a:r>
              <a:rPr lang="en-US" sz="1300" b="1" u="none" strike="noStrike">
                <a:solidFill>
                  <a:srgbClr val="14213D"/>
                </a:solidFill>
                <a:effectLst/>
                <a:uFillTx/>
                <a:latin typeface="Calibri"/>
              </a:rPr>
              <a:t>REPAIR</a:t>
            </a:r>
            <a:endParaRPr lang="en-IN" sz="1300" b="0" u="none" strike="noStrike">
              <a:solidFill>
                <a:srgbClr val="000000"/>
              </a:solidFill>
              <a:effectLst/>
              <a:uFillTx/>
              <a:latin typeface="Arial"/>
            </a:endParaRPr>
          </a:p>
        </p:txBody>
      </p:sp>
      <p:sp>
        <p:nvSpPr>
          <p:cNvPr id="415" name="S"/>
          <p:cNvSpPr/>
          <p:nvPr/>
        </p:nvSpPr>
        <p:spPr>
          <a:xfrm>
            <a:off x="2597040" y="1271160"/>
            <a:ext cx="292320" cy="292320"/>
          </a:xfrm>
          <a:prstGeom prst="ellipse">
            <a:avLst/>
          </a:prstGeom>
          <a:solidFill>
            <a:srgbClr val="FFFFFF"/>
          </a:solidFill>
          <a:ln w="19050">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16" name="S"/>
          <p:cNvSpPr/>
          <p:nvPr/>
        </p:nvSpPr>
        <p:spPr>
          <a:xfrm>
            <a:off x="2660760" y="1334880"/>
            <a:ext cx="164160" cy="16416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17" name="S"/>
          <p:cNvSpPr/>
          <p:nvPr/>
        </p:nvSpPr>
        <p:spPr>
          <a:xfrm>
            <a:off x="9820800" y="1271160"/>
            <a:ext cx="292320" cy="292320"/>
          </a:xfrm>
          <a:prstGeom prst="ellipse">
            <a:avLst/>
          </a:prstGeom>
          <a:solidFill>
            <a:srgbClr val="FFFFFF"/>
          </a:solidFill>
          <a:ln w="19050">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18" name="S"/>
          <p:cNvSpPr/>
          <p:nvPr/>
        </p:nvSpPr>
        <p:spPr>
          <a:xfrm>
            <a:off x="9884520" y="1334880"/>
            <a:ext cx="164160" cy="16416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19" name="S"/>
          <p:cNvSpPr/>
          <p:nvPr/>
        </p:nvSpPr>
        <p:spPr>
          <a:xfrm>
            <a:off x="6163200" y="3968640"/>
            <a:ext cx="292320" cy="292320"/>
          </a:xfrm>
          <a:prstGeom prst="ellipse">
            <a:avLst/>
          </a:prstGeom>
          <a:solidFill>
            <a:srgbClr val="FFFFFF"/>
          </a:solidFill>
          <a:ln w="19050">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20" name="S"/>
          <p:cNvSpPr/>
          <p:nvPr/>
        </p:nvSpPr>
        <p:spPr>
          <a:xfrm>
            <a:off x="6226920" y="4032360"/>
            <a:ext cx="164160" cy="16416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cxnSp>
        <p:nvCxnSpPr>
          <p:cNvPr id="421" name="T"/>
          <p:cNvCxnSpPr/>
          <p:nvPr/>
        </p:nvCxnSpPr>
        <p:spPr>
          <a:xfrm>
            <a:off x="813600" y="2103120"/>
            <a:ext cx="1244160" cy="360"/>
          </a:xfrm>
          <a:prstGeom prst="straightConnector1">
            <a:avLst/>
          </a:prstGeom>
          <a:ln w="19050">
            <a:solidFill>
              <a:srgbClr val="F28C28"/>
            </a:solidFill>
            <a:round/>
            <a:tailEnd len="med" type="triangle" w="med"/>
          </a:ln>
        </p:spPr>
      </p:cxnSp>
      <p:cxnSp>
        <p:nvCxnSpPr>
          <p:cNvPr id="422" name="T"/>
          <p:cNvCxnSpPr/>
          <p:nvPr/>
        </p:nvCxnSpPr>
        <p:spPr>
          <a:xfrm>
            <a:off x="3429000" y="2103120"/>
            <a:ext cx="2194920" cy="360"/>
          </a:xfrm>
          <a:prstGeom prst="straightConnector1">
            <a:avLst/>
          </a:prstGeom>
          <a:ln w="19050">
            <a:solidFill>
              <a:srgbClr val="F28C28"/>
            </a:solidFill>
            <a:round/>
            <a:tailEnd len="med" type="triangle" w="med"/>
          </a:ln>
        </p:spPr>
      </p:cxnSp>
      <p:cxnSp>
        <p:nvCxnSpPr>
          <p:cNvPr id="423" name="T"/>
          <p:cNvCxnSpPr/>
          <p:nvPr/>
        </p:nvCxnSpPr>
        <p:spPr>
          <a:xfrm>
            <a:off x="6995160" y="2103120"/>
            <a:ext cx="2286360" cy="360"/>
          </a:xfrm>
          <a:prstGeom prst="straightConnector1">
            <a:avLst/>
          </a:prstGeom>
          <a:ln w="19050">
            <a:solidFill>
              <a:srgbClr val="F28C28"/>
            </a:solidFill>
            <a:round/>
            <a:tailEnd len="med" type="triangle" w="med"/>
          </a:ln>
        </p:spPr>
      </p:cxnSp>
      <p:cxnSp>
        <p:nvCxnSpPr>
          <p:cNvPr id="424" name="T"/>
          <p:cNvCxnSpPr/>
          <p:nvPr/>
        </p:nvCxnSpPr>
        <p:spPr>
          <a:xfrm>
            <a:off x="6309360" y="2423160"/>
            <a:ext cx="360" cy="640440"/>
          </a:xfrm>
          <a:prstGeom prst="straightConnector1">
            <a:avLst/>
          </a:prstGeom>
          <a:ln w="19050">
            <a:solidFill>
              <a:srgbClr val="F28C28"/>
            </a:solidFill>
            <a:round/>
            <a:tailEnd len="med" type="triangle" w="med"/>
          </a:ln>
        </p:spPr>
      </p:cxnSp>
      <p:cxnSp>
        <p:nvCxnSpPr>
          <p:cNvPr id="425" name="T"/>
          <p:cNvCxnSpPr/>
          <p:nvPr/>
        </p:nvCxnSpPr>
        <p:spPr>
          <a:xfrm flipH="1">
            <a:off x="6858000" y="2295000"/>
            <a:ext cx="2560680" cy="896400"/>
          </a:xfrm>
          <a:prstGeom prst="straightConnector1">
            <a:avLst/>
          </a:prstGeom>
          <a:ln w="19050">
            <a:solidFill>
              <a:srgbClr val="F28C28"/>
            </a:solidFill>
            <a:round/>
            <a:tailEnd len="med" type="triangle" w="med"/>
          </a:ln>
        </p:spPr>
      </p:cxnSp>
      <p:cxnSp>
        <p:nvCxnSpPr>
          <p:cNvPr id="426" name="T"/>
          <p:cNvCxnSpPr/>
          <p:nvPr/>
        </p:nvCxnSpPr>
        <p:spPr>
          <a:xfrm flipH="1" flipV="1">
            <a:off x="3286440" y="2298240"/>
            <a:ext cx="2479680" cy="889920"/>
          </a:xfrm>
          <a:prstGeom prst="straightConnector1">
            <a:avLst/>
          </a:prstGeom>
          <a:ln w="19050">
            <a:solidFill>
              <a:srgbClr val="F28C28"/>
            </a:solidFill>
            <a:round/>
            <a:tailEnd len="med" type="triangle" w="med"/>
          </a:ln>
        </p:spPr>
      </p:cxnSp>
      <p:cxnSp>
        <p:nvCxnSpPr>
          <p:cNvPr id="427" name="T"/>
          <p:cNvCxnSpPr/>
          <p:nvPr/>
        </p:nvCxnSpPr>
        <p:spPr>
          <a:xfrm flipV="1">
            <a:off x="2743200" y="1563480"/>
            <a:ext cx="360" cy="219960"/>
          </a:xfrm>
          <a:prstGeom prst="straightConnector1">
            <a:avLst/>
          </a:prstGeom>
          <a:ln w="19050">
            <a:solidFill>
              <a:srgbClr val="F28C28"/>
            </a:solidFill>
            <a:round/>
            <a:tailEnd len="med" type="triangle" w="med"/>
          </a:ln>
        </p:spPr>
      </p:cxnSp>
      <p:cxnSp>
        <p:nvCxnSpPr>
          <p:cNvPr id="428" name="T"/>
          <p:cNvCxnSpPr/>
          <p:nvPr/>
        </p:nvCxnSpPr>
        <p:spPr>
          <a:xfrm flipV="1">
            <a:off x="9966960" y="1563480"/>
            <a:ext cx="360" cy="219960"/>
          </a:xfrm>
          <a:prstGeom prst="straightConnector1">
            <a:avLst/>
          </a:prstGeom>
          <a:ln w="19050">
            <a:solidFill>
              <a:srgbClr val="F28C28"/>
            </a:solidFill>
            <a:round/>
            <a:tailEnd len="med" type="triangle" w="med"/>
          </a:ln>
        </p:spPr>
      </p:cxnSp>
      <p:cxnSp>
        <p:nvCxnSpPr>
          <p:cNvPr id="429" name="T"/>
          <p:cNvCxnSpPr/>
          <p:nvPr/>
        </p:nvCxnSpPr>
        <p:spPr>
          <a:xfrm>
            <a:off x="6309360" y="3703320"/>
            <a:ext cx="360" cy="265320"/>
          </a:xfrm>
          <a:prstGeom prst="straightConnector1">
            <a:avLst/>
          </a:prstGeom>
          <a:ln w="19050">
            <a:solidFill>
              <a:srgbClr val="F28C28"/>
            </a:solidFill>
            <a:round/>
            <a:tailEnd len="med" type="triangle" w="med"/>
          </a:ln>
        </p:spPr>
      </p:cxnSp>
      <p:sp>
        <p:nvSpPr>
          <p:cNvPr id="430" name="S"/>
          <p:cNvSpPr/>
          <p:nvPr/>
        </p:nvSpPr>
        <p:spPr>
          <a:xfrm>
            <a:off x="868680" y="1472040"/>
            <a:ext cx="146268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initial failure event</a:t>
            </a:r>
            <a:endParaRPr lang="en-IN" sz="1000" b="0" u="none" strike="noStrike">
              <a:solidFill>
                <a:srgbClr val="000000"/>
              </a:solidFill>
              <a:effectLst/>
              <a:uFillTx/>
              <a:latin typeface="Arial"/>
            </a:endParaRPr>
          </a:p>
          <a:p>
            <a:pPr algn="ctr" defTabSz="914400">
              <a:lnSpc>
                <a:spcPct val="100000"/>
              </a:lnSpc>
            </a:pPr>
            <a:r>
              <a:rPr lang="en-US" sz="1000" b="0" u="none" strike="noStrike">
                <a:solidFill>
                  <a:srgbClr val="2B2B2B"/>
                </a:solidFill>
                <a:effectLst/>
                <a:uFillTx/>
                <a:latin typeface="Calibri"/>
              </a:rPr>
              <a:t>scheduled</a:t>
            </a:r>
            <a:endParaRPr lang="en-IN" sz="1000" b="0" u="none" strike="noStrike">
              <a:solidFill>
                <a:srgbClr val="000000"/>
              </a:solidFill>
              <a:effectLst/>
              <a:uFillTx/>
              <a:latin typeface="Arial"/>
            </a:endParaRPr>
          </a:p>
        </p:txBody>
      </p:sp>
      <p:sp>
        <p:nvSpPr>
          <p:cNvPr id="431" name="S"/>
          <p:cNvSpPr/>
          <p:nvPr/>
        </p:nvSpPr>
        <p:spPr>
          <a:xfrm>
            <a:off x="3474720" y="1472040"/>
            <a:ext cx="210276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FAILURE event /</a:t>
            </a:r>
            <a:endParaRPr lang="en-IN" sz="1000" b="0" u="none" strike="noStrike">
              <a:solidFill>
                <a:srgbClr val="000000"/>
              </a:solidFill>
              <a:effectLst/>
              <a:uFillTx/>
              <a:latin typeface="Arial"/>
            </a:endParaRPr>
          </a:p>
          <a:p>
            <a:pPr algn="ctr" defTabSz="914400">
              <a:lnSpc>
                <a:spcPct val="100000"/>
              </a:lnSpc>
            </a:pPr>
            <a:r>
              <a:rPr lang="en-US" sz="1000" b="0" u="none" strike="noStrike">
                <a:solidFill>
                  <a:srgbClr val="2B2B2B"/>
                </a:solidFill>
                <a:effectLst/>
                <a:uFillTx/>
                <a:latin typeface="Calibri"/>
              </a:rPr>
              <a:t>stop uptime, increment count</a:t>
            </a:r>
            <a:endParaRPr lang="en-IN" sz="1000" b="0" u="none" strike="noStrike">
              <a:solidFill>
                <a:srgbClr val="000000"/>
              </a:solidFill>
              <a:effectLst/>
              <a:uFillTx/>
              <a:latin typeface="Arial"/>
            </a:endParaRPr>
          </a:p>
        </p:txBody>
      </p:sp>
      <p:sp>
        <p:nvSpPr>
          <p:cNvPr id="432" name="S"/>
          <p:cNvSpPr/>
          <p:nvPr/>
        </p:nvSpPr>
        <p:spPr>
          <a:xfrm>
            <a:off x="7223760" y="1472040"/>
            <a:ext cx="182844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no compatible idle</a:t>
            </a:r>
            <a:endParaRPr lang="en-IN" sz="1000" b="0" u="none" strike="noStrike">
              <a:solidFill>
                <a:srgbClr val="000000"/>
              </a:solidFill>
              <a:effectLst/>
              <a:uFillTx/>
              <a:latin typeface="Arial"/>
            </a:endParaRPr>
          </a:p>
          <a:p>
            <a:pPr algn="ctr" defTabSz="914400">
              <a:lnSpc>
                <a:spcPct val="100000"/>
              </a:lnSpc>
            </a:pPr>
            <a:r>
              <a:rPr lang="en-US" sz="1000" b="0" u="none" strike="noStrike">
                <a:solidFill>
                  <a:srgbClr val="2B2B2B"/>
                </a:solidFill>
                <a:effectLst/>
                <a:uFillTx/>
                <a:latin typeface="Calibri"/>
              </a:rPr>
              <a:t>adjuster</a:t>
            </a:r>
            <a:endParaRPr lang="en-IN" sz="1000" b="0" u="none" strike="noStrike">
              <a:solidFill>
                <a:srgbClr val="000000"/>
              </a:solidFill>
              <a:effectLst/>
              <a:uFillTx/>
              <a:latin typeface="Arial"/>
            </a:endParaRPr>
          </a:p>
        </p:txBody>
      </p:sp>
      <p:sp>
        <p:nvSpPr>
          <p:cNvPr id="433" name="S"/>
          <p:cNvSpPr/>
          <p:nvPr/>
        </p:nvSpPr>
        <p:spPr>
          <a:xfrm>
            <a:off x="4937760" y="2432160"/>
            <a:ext cx="118836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compatible idle</a:t>
            </a:r>
            <a:endParaRPr lang="en-IN" sz="1000" b="0" u="none" strike="noStrike">
              <a:solidFill>
                <a:srgbClr val="000000"/>
              </a:solidFill>
              <a:effectLst/>
              <a:uFillTx/>
              <a:latin typeface="Arial"/>
            </a:endParaRPr>
          </a:p>
          <a:p>
            <a:pPr algn="ctr" defTabSz="914400">
              <a:lnSpc>
                <a:spcPct val="100000"/>
              </a:lnSpc>
            </a:pPr>
            <a:r>
              <a:rPr lang="en-US" sz="1000" b="0" u="none" strike="noStrike">
                <a:solidFill>
                  <a:srgbClr val="2B2B2B"/>
                </a:solidFill>
                <a:effectLst/>
                <a:uFillTx/>
                <a:latin typeface="Calibri"/>
              </a:rPr>
              <a:t>adjuster selected</a:t>
            </a:r>
            <a:endParaRPr lang="en-IN" sz="1000" b="0" u="none" strike="noStrike">
              <a:solidFill>
                <a:srgbClr val="000000"/>
              </a:solidFill>
              <a:effectLst/>
              <a:uFillTx/>
              <a:latin typeface="Arial"/>
            </a:endParaRPr>
          </a:p>
        </p:txBody>
      </p:sp>
      <p:sp>
        <p:nvSpPr>
          <p:cNvPr id="434" name="S"/>
          <p:cNvSpPr/>
          <p:nvPr/>
        </p:nvSpPr>
        <p:spPr>
          <a:xfrm>
            <a:off x="8321040" y="2889360"/>
            <a:ext cx="219420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compatible adjuster becomes</a:t>
            </a:r>
            <a:endParaRPr lang="en-IN" sz="1000" b="0" u="none" strike="noStrike">
              <a:solidFill>
                <a:srgbClr val="000000"/>
              </a:solidFill>
              <a:effectLst/>
              <a:uFillTx/>
              <a:latin typeface="Arial"/>
            </a:endParaRPr>
          </a:p>
          <a:p>
            <a:pPr algn="ctr" defTabSz="914400">
              <a:lnSpc>
                <a:spcPct val="100000"/>
              </a:lnSpc>
            </a:pPr>
            <a:r>
              <a:rPr lang="en-US" sz="1000" b="0" u="none" strike="noStrike">
                <a:solidFill>
                  <a:srgbClr val="2B2B2B"/>
                </a:solidFill>
                <a:effectLst/>
                <a:uFillTx/>
                <a:latin typeface="Calibri"/>
              </a:rPr>
              <a:t>idle / dispatch</a:t>
            </a:r>
            <a:endParaRPr lang="en-IN" sz="1000" b="0" u="none" strike="noStrike">
              <a:solidFill>
                <a:srgbClr val="000000"/>
              </a:solidFill>
              <a:effectLst/>
              <a:uFillTx/>
              <a:latin typeface="Arial"/>
            </a:endParaRPr>
          </a:p>
        </p:txBody>
      </p:sp>
      <p:sp>
        <p:nvSpPr>
          <p:cNvPr id="435" name="S"/>
          <p:cNvSpPr/>
          <p:nvPr/>
        </p:nvSpPr>
        <p:spPr>
          <a:xfrm>
            <a:off x="1920240" y="2980800"/>
            <a:ext cx="2742840" cy="621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REPAIR_DONE /</a:t>
            </a:r>
            <a:endParaRPr lang="en-IN" sz="1000" b="0" u="none" strike="noStrike">
              <a:solidFill>
                <a:srgbClr val="000000"/>
              </a:solidFill>
              <a:effectLst/>
              <a:uFillTx/>
              <a:latin typeface="Arial"/>
            </a:endParaRPr>
          </a:p>
          <a:p>
            <a:pPr algn="ctr" defTabSz="914400">
              <a:lnSpc>
                <a:spcPct val="100000"/>
              </a:lnSpc>
            </a:pPr>
            <a:r>
              <a:rPr lang="en-US" sz="1000" b="0" u="none" strike="noStrike">
                <a:solidFill>
                  <a:srgbClr val="2B2B2B"/>
                </a:solidFill>
                <a:effectLst/>
                <a:uFillTx/>
                <a:latin typeface="Calibri"/>
              </a:rPr>
              <a:t>release adjuster, schedule next failure</a:t>
            </a:r>
            <a:endParaRPr lang="en-IN" sz="1000" b="0" u="none" strike="noStrike">
              <a:solidFill>
                <a:srgbClr val="000000"/>
              </a:solidFill>
              <a:effectLst/>
              <a:uFillTx/>
              <a:latin typeface="Arial"/>
            </a:endParaRPr>
          </a:p>
        </p:txBody>
      </p:sp>
      <p:sp>
        <p:nvSpPr>
          <p:cNvPr id="436" name="S"/>
          <p:cNvSpPr/>
          <p:nvPr/>
        </p:nvSpPr>
        <p:spPr>
          <a:xfrm>
            <a:off x="2880360" y="1508760"/>
            <a:ext cx="1279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000" b="0" u="none" strike="noStrike">
                <a:solidFill>
                  <a:srgbClr val="2B2B2B"/>
                </a:solidFill>
                <a:effectLst/>
                <a:uFillTx/>
                <a:latin typeface="Calibri"/>
              </a:rPr>
              <a:t>simulation horizon</a:t>
            </a:r>
            <a:endParaRPr lang="en-IN" sz="1000" b="0" u="none" strike="noStrike">
              <a:solidFill>
                <a:srgbClr val="000000"/>
              </a:solidFill>
              <a:effectLst/>
              <a:uFillTx/>
              <a:latin typeface="Arial"/>
            </a:endParaRPr>
          </a:p>
        </p:txBody>
      </p:sp>
      <p:sp>
        <p:nvSpPr>
          <p:cNvPr id="437" name="S"/>
          <p:cNvSpPr/>
          <p:nvPr/>
        </p:nvSpPr>
        <p:spPr>
          <a:xfrm>
            <a:off x="10104120" y="1508760"/>
            <a:ext cx="1279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000" b="0" u="none" strike="noStrike">
                <a:solidFill>
                  <a:srgbClr val="2B2B2B"/>
                </a:solidFill>
                <a:effectLst/>
                <a:uFillTx/>
                <a:latin typeface="Calibri"/>
              </a:rPr>
              <a:t>simulation horizon</a:t>
            </a:r>
            <a:endParaRPr lang="en-IN" sz="1000" b="0" u="none" strike="noStrike">
              <a:solidFill>
                <a:srgbClr val="000000"/>
              </a:solidFill>
              <a:effectLst/>
              <a:uFillTx/>
              <a:latin typeface="Arial"/>
            </a:endParaRPr>
          </a:p>
        </p:txBody>
      </p:sp>
      <p:sp>
        <p:nvSpPr>
          <p:cNvPr id="438" name="S"/>
          <p:cNvSpPr/>
          <p:nvPr/>
        </p:nvSpPr>
        <p:spPr>
          <a:xfrm>
            <a:off x="6446520" y="3684960"/>
            <a:ext cx="1279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000" b="0" u="none" strike="noStrike">
                <a:solidFill>
                  <a:srgbClr val="2B2B2B"/>
                </a:solidFill>
                <a:effectLst/>
                <a:uFillTx/>
                <a:latin typeface="Calibri"/>
              </a:rPr>
              <a:t>simulation horizon</a:t>
            </a:r>
            <a:endParaRPr lang="en-IN" sz="1000" b="0" u="none" strike="noStrike">
              <a:solidFill>
                <a:srgbClr val="000000"/>
              </a:solidFill>
              <a:effectLst/>
              <a:uFillTx/>
              <a:latin typeface="Arial"/>
            </a:endParaRPr>
          </a:p>
        </p:txBody>
      </p:sp>
      <p:sp>
        <p:nvSpPr>
          <p:cNvPr id="439" name="S"/>
          <p:cNvSpPr/>
          <p:nvPr/>
        </p:nvSpPr>
        <p:spPr>
          <a:xfrm>
            <a:off x="548640" y="4279320"/>
            <a:ext cx="1828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600" b="1" u="none" strike="noStrike">
                <a:solidFill>
                  <a:srgbClr val="F28C28"/>
                </a:solidFill>
                <a:effectLst/>
                <a:uFillTx/>
                <a:latin typeface="Calibri"/>
              </a:rPr>
              <a:t>Adjuster</a:t>
            </a:r>
            <a:endParaRPr lang="en-IN" sz="1600" b="0" u="none" strike="noStrike">
              <a:solidFill>
                <a:srgbClr val="000000"/>
              </a:solidFill>
              <a:effectLst/>
              <a:uFillTx/>
              <a:latin typeface="Arial"/>
            </a:endParaRPr>
          </a:p>
        </p:txBody>
      </p:sp>
      <p:sp>
        <p:nvSpPr>
          <p:cNvPr id="440" name="S"/>
          <p:cNvSpPr/>
          <p:nvPr/>
        </p:nvSpPr>
        <p:spPr>
          <a:xfrm>
            <a:off x="694800" y="4809600"/>
            <a:ext cx="255600" cy="25560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41" name="S"/>
          <p:cNvSpPr/>
          <p:nvPr/>
        </p:nvSpPr>
        <p:spPr>
          <a:xfrm>
            <a:off x="1965960" y="4617720"/>
            <a:ext cx="1371240" cy="639720"/>
          </a:xfrm>
          <a:prstGeom prst="ellipse">
            <a:avLst/>
          </a:prstGeom>
          <a:solidFill>
            <a:srgbClr val="FFFFFF"/>
          </a:solidFill>
          <a:ln w="15875">
            <a:solidFill>
              <a:srgbClr val="F28C28"/>
            </a:solidFill>
            <a:round/>
          </a:ln>
        </p:spPr>
        <p:style>
          <a:lnRef idx="0"/>
          <a:fillRef idx="0"/>
          <a:effectRef idx="0"/>
          <a:fontRef idx="minor"/>
        </p:style>
        <p:txBody>
          <a:bodyPr lIns="0" tIns="0" rIns="0" bIns="0" anchor="ctr">
            <a:noAutofit/>
          </a:bodyPr>
          <a:p>
            <a:pPr algn="ctr" defTabSz="914400">
              <a:lnSpc>
                <a:spcPct val="100000"/>
              </a:lnSpc>
            </a:pPr>
            <a:r>
              <a:rPr lang="en-US" sz="1300" b="1" u="none" strike="noStrike">
                <a:solidFill>
                  <a:srgbClr val="14213D"/>
                </a:solidFill>
                <a:effectLst/>
                <a:uFillTx/>
                <a:latin typeface="Calibri"/>
              </a:rPr>
              <a:t>IDLE</a:t>
            </a:r>
            <a:endParaRPr lang="en-IN" sz="1300" b="0" u="none" strike="noStrike">
              <a:solidFill>
                <a:srgbClr val="000000"/>
              </a:solidFill>
              <a:effectLst/>
              <a:uFillTx/>
              <a:latin typeface="Arial"/>
            </a:endParaRPr>
          </a:p>
        </p:txBody>
      </p:sp>
      <p:sp>
        <p:nvSpPr>
          <p:cNvPr id="442" name="S"/>
          <p:cNvSpPr/>
          <p:nvPr/>
        </p:nvSpPr>
        <p:spPr>
          <a:xfrm>
            <a:off x="5715000" y="4617720"/>
            <a:ext cx="1371240" cy="639720"/>
          </a:xfrm>
          <a:prstGeom prst="ellipse">
            <a:avLst/>
          </a:prstGeom>
          <a:solidFill>
            <a:srgbClr val="FFFFFF"/>
          </a:solidFill>
          <a:ln w="15875">
            <a:solidFill>
              <a:srgbClr val="F28C28"/>
            </a:solidFill>
            <a:round/>
          </a:ln>
        </p:spPr>
        <p:style>
          <a:lnRef idx="0"/>
          <a:fillRef idx="0"/>
          <a:effectRef idx="0"/>
          <a:fontRef idx="minor"/>
        </p:style>
        <p:txBody>
          <a:bodyPr lIns="0" tIns="0" rIns="0" bIns="0" anchor="ctr">
            <a:noAutofit/>
          </a:bodyPr>
          <a:p>
            <a:pPr algn="ctr" defTabSz="914400">
              <a:lnSpc>
                <a:spcPct val="100000"/>
              </a:lnSpc>
            </a:pPr>
            <a:r>
              <a:rPr lang="en-US" sz="1300" b="1" u="none" strike="noStrike">
                <a:solidFill>
                  <a:srgbClr val="14213D"/>
                </a:solidFill>
                <a:effectLst/>
                <a:uFillTx/>
                <a:latin typeface="Calibri"/>
              </a:rPr>
              <a:t>BUSY</a:t>
            </a:r>
            <a:endParaRPr lang="en-IN" sz="1300" b="0" u="none" strike="noStrike">
              <a:solidFill>
                <a:srgbClr val="000000"/>
              </a:solidFill>
              <a:effectLst/>
              <a:uFillTx/>
              <a:latin typeface="Arial"/>
            </a:endParaRPr>
          </a:p>
        </p:txBody>
      </p:sp>
      <p:sp>
        <p:nvSpPr>
          <p:cNvPr id="443" name="S"/>
          <p:cNvSpPr/>
          <p:nvPr/>
        </p:nvSpPr>
        <p:spPr>
          <a:xfrm>
            <a:off x="8997840" y="4791600"/>
            <a:ext cx="292320" cy="292320"/>
          </a:xfrm>
          <a:prstGeom prst="ellipse">
            <a:avLst/>
          </a:prstGeom>
          <a:solidFill>
            <a:srgbClr val="FFFFFF"/>
          </a:solidFill>
          <a:ln w="19050">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44" name="S"/>
          <p:cNvSpPr/>
          <p:nvPr/>
        </p:nvSpPr>
        <p:spPr>
          <a:xfrm>
            <a:off x="9061560" y="4855320"/>
            <a:ext cx="164160" cy="16416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45" name="S"/>
          <p:cNvSpPr/>
          <p:nvPr/>
        </p:nvSpPr>
        <p:spPr>
          <a:xfrm>
            <a:off x="2505600" y="5385960"/>
            <a:ext cx="292320" cy="292320"/>
          </a:xfrm>
          <a:prstGeom prst="ellipse">
            <a:avLst/>
          </a:prstGeom>
          <a:solidFill>
            <a:srgbClr val="FFFFFF"/>
          </a:solidFill>
          <a:ln w="19050">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sp>
        <p:nvSpPr>
          <p:cNvPr id="446" name="S"/>
          <p:cNvSpPr/>
          <p:nvPr/>
        </p:nvSpPr>
        <p:spPr>
          <a:xfrm>
            <a:off x="2569320" y="5449680"/>
            <a:ext cx="164160" cy="164160"/>
          </a:xfrm>
          <a:prstGeom prst="ellipse">
            <a:avLst/>
          </a:prstGeom>
          <a:solidFill>
            <a:srgbClr val="14213D"/>
          </a:solidFill>
          <a:ln w="15875">
            <a:solidFill>
              <a:srgbClr val="14213D"/>
            </a:solidFill>
            <a:round/>
          </a:ln>
        </p:spPr>
        <p:style>
          <a:lnRef idx="0"/>
          <a:fillRef idx="0"/>
          <a:effectRef idx="0"/>
          <a:fontRef idx="minor"/>
        </p:style>
        <p:txBody>
          <a:bodyPr lIns="0" tIns="0" rIns="0" bIns="0" anchor="ctr">
            <a:noAutofit/>
          </a:bodyPr>
          <a:p>
            <a:endParaRPr lang="en-IN" sz="1800" b="0" u="none" strike="noStrike">
              <a:solidFill>
                <a:schemeClr val="dk1"/>
              </a:solidFill>
              <a:effectLst/>
              <a:uFillTx/>
              <a:latin typeface="Calibri"/>
            </a:endParaRPr>
          </a:p>
        </p:txBody>
      </p:sp>
      <p:cxnSp>
        <p:nvCxnSpPr>
          <p:cNvPr id="447" name="T"/>
          <p:cNvCxnSpPr/>
          <p:nvPr/>
        </p:nvCxnSpPr>
        <p:spPr>
          <a:xfrm>
            <a:off x="950760" y="4937760"/>
            <a:ext cx="1015560" cy="360"/>
          </a:xfrm>
          <a:prstGeom prst="straightConnector1">
            <a:avLst/>
          </a:prstGeom>
          <a:ln w="19050">
            <a:solidFill>
              <a:srgbClr val="F28C28"/>
            </a:solidFill>
            <a:round/>
            <a:tailEnd len="med" type="triangle" w="med"/>
          </a:ln>
        </p:spPr>
      </p:cxnSp>
      <p:cxnSp>
        <p:nvCxnSpPr>
          <p:cNvPr id="448" name="T"/>
          <p:cNvCxnSpPr/>
          <p:nvPr/>
        </p:nvCxnSpPr>
        <p:spPr>
          <a:xfrm>
            <a:off x="7086600" y="4937760"/>
            <a:ext cx="1911240" cy="360"/>
          </a:xfrm>
          <a:prstGeom prst="straightConnector1">
            <a:avLst/>
          </a:prstGeom>
          <a:ln w="19050">
            <a:solidFill>
              <a:srgbClr val="F28C28"/>
            </a:solidFill>
            <a:round/>
            <a:tailEnd len="med" type="triangle" w="med"/>
          </a:ln>
        </p:spPr>
      </p:cxnSp>
      <p:cxnSp>
        <p:nvCxnSpPr>
          <p:cNvPr id="449" name="T"/>
          <p:cNvCxnSpPr/>
          <p:nvPr/>
        </p:nvCxnSpPr>
        <p:spPr>
          <a:xfrm>
            <a:off x="2651760" y="5257800"/>
            <a:ext cx="360" cy="128160"/>
          </a:xfrm>
          <a:prstGeom prst="straightConnector1">
            <a:avLst/>
          </a:prstGeom>
          <a:ln w="19050">
            <a:solidFill>
              <a:srgbClr val="F28C28"/>
            </a:solidFill>
            <a:round/>
            <a:tailEnd len="med" type="triangle" w="med"/>
          </a:ln>
        </p:spPr>
      </p:cxnSp>
      <p:cxnSp>
        <p:nvCxnSpPr>
          <p:cNvPr id="450" name="T"/>
          <p:cNvCxnSpPr/>
          <p:nvPr/>
        </p:nvCxnSpPr>
        <p:spPr>
          <a:xfrm>
            <a:off x="3273480" y="4800600"/>
            <a:ext cx="2505600" cy="360"/>
          </a:xfrm>
          <a:prstGeom prst="straightConnector1">
            <a:avLst/>
          </a:prstGeom>
          <a:ln w="19050">
            <a:solidFill>
              <a:srgbClr val="F28C28"/>
            </a:solidFill>
            <a:round/>
            <a:tailEnd len="med" type="triangle" w="med"/>
          </a:ln>
        </p:spPr>
      </p:cxnSp>
      <p:cxnSp>
        <p:nvCxnSpPr>
          <p:cNvPr id="451" name="T"/>
          <p:cNvCxnSpPr/>
          <p:nvPr/>
        </p:nvCxnSpPr>
        <p:spPr>
          <a:xfrm flipH="1">
            <a:off x="3273480" y="5074920"/>
            <a:ext cx="2505600" cy="360"/>
          </a:xfrm>
          <a:prstGeom prst="straightConnector1">
            <a:avLst/>
          </a:prstGeom>
          <a:ln w="19050">
            <a:solidFill>
              <a:srgbClr val="F28C28"/>
            </a:solidFill>
            <a:round/>
            <a:tailEnd len="med" type="triangle" w="med"/>
          </a:ln>
        </p:spPr>
      </p:cxnSp>
      <p:sp>
        <p:nvSpPr>
          <p:cNvPr id="452" name="S"/>
          <p:cNvSpPr/>
          <p:nvPr/>
        </p:nvSpPr>
        <p:spPr>
          <a:xfrm>
            <a:off x="3383280" y="4416480"/>
            <a:ext cx="228564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assigned compatible failed machine</a:t>
            </a:r>
            <a:endParaRPr lang="en-IN" sz="1000" b="0" u="none" strike="noStrike">
              <a:solidFill>
                <a:srgbClr val="000000"/>
              </a:solidFill>
              <a:effectLst/>
              <a:uFillTx/>
              <a:latin typeface="Arial"/>
            </a:endParaRPr>
          </a:p>
        </p:txBody>
      </p:sp>
      <p:sp>
        <p:nvSpPr>
          <p:cNvPr id="453" name="S"/>
          <p:cNvSpPr/>
          <p:nvPr/>
        </p:nvSpPr>
        <p:spPr>
          <a:xfrm>
            <a:off x="3611880" y="5148000"/>
            <a:ext cx="182844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repair completes</a:t>
            </a:r>
            <a:endParaRPr lang="en-IN" sz="1000" b="0" u="none" strike="noStrike">
              <a:solidFill>
                <a:srgbClr val="000000"/>
              </a:solidFill>
              <a:effectLst/>
              <a:uFillTx/>
              <a:latin typeface="Arial"/>
            </a:endParaRPr>
          </a:p>
        </p:txBody>
      </p:sp>
      <p:sp>
        <p:nvSpPr>
          <p:cNvPr id="454" name="S"/>
          <p:cNvSpPr/>
          <p:nvPr/>
        </p:nvSpPr>
        <p:spPr>
          <a:xfrm>
            <a:off x="7498080" y="4553640"/>
            <a:ext cx="127980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en-US" sz="1000" b="0" u="none" strike="noStrike">
                <a:solidFill>
                  <a:srgbClr val="2B2B2B"/>
                </a:solidFill>
                <a:effectLst/>
                <a:uFillTx/>
                <a:latin typeface="Calibri"/>
              </a:rPr>
              <a:t>simulation horizon</a:t>
            </a:r>
            <a:endParaRPr lang="en-IN" sz="1000" b="0" u="none" strike="noStrike">
              <a:solidFill>
                <a:srgbClr val="000000"/>
              </a:solidFill>
              <a:effectLst/>
              <a:uFillTx/>
              <a:latin typeface="Arial"/>
            </a:endParaRPr>
          </a:p>
        </p:txBody>
      </p:sp>
      <p:sp>
        <p:nvSpPr>
          <p:cNvPr id="455" name="S"/>
          <p:cNvSpPr/>
          <p:nvPr/>
        </p:nvSpPr>
        <p:spPr>
          <a:xfrm>
            <a:off x="2971800" y="5266800"/>
            <a:ext cx="127980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000" b="0" u="none" strike="noStrike">
                <a:solidFill>
                  <a:srgbClr val="2B2B2B"/>
                </a:solidFill>
                <a:effectLst/>
                <a:uFillTx/>
                <a:latin typeface="Calibri"/>
              </a:rPr>
              <a:t>simulation horizon</a:t>
            </a:r>
            <a:endParaRPr lang="en-IN" sz="1000" b="0" u="none" strike="noStrike">
              <a:solidFill>
                <a:srgbClr val="000000"/>
              </a:solidFill>
              <a:effectLst/>
              <a:uFillTx/>
              <a:latin typeface="Arial"/>
            </a:endParaRPr>
          </a:p>
        </p:txBody>
      </p:sp>
      <p:sp>
        <p:nvSpPr>
          <p:cNvPr id="456" name="Shape 32"/>
          <p:cNvSpPr/>
          <p:nvPr/>
        </p:nvSpPr>
        <p:spPr>
          <a:xfrm>
            <a:off x="548640" y="585216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457" name="Text 33"/>
          <p:cNvSpPr/>
          <p:nvPr/>
        </p:nvSpPr>
        <p:spPr>
          <a:xfrm>
            <a:off x="685800" y="585216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FAILED is transient: it lasts only while the system chooses between repair and waiting. At the simulation horizon any state ends the run.</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458"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Sequence Diagram, Simulation Execution</a:t>
            </a:r>
            <a:endParaRPr lang="en-IN" sz="3000" b="0" u="none" strike="noStrike">
              <a:solidFill>
                <a:srgbClr val="000000"/>
              </a:solidFill>
              <a:effectLst/>
              <a:uFillTx/>
              <a:latin typeface="Arial"/>
            </a:endParaRPr>
          </a:p>
        </p:txBody>
      </p:sp>
      <p:sp>
        <p:nvSpPr>
          <p:cNvPr id="459"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18</a:t>
            </a:r>
            <a:endParaRPr lang="en-IN" sz="1100" b="0" u="none" strike="noStrike">
              <a:solidFill>
                <a:srgbClr val="000000"/>
              </a:solidFill>
              <a:effectLst/>
              <a:uFillTx/>
              <a:latin typeface="Arial"/>
            </a:endParaRPr>
          </a:p>
        </p:txBody>
      </p:sp>
      <p:sp>
        <p:nvSpPr>
          <p:cNvPr id="460" name="S"/>
          <p:cNvSpPr/>
          <p:nvPr/>
        </p:nvSpPr>
        <p:spPr>
          <a:xfrm>
            <a:off x="228600" y="987480"/>
            <a:ext cx="137124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Analyst</a:t>
            </a:r>
            <a:endParaRPr lang="en-IN" sz="1100" b="0" u="none" strike="noStrike">
              <a:solidFill>
                <a:srgbClr val="FFFFFF"/>
              </a:solidFill>
              <a:effectLst/>
              <a:uFillTx/>
              <a:latin typeface="Arial"/>
            </a:endParaRPr>
          </a:p>
        </p:txBody>
      </p:sp>
      <p:sp>
        <p:nvSpPr>
          <p:cNvPr id="461" name="S"/>
          <p:cNvSpPr/>
          <p:nvPr/>
        </p:nvSpPr>
        <p:spPr>
          <a:xfrm>
            <a:off x="2377440" y="987480"/>
            <a:ext cx="146268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Streamlit UI</a:t>
            </a:r>
            <a:endParaRPr lang="en-IN" sz="1100" b="0" u="none" strike="noStrike">
              <a:solidFill>
                <a:srgbClr val="FFFFFF"/>
              </a:solidFill>
              <a:effectLst/>
              <a:uFillTx/>
              <a:latin typeface="Arial"/>
            </a:endParaRPr>
          </a:p>
        </p:txBody>
      </p:sp>
      <p:sp>
        <p:nvSpPr>
          <p:cNvPr id="462" name="S"/>
          <p:cNvSpPr/>
          <p:nvPr/>
        </p:nvSpPr>
        <p:spPr>
          <a:xfrm>
            <a:off x="4663440" y="987480"/>
            <a:ext cx="146268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FastAPI</a:t>
            </a:r>
            <a:endParaRPr lang="en-IN" sz="1100" b="0" u="none" strike="noStrike">
              <a:solidFill>
                <a:srgbClr val="FFFFFF"/>
              </a:solidFill>
              <a:effectLst/>
              <a:uFillTx/>
              <a:latin typeface="Arial"/>
            </a:endParaRPr>
          </a:p>
        </p:txBody>
      </p:sp>
      <p:sp>
        <p:nvSpPr>
          <p:cNvPr id="463" name="S"/>
          <p:cNvSpPr/>
          <p:nvPr/>
        </p:nvSpPr>
        <p:spPr>
          <a:xfrm>
            <a:off x="6949440" y="987480"/>
            <a:ext cx="146268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Simulator</a:t>
            </a:r>
            <a:endParaRPr lang="en-IN" sz="1100" b="0" u="none" strike="noStrike">
              <a:solidFill>
                <a:srgbClr val="FFFFFF"/>
              </a:solidFill>
              <a:effectLst/>
              <a:uFillTx/>
              <a:latin typeface="Arial"/>
            </a:endParaRPr>
          </a:p>
        </p:txBody>
      </p:sp>
      <p:sp>
        <p:nvSpPr>
          <p:cNvPr id="464" name="S"/>
          <p:cNvSpPr/>
          <p:nvPr/>
        </p:nvSpPr>
        <p:spPr>
          <a:xfrm>
            <a:off x="10149840" y="987480"/>
            <a:ext cx="146268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MongoDB</a:t>
            </a:r>
            <a:endParaRPr lang="en-IN" sz="1100" b="0" u="none" strike="noStrike">
              <a:solidFill>
                <a:srgbClr val="FFFFFF"/>
              </a:solidFill>
              <a:effectLst/>
              <a:uFillTx/>
              <a:latin typeface="Arial"/>
            </a:endParaRPr>
          </a:p>
        </p:txBody>
      </p:sp>
      <p:sp>
        <p:nvSpPr>
          <p:cNvPr id="465" name="S"/>
          <p:cNvSpPr/>
          <p:nvPr/>
        </p:nvSpPr>
        <p:spPr>
          <a:xfrm>
            <a:off x="914400" y="1417320"/>
            <a:ext cx="219420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Configure machines, adjusters, duration, seed</a:t>
            </a:r>
            <a:endParaRPr lang="en-IN" sz="900" b="0" u="none" strike="noStrike">
              <a:solidFill>
                <a:srgbClr val="000000"/>
              </a:solidFill>
              <a:effectLst/>
              <a:uFillTx/>
              <a:latin typeface="Arial"/>
            </a:endParaRPr>
          </a:p>
        </p:txBody>
      </p:sp>
      <p:cxnSp>
        <p:nvCxnSpPr>
          <p:cNvPr id="466" name="L"/>
          <p:cNvCxnSpPr/>
          <p:nvPr/>
        </p:nvCxnSpPr>
        <p:spPr>
          <a:xfrm>
            <a:off x="914400" y="1609200"/>
            <a:ext cx="2194920" cy="360"/>
          </a:xfrm>
          <a:prstGeom prst="straightConnector1">
            <a:avLst/>
          </a:prstGeom>
          <a:ln w="19050">
            <a:solidFill>
              <a:srgbClr val="F28C28"/>
            </a:solidFill>
            <a:round/>
            <a:tailEnd len="med" type="triangle" w="med"/>
          </a:ln>
        </p:spPr>
      </p:cxnSp>
      <p:sp>
        <p:nvSpPr>
          <p:cNvPr id="467" name="S"/>
          <p:cNvSpPr/>
          <p:nvPr/>
        </p:nvSpPr>
        <p:spPr>
          <a:xfrm>
            <a:off x="914400" y="1636920"/>
            <a:ext cx="219420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Run simulation</a:t>
            </a:r>
            <a:endParaRPr lang="en-IN" sz="900" b="0" u="none" strike="noStrike">
              <a:solidFill>
                <a:srgbClr val="000000"/>
              </a:solidFill>
              <a:effectLst/>
              <a:uFillTx/>
              <a:latin typeface="Arial"/>
            </a:endParaRPr>
          </a:p>
        </p:txBody>
      </p:sp>
      <p:cxnSp>
        <p:nvCxnSpPr>
          <p:cNvPr id="468" name="L"/>
          <p:cNvCxnSpPr/>
          <p:nvPr/>
        </p:nvCxnSpPr>
        <p:spPr>
          <a:xfrm>
            <a:off x="914400" y="1828800"/>
            <a:ext cx="2194920" cy="360"/>
          </a:xfrm>
          <a:prstGeom prst="straightConnector1">
            <a:avLst/>
          </a:prstGeom>
          <a:ln w="19050">
            <a:solidFill>
              <a:srgbClr val="F28C28"/>
            </a:solidFill>
            <a:round/>
            <a:tailEnd len="med" type="triangle" w="med"/>
          </a:ln>
        </p:spPr>
      </p:cxnSp>
      <p:sp>
        <p:nvSpPr>
          <p:cNvPr id="469" name="S"/>
          <p:cNvSpPr/>
          <p:nvPr/>
        </p:nvSpPr>
        <p:spPr>
          <a:xfrm>
            <a:off x="3108960" y="1856160"/>
            <a:ext cx="22856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POST /simulate (scenario, save=true)</a:t>
            </a:r>
            <a:endParaRPr lang="en-IN" sz="900" b="0" u="none" strike="noStrike">
              <a:solidFill>
                <a:srgbClr val="000000"/>
              </a:solidFill>
              <a:effectLst/>
              <a:uFillTx/>
              <a:latin typeface="Arial"/>
            </a:endParaRPr>
          </a:p>
        </p:txBody>
      </p:sp>
      <p:cxnSp>
        <p:nvCxnSpPr>
          <p:cNvPr id="470" name="L"/>
          <p:cNvCxnSpPr/>
          <p:nvPr/>
        </p:nvCxnSpPr>
        <p:spPr>
          <a:xfrm>
            <a:off x="3108960" y="2048040"/>
            <a:ext cx="2286360" cy="360"/>
          </a:xfrm>
          <a:prstGeom prst="straightConnector1">
            <a:avLst/>
          </a:prstGeom>
          <a:ln w="19050">
            <a:solidFill>
              <a:srgbClr val="F28C28"/>
            </a:solidFill>
            <a:round/>
            <a:tailEnd len="med" type="triangle" w="med"/>
          </a:ln>
        </p:spPr>
      </p:cxnSp>
      <p:sp>
        <p:nvSpPr>
          <p:cNvPr id="471" name="S"/>
          <p:cNvSpPr/>
          <p:nvPr/>
        </p:nvSpPr>
        <p:spPr>
          <a:xfrm>
            <a:off x="5452920" y="2130480"/>
            <a:ext cx="1919880" cy="20088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900" b="0" u="none" strike="noStrike">
                <a:solidFill>
                  <a:srgbClr val="2B2B2B"/>
                </a:solidFill>
                <a:effectLst/>
                <a:uFillTx/>
                <a:latin typeface="Calibri"/>
              </a:rPr>
              <a:t>Validate payload and warm-up</a:t>
            </a:r>
            <a:endParaRPr lang="en-IN" sz="900" b="0" u="none" strike="noStrike">
              <a:solidFill>
                <a:srgbClr val="000000"/>
              </a:solidFill>
              <a:effectLst/>
              <a:uFillTx/>
              <a:latin typeface="Arial"/>
            </a:endParaRPr>
          </a:p>
        </p:txBody>
      </p:sp>
      <p:sp>
        <p:nvSpPr>
          <p:cNvPr id="472" name="S"/>
          <p:cNvSpPr/>
          <p:nvPr/>
        </p:nvSpPr>
        <p:spPr>
          <a:xfrm>
            <a:off x="5394960" y="2322720"/>
            <a:ext cx="22856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run_simulation(Scenario)</a:t>
            </a:r>
            <a:endParaRPr lang="en-IN" sz="900" b="0" u="none" strike="noStrike">
              <a:solidFill>
                <a:srgbClr val="000000"/>
              </a:solidFill>
              <a:effectLst/>
              <a:uFillTx/>
              <a:latin typeface="Arial"/>
            </a:endParaRPr>
          </a:p>
        </p:txBody>
      </p:sp>
      <p:cxnSp>
        <p:nvCxnSpPr>
          <p:cNvPr id="473" name="L"/>
          <p:cNvCxnSpPr/>
          <p:nvPr/>
        </p:nvCxnSpPr>
        <p:spPr>
          <a:xfrm>
            <a:off x="5394960" y="2514600"/>
            <a:ext cx="2286360" cy="360"/>
          </a:xfrm>
          <a:prstGeom prst="straightConnector1">
            <a:avLst/>
          </a:prstGeom>
          <a:ln w="19050">
            <a:solidFill>
              <a:srgbClr val="F28C28"/>
            </a:solidFill>
            <a:round/>
            <a:tailEnd len="med" type="triangle" w="med"/>
          </a:ln>
        </p:spPr>
      </p:cxnSp>
      <p:sp>
        <p:nvSpPr>
          <p:cNvPr id="474" name="S"/>
          <p:cNvSpPr/>
          <p:nvPr/>
        </p:nvSpPr>
        <p:spPr>
          <a:xfrm>
            <a:off x="7699320" y="2541960"/>
            <a:ext cx="2559960" cy="20088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900" b="0" u="none" strike="noStrike">
                <a:solidFill>
                  <a:srgbClr val="2B2B2B"/>
                </a:solidFill>
                <a:effectLst/>
                <a:uFillTx/>
                <a:latin typeface="Calibri"/>
              </a:rPr>
              <a:t>Generate entities and FAILURE events</a:t>
            </a:r>
            <a:endParaRPr lang="en-IN" sz="900" b="0" u="none" strike="noStrike">
              <a:solidFill>
                <a:srgbClr val="000000"/>
              </a:solidFill>
              <a:effectLst/>
              <a:uFillTx/>
              <a:latin typeface="Arial"/>
            </a:endParaRPr>
          </a:p>
        </p:txBody>
      </p:sp>
      <p:sp>
        <p:nvSpPr>
          <p:cNvPr id="475" name="S"/>
          <p:cNvSpPr/>
          <p:nvPr/>
        </p:nvSpPr>
        <p:spPr>
          <a:xfrm>
            <a:off x="7525440" y="2797920"/>
            <a:ext cx="3657240" cy="164160"/>
          </a:xfrm>
          <a:prstGeom prst="rect">
            <a:avLst/>
          </a:prstGeom>
          <a:noFill/>
          <a:ln w="0">
            <a:noFill/>
          </a:ln>
        </p:spPr>
        <p:style>
          <a:lnRef idx="0"/>
          <a:fillRef idx="0"/>
          <a:effectRef idx="0"/>
          <a:fontRef idx="minor"/>
        </p:style>
        <p:txBody>
          <a:bodyPr lIns="36000" tIns="0" rIns="36000" bIns="0" anchor="t">
            <a:noAutofit/>
          </a:bodyPr>
          <a:p>
            <a:pPr defTabSz="914400">
              <a:lnSpc>
                <a:spcPct val="100000"/>
              </a:lnSpc>
            </a:pPr>
            <a:r>
              <a:rPr lang="en-US" sz="850" b="1" u="none" strike="noStrike">
                <a:solidFill>
                  <a:srgbClr val="6B5A3A"/>
                </a:solidFill>
                <a:effectLst/>
                <a:uFillTx/>
                <a:latin typeface="Calibri"/>
              </a:rPr>
              <a:t>loop [Each event within duration]</a:t>
            </a:r>
            <a:endParaRPr lang="en-IN" sz="850" b="0" u="none" strike="noStrike">
              <a:solidFill>
                <a:srgbClr val="000000"/>
              </a:solidFill>
              <a:effectLst/>
              <a:uFillTx/>
              <a:latin typeface="Arial"/>
            </a:endParaRPr>
          </a:p>
        </p:txBody>
      </p:sp>
      <p:sp>
        <p:nvSpPr>
          <p:cNvPr id="476" name="S"/>
          <p:cNvSpPr/>
          <p:nvPr/>
        </p:nvSpPr>
        <p:spPr>
          <a:xfrm>
            <a:off x="7699320" y="2971800"/>
            <a:ext cx="2742840" cy="20088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900" b="0" u="none" strike="noStrike">
                <a:solidFill>
                  <a:srgbClr val="2B2B2B"/>
                </a:solidFill>
                <a:effectLst/>
                <a:uFillTx/>
                <a:latin typeface="Calibri"/>
              </a:rPr>
              <a:t>Process failure / repair completion / dispatch</a:t>
            </a:r>
            <a:endParaRPr lang="en-IN" sz="900" b="0" u="none" strike="noStrike">
              <a:solidFill>
                <a:srgbClr val="000000"/>
              </a:solidFill>
              <a:effectLst/>
              <a:uFillTx/>
              <a:latin typeface="Arial"/>
            </a:endParaRPr>
          </a:p>
        </p:txBody>
      </p:sp>
      <p:sp>
        <p:nvSpPr>
          <p:cNvPr id="477" name="S"/>
          <p:cNvSpPr/>
          <p:nvPr/>
        </p:nvSpPr>
        <p:spPr>
          <a:xfrm>
            <a:off x="7498080" y="2788920"/>
            <a:ext cx="3108600" cy="465840"/>
          </a:xfrm>
          <a:prstGeom prst="rect">
            <a:avLst/>
          </a:prstGeom>
          <a:noFill/>
          <a:ln w="9525">
            <a:solidFill>
              <a:srgbClr val="6B5A3A"/>
            </a:solidFill>
            <a:round/>
          </a:ln>
        </p:spPr>
        <p:style>
          <a:lnRef idx="0"/>
          <a:fillRef idx="0"/>
          <a:effectRef idx="0"/>
          <a:fontRef idx="minor"/>
        </p:style>
        <p:txBody>
          <a:bodyPr lIns="36000" tIns="0" rIns="36000" bIns="0" anchor="ctr">
            <a:noAutofit/>
          </a:bodyPr>
          <a:p>
            <a:endParaRPr lang="en-IN" sz="1800" b="0" u="none" strike="noStrike">
              <a:solidFill>
                <a:schemeClr val="dk1"/>
              </a:solidFill>
              <a:effectLst/>
              <a:uFillTx/>
              <a:latin typeface="Calibri"/>
            </a:endParaRPr>
          </a:p>
        </p:txBody>
      </p:sp>
      <p:sp>
        <p:nvSpPr>
          <p:cNvPr id="478" name="S"/>
          <p:cNvSpPr/>
          <p:nvPr/>
        </p:nvSpPr>
        <p:spPr>
          <a:xfrm>
            <a:off x="7699320" y="3255120"/>
            <a:ext cx="2559960" cy="20088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900" b="0" u="none" strike="noStrike">
                <a:solidFill>
                  <a:srgbClr val="2B2B2B"/>
                </a:solidFill>
                <a:effectLst/>
                <a:uFillTx/>
                <a:latin typeface="Calibri"/>
              </a:rPr>
              <a:t>Calculate utilization and waiting metrics</a:t>
            </a:r>
            <a:endParaRPr lang="en-IN" sz="900" b="0" u="none" strike="noStrike">
              <a:solidFill>
                <a:srgbClr val="000000"/>
              </a:solidFill>
              <a:effectLst/>
              <a:uFillTx/>
              <a:latin typeface="Arial"/>
            </a:endParaRPr>
          </a:p>
        </p:txBody>
      </p:sp>
      <p:sp>
        <p:nvSpPr>
          <p:cNvPr id="479" name="S"/>
          <p:cNvSpPr/>
          <p:nvPr/>
        </p:nvSpPr>
        <p:spPr>
          <a:xfrm>
            <a:off x="5394960" y="3502080"/>
            <a:ext cx="22856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Result object</a:t>
            </a:r>
            <a:endParaRPr lang="en-IN" sz="900" b="0" u="none" strike="noStrike">
              <a:solidFill>
                <a:srgbClr val="000000"/>
              </a:solidFill>
              <a:effectLst/>
              <a:uFillTx/>
              <a:latin typeface="Arial"/>
            </a:endParaRPr>
          </a:p>
        </p:txBody>
      </p:sp>
      <p:cxnSp>
        <p:nvCxnSpPr>
          <p:cNvPr id="480" name="L"/>
          <p:cNvCxnSpPr/>
          <p:nvPr/>
        </p:nvCxnSpPr>
        <p:spPr>
          <a:xfrm flipH="1">
            <a:off x="5394960" y="3693960"/>
            <a:ext cx="2286360" cy="360"/>
          </a:xfrm>
          <a:prstGeom prst="straightConnector1">
            <a:avLst/>
          </a:prstGeom>
          <a:ln w="19050">
            <a:solidFill>
              <a:srgbClr val="F28C28"/>
            </a:solidFill>
            <a:prstDash val="dash"/>
            <a:round/>
            <a:tailEnd len="med" type="arrow" w="med"/>
          </a:ln>
        </p:spPr>
      </p:cxnSp>
      <p:sp>
        <p:nvSpPr>
          <p:cNvPr id="481" name="S"/>
          <p:cNvSpPr/>
          <p:nvPr/>
        </p:nvSpPr>
        <p:spPr>
          <a:xfrm>
            <a:off x="5148000" y="3730680"/>
            <a:ext cx="3657240" cy="164160"/>
          </a:xfrm>
          <a:prstGeom prst="rect">
            <a:avLst/>
          </a:prstGeom>
          <a:noFill/>
          <a:ln w="0">
            <a:noFill/>
          </a:ln>
        </p:spPr>
        <p:style>
          <a:lnRef idx="0"/>
          <a:fillRef idx="0"/>
          <a:effectRef idx="0"/>
          <a:fontRef idx="minor"/>
        </p:style>
        <p:txBody>
          <a:bodyPr lIns="36000" tIns="0" rIns="36000" bIns="0" anchor="t">
            <a:noAutofit/>
          </a:bodyPr>
          <a:p>
            <a:pPr defTabSz="914400">
              <a:lnSpc>
                <a:spcPct val="100000"/>
              </a:lnSpc>
            </a:pPr>
            <a:r>
              <a:rPr lang="en-US" sz="850" b="1" u="none" strike="noStrike">
                <a:solidFill>
                  <a:srgbClr val="6B5A3A"/>
                </a:solidFill>
                <a:effectLst/>
                <a:uFillTx/>
                <a:latin typeface="Calibri"/>
              </a:rPr>
              <a:t>opt [Save requested]</a:t>
            </a:r>
            <a:endParaRPr lang="en-IN" sz="850" b="0" u="none" strike="noStrike">
              <a:solidFill>
                <a:srgbClr val="000000"/>
              </a:solidFill>
              <a:effectLst/>
              <a:uFillTx/>
              <a:latin typeface="Arial"/>
            </a:endParaRPr>
          </a:p>
        </p:txBody>
      </p:sp>
      <p:sp>
        <p:nvSpPr>
          <p:cNvPr id="482" name="S"/>
          <p:cNvSpPr/>
          <p:nvPr/>
        </p:nvSpPr>
        <p:spPr>
          <a:xfrm>
            <a:off x="5394960" y="3904560"/>
            <a:ext cx="54860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Insert scenario and result</a:t>
            </a:r>
            <a:endParaRPr lang="en-IN" sz="900" b="0" u="none" strike="noStrike">
              <a:solidFill>
                <a:srgbClr val="000000"/>
              </a:solidFill>
              <a:effectLst/>
              <a:uFillTx/>
              <a:latin typeface="Arial"/>
            </a:endParaRPr>
          </a:p>
        </p:txBody>
      </p:sp>
      <p:cxnSp>
        <p:nvCxnSpPr>
          <p:cNvPr id="483" name="L"/>
          <p:cNvCxnSpPr/>
          <p:nvPr/>
        </p:nvCxnSpPr>
        <p:spPr>
          <a:xfrm>
            <a:off x="5394960" y="4096440"/>
            <a:ext cx="5486760" cy="360"/>
          </a:xfrm>
          <a:prstGeom prst="straightConnector1">
            <a:avLst/>
          </a:prstGeom>
          <a:ln w="19050">
            <a:solidFill>
              <a:srgbClr val="F28C28"/>
            </a:solidFill>
            <a:round/>
            <a:tailEnd len="med" type="triangle" w="med"/>
          </a:ln>
        </p:spPr>
      </p:cxnSp>
      <p:sp>
        <p:nvSpPr>
          <p:cNvPr id="484" name="S"/>
          <p:cNvSpPr/>
          <p:nvPr/>
        </p:nvSpPr>
        <p:spPr>
          <a:xfrm>
            <a:off x="5239440" y="4133160"/>
            <a:ext cx="3657240" cy="164160"/>
          </a:xfrm>
          <a:prstGeom prst="rect">
            <a:avLst/>
          </a:prstGeom>
          <a:noFill/>
          <a:ln w="0">
            <a:noFill/>
          </a:ln>
        </p:spPr>
        <p:style>
          <a:lnRef idx="0"/>
          <a:fillRef idx="0"/>
          <a:effectRef idx="0"/>
          <a:fontRef idx="minor"/>
        </p:style>
        <p:txBody>
          <a:bodyPr lIns="36000" tIns="0" rIns="36000" bIns="0" anchor="t">
            <a:noAutofit/>
          </a:bodyPr>
          <a:p>
            <a:pPr defTabSz="914400">
              <a:lnSpc>
                <a:spcPct val="100000"/>
              </a:lnSpc>
            </a:pPr>
            <a:r>
              <a:rPr lang="en-US" sz="850" b="1" u="none" strike="noStrike">
                <a:solidFill>
                  <a:srgbClr val="6B5A3A"/>
                </a:solidFill>
                <a:effectLst/>
                <a:uFillTx/>
                <a:latin typeface="Calibri"/>
              </a:rPr>
              <a:t>alt [Persistence succeeds]</a:t>
            </a:r>
            <a:endParaRPr lang="en-IN" sz="850" b="0" u="none" strike="noStrike">
              <a:solidFill>
                <a:srgbClr val="000000"/>
              </a:solidFill>
              <a:effectLst/>
              <a:uFillTx/>
              <a:latin typeface="Arial"/>
            </a:endParaRPr>
          </a:p>
        </p:txBody>
      </p:sp>
      <p:sp>
        <p:nvSpPr>
          <p:cNvPr id="485" name="S"/>
          <p:cNvSpPr/>
          <p:nvPr/>
        </p:nvSpPr>
        <p:spPr>
          <a:xfrm>
            <a:off x="5394960" y="4306680"/>
            <a:ext cx="54860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Insert acknowledgment</a:t>
            </a:r>
            <a:endParaRPr lang="en-IN" sz="900" b="0" u="none" strike="noStrike">
              <a:solidFill>
                <a:srgbClr val="000000"/>
              </a:solidFill>
              <a:effectLst/>
              <a:uFillTx/>
              <a:latin typeface="Arial"/>
            </a:endParaRPr>
          </a:p>
        </p:txBody>
      </p:sp>
      <p:cxnSp>
        <p:nvCxnSpPr>
          <p:cNvPr id="486" name="L"/>
          <p:cNvCxnSpPr/>
          <p:nvPr/>
        </p:nvCxnSpPr>
        <p:spPr>
          <a:xfrm flipH="1">
            <a:off x="5394960" y="4498560"/>
            <a:ext cx="5486760" cy="360"/>
          </a:xfrm>
          <a:prstGeom prst="straightConnector1">
            <a:avLst/>
          </a:prstGeom>
          <a:ln w="19050">
            <a:solidFill>
              <a:srgbClr val="F28C28"/>
            </a:solidFill>
            <a:prstDash val="dash"/>
            <a:round/>
            <a:tailEnd len="med" type="arrow" w="med"/>
          </a:ln>
        </p:spPr>
      </p:cxnSp>
      <p:cxnSp>
        <p:nvCxnSpPr>
          <p:cNvPr id="487" name="L"/>
          <p:cNvCxnSpPr/>
          <p:nvPr/>
        </p:nvCxnSpPr>
        <p:spPr>
          <a:xfrm>
            <a:off x="5212080" y="4544280"/>
            <a:ext cx="6126840" cy="360"/>
          </a:xfrm>
          <a:prstGeom prst="straightConnector1">
            <a:avLst/>
          </a:prstGeom>
          <a:ln w="9525">
            <a:solidFill>
              <a:srgbClr val="6B5A3A"/>
            </a:solidFill>
            <a:prstDash val="dash"/>
            <a:round/>
          </a:ln>
        </p:spPr>
      </p:cxnSp>
      <p:sp>
        <p:nvSpPr>
          <p:cNvPr id="488" name="S"/>
          <p:cNvSpPr/>
          <p:nvPr/>
        </p:nvSpPr>
        <p:spPr>
          <a:xfrm>
            <a:off x="5239440" y="4553640"/>
            <a:ext cx="3657240" cy="145800"/>
          </a:xfrm>
          <a:prstGeom prst="rect">
            <a:avLst/>
          </a:prstGeom>
          <a:noFill/>
          <a:ln w="0">
            <a:noFill/>
          </a:ln>
        </p:spPr>
        <p:style>
          <a:lnRef idx="0"/>
          <a:fillRef idx="0"/>
          <a:effectRef idx="0"/>
          <a:fontRef idx="minor"/>
        </p:style>
        <p:txBody>
          <a:bodyPr lIns="36000" tIns="0" rIns="36000" bIns="0" anchor="t">
            <a:noAutofit/>
          </a:bodyPr>
          <a:p>
            <a:pPr defTabSz="914400">
              <a:lnSpc>
                <a:spcPct val="100000"/>
              </a:lnSpc>
            </a:pPr>
            <a:r>
              <a:rPr lang="en-US" sz="850" b="1" u="none" strike="noStrike">
                <a:solidFill>
                  <a:srgbClr val="6B5A3A"/>
                </a:solidFill>
                <a:effectLst/>
                <a:uFillTx/>
                <a:latin typeface="Calibri"/>
              </a:rPr>
              <a:t>[Persistence fails]</a:t>
            </a:r>
            <a:endParaRPr lang="en-IN" sz="850" b="0" u="none" strike="noStrike">
              <a:solidFill>
                <a:srgbClr val="000000"/>
              </a:solidFill>
              <a:effectLst/>
              <a:uFillTx/>
              <a:latin typeface="Arial"/>
            </a:endParaRPr>
          </a:p>
        </p:txBody>
      </p:sp>
      <p:sp>
        <p:nvSpPr>
          <p:cNvPr id="489" name="S"/>
          <p:cNvSpPr/>
          <p:nvPr/>
        </p:nvSpPr>
        <p:spPr>
          <a:xfrm>
            <a:off x="5394960" y="4690800"/>
            <a:ext cx="54860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Error</a:t>
            </a:r>
            <a:endParaRPr lang="en-IN" sz="900" b="0" u="none" strike="noStrike">
              <a:solidFill>
                <a:srgbClr val="000000"/>
              </a:solidFill>
              <a:effectLst/>
              <a:uFillTx/>
              <a:latin typeface="Arial"/>
            </a:endParaRPr>
          </a:p>
        </p:txBody>
      </p:sp>
      <p:cxnSp>
        <p:nvCxnSpPr>
          <p:cNvPr id="490" name="L"/>
          <p:cNvCxnSpPr/>
          <p:nvPr/>
        </p:nvCxnSpPr>
        <p:spPr>
          <a:xfrm flipH="1">
            <a:off x="5394960" y="4882680"/>
            <a:ext cx="5486760" cy="360"/>
          </a:xfrm>
          <a:prstGeom prst="straightConnector1">
            <a:avLst/>
          </a:prstGeom>
          <a:ln w="19050">
            <a:solidFill>
              <a:srgbClr val="F28C28"/>
            </a:solidFill>
            <a:prstDash val="dash"/>
            <a:round/>
            <a:tailEnd len="med" type="arrow" w="med"/>
          </a:ln>
        </p:spPr>
      </p:cxnSp>
      <p:sp>
        <p:nvSpPr>
          <p:cNvPr id="491" name="S"/>
          <p:cNvSpPr/>
          <p:nvPr/>
        </p:nvSpPr>
        <p:spPr>
          <a:xfrm>
            <a:off x="5413320" y="4910400"/>
            <a:ext cx="1554120" cy="20088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900" b="0" u="none" strike="noStrike">
                <a:solidFill>
                  <a:srgbClr val="2B2B2B"/>
                </a:solidFill>
                <a:effectLst/>
                <a:uFillTx/>
                <a:latin typeface="Calibri"/>
              </a:rPr>
              <a:t>Add database_warning</a:t>
            </a:r>
            <a:endParaRPr lang="en-IN" sz="900" b="0" u="none" strike="noStrike">
              <a:solidFill>
                <a:srgbClr val="000000"/>
              </a:solidFill>
              <a:effectLst/>
              <a:uFillTx/>
              <a:latin typeface="Arial"/>
            </a:endParaRPr>
          </a:p>
        </p:txBody>
      </p:sp>
      <p:sp>
        <p:nvSpPr>
          <p:cNvPr id="492" name="S"/>
          <p:cNvSpPr/>
          <p:nvPr/>
        </p:nvSpPr>
        <p:spPr>
          <a:xfrm>
            <a:off x="5212080" y="4123800"/>
            <a:ext cx="6126120" cy="1069560"/>
          </a:xfrm>
          <a:prstGeom prst="rect">
            <a:avLst/>
          </a:prstGeom>
          <a:noFill/>
          <a:ln w="9525">
            <a:solidFill>
              <a:srgbClr val="6B5A3A"/>
            </a:solidFill>
            <a:round/>
          </a:ln>
        </p:spPr>
        <p:style>
          <a:lnRef idx="0"/>
          <a:fillRef idx="0"/>
          <a:effectRef idx="0"/>
          <a:fontRef idx="minor"/>
        </p:style>
        <p:txBody>
          <a:bodyPr lIns="36000" tIns="0" rIns="36000" bIns="0" anchor="ctr">
            <a:noAutofit/>
          </a:bodyPr>
          <a:p>
            <a:endParaRPr lang="en-IN" sz="1800" b="0" u="none" strike="noStrike">
              <a:solidFill>
                <a:schemeClr val="dk1"/>
              </a:solidFill>
              <a:effectLst/>
              <a:uFillTx/>
              <a:latin typeface="Calibri"/>
            </a:endParaRPr>
          </a:p>
        </p:txBody>
      </p:sp>
      <p:sp>
        <p:nvSpPr>
          <p:cNvPr id="493" name="S"/>
          <p:cNvSpPr/>
          <p:nvPr/>
        </p:nvSpPr>
        <p:spPr>
          <a:xfrm>
            <a:off x="5120640" y="3721680"/>
            <a:ext cx="6309000" cy="1508400"/>
          </a:xfrm>
          <a:prstGeom prst="rect">
            <a:avLst/>
          </a:prstGeom>
          <a:noFill/>
          <a:ln w="9525">
            <a:solidFill>
              <a:srgbClr val="6B5A3A"/>
            </a:solidFill>
            <a:round/>
          </a:ln>
        </p:spPr>
        <p:style>
          <a:lnRef idx="0"/>
          <a:fillRef idx="0"/>
          <a:effectRef idx="0"/>
          <a:fontRef idx="minor"/>
        </p:style>
        <p:txBody>
          <a:bodyPr lIns="36000" tIns="0" rIns="36000" bIns="0" anchor="ctr">
            <a:noAutofit/>
          </a:bodyPr>
          <a:p>
            <a:endParaRPr lang="en-IN" sz="1800" b="0" u="none" strike="noStrike">
              <a:solidFill>
                <a:schemeClr val="dk1"/>
              </a:solidFill>
              <a:effectLst/>
              <a:uFillTx/>
              <a:latin typeface="Calibri"/>
            </a:endParaRPr>
          </a:p>
        </p:txBody>
      </p:sp>
      <p:sp>
        <p:nvSpPr>
          <p:cNvPr id="494" name="S"/>
          <p:cNvSpPr/>
          <p:nvPr/>
        </p:nvSpPr>
        <p:spPr>
          <a:xfrm>
            <a:off x="3108960" y="5230440"/>
            <a:ext cx="228564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JSON results</a:t>
            </a:r>
            <a:endParaRPr lang="en-IN" sz="900" b="0" u="none" strike="noStrike">
              <a:solidFill>
                <a:srgbClr val="000000"/>
              </a:solidFill>
              <a:effectLst/>
              <a:uFillTx/>
              <a:latin typeface="Arial"/>
            </a:endParaRPr>
          </a:p>
        </p:txBody>
      </p:sp>
      <p:cxnSp>
        <p:nvCxnSpPr>
          <p:cNvPr id="495" name="L"/>
          <p:cNvCxnSpPr/>
          <p:nvPr/>
        </p:nvCxnSpPr>
        <p:spPr>
          <a:xfrm flipH="1">
            <a:off x="3108960" y="5422320"/>
            <a:ext cx="2286360" cy="360"/>
          </a:xfrm>
          <a:prstGeom prst="straightConnector1">
            <a:avLst/>
          </a:prstGeom>
          <a:ln w="19050">
            <a:solidFill>
              <a:srgbClr val="F28C28"/>
            </a:solidFill>
            <a:prstDash val="dash"/>
            <a:round/>
            <a:tailEnd len="med" type="arrow" w="med"/>
          </a:ln>
        </p:spPr>
      </p:cxnSp>
      <p:sp>
        <p:nvSpPr>
          <p:cNvPr id="496" name="S"/>
          <p:cNvSpPr/>
          <p:nvPr/>
        </p:nvSpPr>
        <p:spPr>
          <a:xfrm>
            <a:off x="914400" y="5449680"/>
            <a:ext cx="2194200" cy="17352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900" b="0" u="none" strike="noStrike">
                <a:solidFill>
                  <a:srgbClr val="2B2B2B"/>
                </a:solidFill>
                <a:effectLst/>
                <a:uFillTx/>
                <a:latin typeface="Calibri"/>
              </a:rPr>
              <a:t>Show utilization, failures, waiters, details</a:t>
            </a:r>
            <a:endParaRPr lang="en-IN" sz="900" b="0" u="none" strike="noStrike">
              <a:solidFill>
                <a:srgbClr val="000000"/>
              </a:solidFill>
              <a:effectLst/>
              <a:uFillTx/>
              <a:latin typeface="Arial"/>
            </a:endParaRPr>
          </a:p>
        </p:txBody>
      </p:sp>
      <p:cxnSp>
        <p:nvCxnSpPr>
          <p:cNvPr id="497" name="L"/>
          <p:cNvCxnSpPr/>
          <p:nvPr/>
        </p:nvCxnSpPr>
        <p:spPr>
          <a:xfrm flipH="1">
            <a:off x="914400" y="5641560"/>
            <a:ext cx="2194920" cy="360"/>
          </a:xfrm>
          <a:prstGeom prst="straightConnector1">
            <a:avLst/>
          </a:prstGeom>
          <a:ln w="19050">
            <a:solidFill>
              <a:srgbClr val="F28C28"/>
            </a:solidFill>
            <a:prstDash val="dash"/>
            <a:round/>
            <a:tailEnd len="med" type="arrow" w="med"/>
          </a:ln>
        </p:spPr>
      </p:cxnSp>
      <p:cxnSp>
        <p:nvCxnSpPr>
          <p:cNvPr id="498" name="L"/>
          <p:cNvCxnSpPr/>
          <p:nvPr/>
        </p:nvCxnSpPr>
        <p:spPr>
          <a:xfrm>
            <a:off x="914400" y="1334880"/>
            <a:ext cx="360" cy="4380480"/>
          </a:xfrm>
          <a:prstGeom prst="straightConnector1">
            <a:avLst/>
          </a:prstGeom>
          <a:ln w="9525">
            <a:solidFill>
              <a:srgbClr val="9A9A9A"/>
            </a:solidFill>
            <a:prstDash val="dash"/>
            <a:round/>
          </a:ln>
        </p:spPr>
      </p:cxnSp>
      <p:cxnSp>
        <p:nvCxnSpPr>
          <p:cNvPr id="499" name="L"/>
          <p:cNvCxnSpPr/>
          <p:nvPr/>
        </p:nvCxnSpPr>
        <p:spPr>
          <a:xfrm>
            <a:off x="3108960" y="1334880"/>
            <a:ext cx="360" cy="4380480"/>
          </a:xfrm>
          <a:prstGeom prst="straightConnector1">
            <a:avLst/>
          </a:prstGeom>
          <a:ln w="9525">
            <a:solidFill>
              <a:srgbClr val="9A9A9A"/>
            </a:solidFill>
            <a:prstDash val="dash"/>
            <a:round/>
          </a:ln>
        </p:spPr>
      </p:cxnSp>
      <p:cxnSp>
        <p:nvCxnSpPr>
          <p:cNvPr id="500" name="L"/>
          <p:cNvCxnSpPr/>
          <p:nvPr/>
        </p:nvCxnSpPr>
        <p:spPr>
          <a:xfrm>
            <a:off x="5394960" y="1334880"/>
            <a:ext cx="360" cy="4380480"/>
          </a:xfrm>
          <a:prstGeom prst="straightConnector1">
            <a:avLst/>
          </a:prstGeom>
          <a:ln w="9525">
            <a:solidFill>
              <a:srgbClr val="9A9A9A"/>
            </a:solidFill>
            <a:prstDash val="dash"/>
            <a:round/>
          </a:ln>
        </p:spPr>
      </p:cxnSp>
      <p:cxnSp>
        <p:nvCxnSpPr>
          <p:cNvPr id="501" name="L"/>
          <p:cNvCxnSpPr/>
          <p:nvPr/>
        </p:nvCxnSpPr>
        <p:spPr>
          <a:xfrm>
            <a:off x="7698960" y="1355040"/>
            <a:ext cx="360" cy="4380480"/>
          </a:xfrm>
          <a:prstGeom prst="straightConnector1">
            <a:avLst/>
          </a:prstGeom>
          <a:ln w="9525">
            <a:solidFill>
              <a:srgbClr val="9A9A9A"/>
            </a:solidFill>
            <a:prstDash val="dash"/>
            <a:round/>
          </a:ln>
        </p:spPr>
      </p:cxnSp>
      <p:cxnSp>
        <p:nvCxnSpPr>
          <p:cNvPr id="502" name="L"/>
          <p:cNvCxnSpPr/>
          <p:nvPr/>
        </p:nvCxnSpPr>
        <p:spPr>
          <a:xfrm>
            <a:off x="10881360" y="1334880"/>
            <a:ext cx="360" cy="4380480"/>
          </a:xfrm>
          <a:prstGeom prst="straightConnector1">
            <a:avLst/>
          </a:prstGeom>
          <a:ln w="9525">
            <a:solidFill>
              <a:srgbClr val="9A9A9A"/>
            </a:solidFill>
            <a:prstDash val="dash"/>
            <a:round/>
          </a:ln>
        </p:spPr>
      </p:cxnSp>
      <p:sp>
        <p:nvSpPr>
          <p:cNvPr id="503" name="Shape 39"/>
          <p:cNvSpPr/>
          <p:nvPr/>
        </p:nvSpPr>
        <p:spPr>
          <a:xfrm>
            <a:off x="548640" y="5897880"/>
            <a:ext cx="11063880" cy="41112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04" name="Text 40"/>
          <p:cNvSpPr/>
          <p:nvPr/>
        </p:nvSpPr>
        <p:spPr>
          <a:xfrm>
            <a:off x="685800" y="5897880"/>
            <a:ext cx="107895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A save failure does not discard the computed result; it adds database_warning.</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505"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Sequence Diagram, Experiment (API)</a:t>
            </a:r>
            <a:endParaRPr lang="en-IN" sz="3000" b="0" u="none" strike="noStrike">
              <a:solidFill>
                <a:srgbClr val="000000"/>
              </a:solidFill>
              <a:effectLst/>
              <a:uFillTx/>
              <a:latin typeface="Arial"/>
            </a:endParaRPr>
          </a:p>
        </p:txBody>
      </p:sp>
      <p:sp>
        <p:nvSpPr>
          <p:cNvPr id="506"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19</a:t>
            </a:r>
            <a:endParaRPr lang="en-IN" sz="1100" b="0" u="none" strike="noStrike">
              <a:solidFill>
                <a:srgbClr val="000000"/>
              </a:solidFill>
              <a:effectLst/>
              <a:uFillTx/>
              <a:latin typeface="Arial"/>
            </a:endParaRPr>
          </a:p>
        </p:txBody>
      </p:sp>
      <p:sp>
        <p:nvSpPr>
          <p:cNvPr id="507" name="S"/>
          <p:cNvSpPr/>
          <p:nvPr/>
        </p:nvSpPr>
        <p:spPr>
          <a:xfrm>
            <a:off x="548640" y="987480"/>
            <a:ext cx="219420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Analyst (API client)</a:t>
            </a:r>
            <a:endParaRPr lang="en-IN" sz="1100" b="0" u="none" strike="noStrike">
              <a:solidFill>
                <a:srgbClr val="FFFFFF"/>
              </a:solidFill>
              <a:effectLst/>
              <a:uFillTx/>
              <a:latin typeface="Arial"/>
            </a:endParaRPr>
          </a:p>
        </p:txBody>
      </p:sp>
      <p:sp>
        <p:nvSpPr>
          <p:cNvPr id="508" name="S"/>
          <p:cNvSpPr/>
          <p:nvPr/>
        </p:nvSpPr>
        <p:spPr>
          <a:xfrm>
            <a:off x="4754880" y="987480"/>
            <a:ext cx="164556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FastAPI</a:t>
            </a:r>
            <a:endParaRPr lang="en-IN" sz="1100" b="0" u="none" strike="noStrike">
              <a:solidFill>
                <a:srgbClr val="FFFFFF"/>
              </a:solidFill>
              <a:effectLst/>
              <a:uFillTx/>
              <a:latin typeface="Arial"/>
            </a:endParaRPr>
          </a:p>
        </p:txBody>
      </p:sp>
      <p:sp>
        <p:nvSpPr>
          <p:cNvPr id="509" name="S"/>
          <p:cNvSpPr/>
          <p:nvPr/>
        </p:nvSpPr>
        <p:spPr>
          <a:xfrm>
            <a:off x="8686800" y="987480"/>
            <a:ext cx="1645560" cy="347040"/>
          </a:xfrm>
          <a:prstGeom prst="roundRect">
            <a:avLst>
              <a:gd name="adj" fmla="val 16667"/>
            </a:avLst>
          </a:prstGeom>
          <a:solidFill>
            <a:srgbClr val="14213D"/>
          </a:solidFill>
          <a:ln w="12700">
            <a:solidFill>
              <a:srgbClr val="14213D"/>
            </a:solidFill>
            <a:round/>
          </a:ln>
        </p:spPr>
        <p:style>
          <a:lnRef idx="0"/>
          <a:fillRef idx="0"/>
          <a:effectRef idx="0"/>
          <a:fontRef idx="minor"/>
        </p:style>
        <p:txBody>
          <a:bodyPr lIns="36000" tIns="0" rIns="36000" bIns="0" anchor="ctr">
            <a:noAutofit/>
          </a:bodyPr>
          <a:p>
            <a:pPr algn="ctr" defTabSz="914400">
              <a:lnSpc>
                <a:spcPct val="100000"/>
              </a:lnSpc>
            </a:pPr>
            <a:r>
              <a:rPr lang="en-US" sz="1100" b="1" u="none" strike="noStrike">
                <a:solidFill>
                  <a:srgbClr val="FFFFFF"/>
                </a:solidFill>
                <a:effectLst/>
                <a:uFillTx/>
                <a:latin typeface="Calibri"/>
              </a:rPr>
              <a:t>Simulator</a:t>
            </a:r>
            <a:endParaRPr lang="en-IN" sz="1100" b="0" u="none" strike="noStrike">
              <a:solidFill>
                <a:srgbClr val="FFFFFF"/>
              </a:solidFill>
              <a:effectLst/>
              <a:uFillTx/>
              <a:latin typeface="Arial"/>
            </a:endParaRPr>
          </a:p>
        </p:txBody>
      </p:sp>
      <p:sp>
        <p:nvSpPr>
          <p:cNvPr id="510" name="S"/>
          <p:cNvSpPr/>
          <p:nvPr/>
        </p:nvSpPr>
        <p:spPr>
          <a:xfrm>
            <a:off x="1645920" y="1600200"/>
            <a:ext cx="3931560" cy="50256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1100" b="0" u="none" strike="noStrike">
                <a:solidFill>
                  <a:srgbClr val="2B2B2B"/>
                </a:solidFill>
                <a:effectLst/>
                <a:uFillTx/>
                <a:latin typeface="Calibri"/>
              </a:rPr>
              <a:t>POST /experiment (machine-count, MTTF, adjuster-count factors)</a:t>
            </a:r>
            <a:endParaRPr lang="en-IN" sz="1100" b="0" u="none" strike="noStrike">
              <a:solidFill>
                <a:srgbClr val="000000"/>
              </a:solidFill>
              <a:effectLst/>
              <a:uFillTx/>
              <a:latin typeface="Arial"/>
            </a:endParaRPr>
          </a:p>
        </p:txBody>
      </p:sp>
      <p:cxnSp>
        <p:nvCxnSpPr>
          <p:cNvPr id="511" name="L"/>
          <p:cNvCxnSpPr/>
          <p:nvPr/>
        </p:nvCxnSpPr>
        <p:spPr>
          <a:xfrm>
            <a:off x="1645920" y="2121120"/>
            <a:ext cx="3932280" cy="360"/>
          </a:xfrm>
          <a:prstGeom prst="straightConnector1">
            <a:avLst/>
          </a:prstGeom>
          <a:ln w="19050">
            <a:solidFill>
              <a:srgbClr val="F28C28"/>
            </a:solidFill>
            <a:round/>
            <a:tailEnd len="med" type="triangle" w="med"/>
          </a:ln>
        </p:spPr>
      </p:cxnSp>
      <p:sp>
        <p:nvSpPr>
          <p:cNvPr id="512" name="S"/>
          <p:cNvSpPr/>
          <p:nvPr/>
        </p:nvSpPr>
        <p:spPr>
          <a:xfrm>
            <a:off x="5596200" y="2148840"/>
            <a:ext cx="2377080" cy="33804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1100" b="0" u="none" strike="noStrike">
                <a:solidFill>
                  <a:srgbClr val="2B2B2B"/>
                </a:solidFill>
                <a:effectLst/>
                <a:uFillTx/>
                <a:latin typeface="Calibri"/>
              </a:rPr>
              <a:t>Build factor combinations</a:t>
            </a:r>
            <a:endParaRPr lang="en-IN" sz="1100" b="0" u="none" strike="noStrike">
              <a:solidFill>
                <a:srgbClr val="000000"/>
              </a:solidFill>
              <a:effectLst/>
              <a:uFillTx/>
              <a:latin typeface="Arial"/>
            </a:endParaRPr>
          </a:p>
        </p:txBody>
      </p:sp>
      <p:sp>
        <p:nvSpPr>
          <p:cNvPr id="513" name="S"/>
          <p:cNvSpPr/>
          <p:nvPr/>
        </p:nvSpPr>
        <p:spPr>
          <a:xfrm>
            <a:off x="5577840" y="2532960"/>
            <a:ext cx="3931560" cy="50256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1100" b="0" u="none" strike="noStrike">
                <a:solidFill>
                  <a:srgbClr val="2B2B2B"/>
                </a:solidFill>
                <a:effectLst/>
                <a:uFillTx/>
                <a:latin typeface="Calibri"/>
              </a:rPr>
              <a:t>Run seeded replications per row</a:t>
            </a:r>
            <a:endParaRPr lang="en-IN" sz="1100" b="0" u="none" strike="noStrike">
              <a:solidFill>
                <a:srgbClr val="000000"/>
              </a:solidFill>
              <a:effectLst/>
              <a:uFillTx/>
              <a:latin typeface="Arial"/>
            </a:endParaRPr>
          </a:p>
        </p:txBody>
      </p:sp>
      <p:cxnSp>
        <p:nvCxnSpPr>
          <p:cNvPr id="514" name="L"/>
          <p:cNvCxnSpPr/>
          <p:nvPr/>
        </p:nvCxnSpPr>
        <p:spPr>
          <a:xfrm>
            <a:off x="5577840" y="3053880"/>
            <a:ext cx="3932280" cy="360"/>
          </a:xfrm>
          <a:prstGeom prst="straightConnector1">
            <a:avLst/>
          </a:prstGeom>
          <a:ln w="19050">
            <a:solidFill>
              <a:srgbClr val="F28C28"/>
            </a:solidFill>
            <a:round/>
            <a:tailEnd len="med" type="triangle" w="med"/>
          </a:ln>
        </p:spPr>
      </p:cxnSp>
      <p:sp>
        <p:nvSpPr>
          <p:cNvPr id="515" name="S"/>
          <p:cNvSpPr/>
          <p:nvPr/>
        </p:nvSpPr>
        <p:spPr>
          <a:xfrm>
            <a:off x="5577840" y="3081600"/>
            <a:ext cx="3931560" cy="50256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1100" b="0" u="none" strike="noStrike">
                <a:solidFill>
                  <a:srgbClr val="2B2B2B"/>
                </a:solidFill>
                <a:effectLst/>
                <a:uFillTx/>
                <a:latin typeface="Calibri"/>
              </a:rPr>
              <a:t>Row summaries</a:t>
            </a:r>
            <a:endParaRPr lang="en-IN" sz="1100" b="0" u="none" strike="noStrike">
              <a:solidFill>
                <a:srgbClr val="000000"/>
              </a:solidFill>
              <a:effectLst/>
              <a:uFillTx/>
              <a:latin typeface="Arial"/>
            </a:endParaRPr>
          </a:p>
        </p:txBody>
      </p:sp>
      <p:cxnSp>
        <p:nvCxnSpPr>
          <p:cNvPr id="516" name="L"/>
          <p:cNvCxnSpPr/>
          <p:nvPr/>
        </p:nvCxnSpPr>
        <p:spPr>
          <a:xfrm flipH="1">
            <a:off x="5577840" y="3602520"/>
            <a:ext cx="3932280" cy="360"/>
          </a:xfrm>
          <a:prstGeom prst="straightConnector1">
            <a:avLst/>
          </a:prstGeom>
          <a:ln w="19050">
            <a:solidFill>
              <a:srgbClr val="F28C28"/>
            </a:solidFill>
            <a:prstDash val="dash"/>
            <a:round/>
            <a:tailEnd len="med" type="arrow" w="med"/>
          </a:ln>
        </p:spPr>
      </p:cxnSp>
      <p:sp>
        <p:nvSpPr>
          <p:cNvPr id="517" name="S"/>
          <p:cNvSpPr/>
          <p:nvPr/>
        </p:nvSpPr>
        <p:spPr>
          <a:xfrm>
            <a:off x="5596200" y="3630240"/>
            <a:ext cx="3291480" cy="722160"/>
          </a:xfrm>
          <a:prstGeom prst="roundRect">
            <a:avLst>
              <a:gd name="adj" fmla="val 16667"/>
            </a:avLst>
          </a:prstGeom>
          <a:solidFill>
            <a:srgbClr val="FFF3C4"/>
          </a:solidFill>
          <a:ln w="12700">
            <a:solidFill>
              <a:srgbClr val="F28C28"/>
            </a:solidFill>
            <a:round/>
          </a:ln>
        </p:spPr>
        <p:style>
          <a:lnRef idx="0"/>
          <a:fillRef idx="0"/>
          <a:effectRef idx="0"/>
          <a:fontRef idx="minor"/>
        </p:style>
        <p:txBody>
          <a:bodyPr lIns="36000" tIns="0" rIns="36000" bIns="0" anchor="ctr">
            <a:noAutofit/>
          </a:bodyPr>
          <a:p>
            <a:pPr algn="ctr" defTabSz="914400">
              <a:lnSpc>
                <a:spcPct val="100000"/>
              </a:lnSpc>
            </a:pPr>
            <a:r>
              <a:rPr lang="en-US" sz="1100" b="0" u="none" strike="noStrike">
                <a:solidFill>
                  <a:srgbClr val="2B2B2B"/>
                </a:solidFill>
                <a:effectLst/>
                <a:uFillTx/>
                <a:latin typeface="Calibri"/>
              </a:rPr>
              <a:t>Select optimum: lowest adjuster count meeting thresholds, else highest machine utilization</a:t>
            </a:r>
            <a:endParaRPr lang="en-IN" sz="1100" b="0" u="none" strike="noStrike">
              <a:solidFill>
                <a:srgbClr val="000000"/>
              </a:solidFill>
              <a:effectLst/>
              <a:uFillTx/>
              <a:latin typeface="Arial"/>
            </a:endParaRPr>
          </a:p>
        </p:txBody>
      </p:sp>
      <p:sp>
        <p:nvSpPr>
          <p:cNvPr id="518" name="S"/>
          <p:cNvSpPr/>
          <p:nvPr/>
        </p:nvSpPr>
        <p:spPr>
          <a:xfrm>
            <a:off x="1645920" y="4398120"/>
            <a:ext cx="3931560" cy="502560"/>
          </a:xfrm>
          <a:prstGeom prst="rect">
            <a:avLst/>
          </a:prstGeom>
          <a:noFill/>
          <a:ln w="0">
            <a:noFill/>
          </a:ln>
        </p:spPr>
        <p:style>
          <a:lnRef idx="0"/>
          <a:fillRef idx="0"/>
          <a:effectRef idx="0"/>
          <a:fontRef idx="minor"/>
        </p:style>
        <p:txBody>
          <a:bodyPr lIns="36000" tIns="0" rIns="36000" bIns="0" anchor="b">
            <a:noAutofit/>
          </a:bodyPr>
          <a:p>
            <a:pPr algn="ctr" defTabSz="914400">
              <a:lnSpc>
                <a:spcPct val="100000"/>
              </a:lnSpc>
            </a:pPr>
            <a:r>
              <a:rPr lang="en-US" sz="1100" b="0" u="none" strike="noStrike">
                <a:solidFill>
                  <a:srgbClr val="2B2B2B"/>
                </a:solidFill>
                <a:effectLst/>
                <a:uFillTx/>
                <a:latin typeface="Calibri"/>
              </a:rPr>
              <a:t>Rows and optimum</a:t>
            </a:r>
            <a:endParaRPr lang="en-IN" sz="1100" b="0" u="none" strike="noStrike">
              <a:solidFill>
                <a:srgbClr val="000000"/>
              </a:solidFill>
              <a:effectLst/>
              <a:uFillTx/>
              <a:latin typeface="Arial"/>
            </a:endParaRPr>
          </a:p>
        </p:txBody>
      </p:sp>
      <p:cxnSp>
        <p:nvCxnSpPr>
          <p:cNvPr id="519" name="L"/>
          <p:cNvCxnSpPr/>
          <p:nvPr/>
        </p:nvCxnSpPr>
        <p:spPr>
          <a:xfrm flipH="1">
            <a:off x="1645920" y="4919400"/>
            <a:ext cx="3932280" cy="360"/>
          </a:xfrm>
          <a:prstGeom prst="straightConnector1">
            <a:avLst/>
          </a:prstGeom>
          <a:ln w="19050">
            <a:solidFill>
              <a:srgbClr val="F28C28"/>
            </a:solidFill>
            <a:prstDash val="dash"/>
            <a:round/>
            <a:tailEnd len="med" type="arrow" w="med"/>
          </a:ln>
        </p:spPr>
      </p:cxnSp>
      <p:cxnSp>
        <p:nvCxnSpPr>
          <p:cNvPr id="520" name="L"/>
          <p:cNvCxnSpPr/>
          <p:nvPr/>
        </p:nvCxnSpPr>
        <p:spPr>
          <a:xfrm>
            <a:off x="1645920" y="1334880"/>
            <a:ext cx="360" cy="3657960"/>
          </a:xfrm>
          <a:prstGeom prst="straightConnector1">
            <a:avLst/>
          </a:prstGeom>
          <a:ln w="9525">
            <a:solidFill>
              <a:srgbClr val="9A9A9A"/>
            </a:solidFill>
            <a:prstDash val="dash"/>
            <a:round/>
          </a:ln>
        </p:spPr>
      </p:cxnSp>
      <p:cxnSp>
        <p:nvCxnSpPr>
          <p:cNvPr id="521" name="L"/>
          <p:cNvCxnSpPr/>
          <p:nvPr/>
        </p:nvCxnSpPr>
        <p:spPr>
          <a:xfrm>
            <a:off x="5577840" y="1334880"/>
            <a:ext cx="360" cy="3657960"/>
          </a:xfrm>
          <a:prstGeom prst="straightConnector1">
            <a:avLst/>
          </a:prstGeom>
          <a:ln w="9525">
            <a:solidFill>
              <a:srgbClr val="9A9A9A"/>
            </a:solidFill>
            <a:prstDash val="dash"/>
            <a:round/>
          </a:ln>
        </p:spPr>
      </p:cxnSp>
      <p:cxnSp>
        <p:nvCxnSpPr>
          <p:cNvPr id="522" name="L"/>
          <p:cNvCxnSpPr/>
          <p:nvPr/>
        </p:nvCxnSpPr>
        <p:spPr>
          <a:xfrm>
            <a:off x="9509760" y="1334880"/>
            <a:ext cx="360" cy="3657960"/>
          </a:xfrm>
          <a:prstGeom prst="straightConnector1">
            <a:avLst/>
          </a:prstGeom>
          <a:ln w="9525">
            <a:solidFill>
              <a:srgbClr val="9A9A9A"/>
            </a:solidFill>
            <a:prstDash val="dash"/>
            <a:round/>
          </a:ln>
        </p:spPr>
      </p:cxnSp>
      <p:sp>
        <p:nvSpPr>
          <p:cNvPr id="523" name="Shape 23"/>
          <p:cNvSpPr/>
          <p:nvPr/>
        </p:nvSpPr>
        <p:spPr>
          <a:xfrm>
            <a:off x="548640" y="571500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24" name="Text 24"/>
          <p:cNvSpPr/>
          <p:nvPr/>
        </p:nvSpPr>
        <p:spPr>
          <a:xfrm>
            <a:off x="685800" y="571500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Experiments are available through the API only; the dashboard does not expose them yet.</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525"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UML: Sequence Diagram, Failure and Repair</a:t>
            </a:r>
            <a:endParaRPr lang="en-IN" sz="3000" b="0" u="none" strike="noStrike">
              <a:solidFill>
                <a:srgbClr val="000000"/>
              </a:solidFill>
              <a:effectLst/>
              <a:uFillTx/>
              <a:latin typeface="Arial"/>
            </a:endParaRPr>
          </a:p>
        </p:txBody>
      </p:sp>
      <p:sp>
        <p:nvSpPr>
          <p:cNvPr id="526"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20</a:t>
            </a:r>
            <a:endParaRPr lang="en-IN" sz="1100" b="0" u="none" strike="noStrike">
              <a:solidFill>
                <a:srgbClr val="000000"/>
              </a:solidFill>
              <a:effectLst/>
              <a:uFillTx/>
              <a:latin typeface="Arial"/>
            </a:endParaRPr>
          </a:p>
        </p:txBody>
      </p:sp>
      <p:sp>
        <p:nvSpPr>
          <p:cNvPr id="557" name="Shape 36"/>
          <p:cNvSpPr/>
          <p:nvPr/>
        </p:nvSpPr>
        <p:spPr>
          <a:xfrm>
            <a:off x="548640" y="571500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0" name="Sequence 600"/>
          <p:cNvSpPr/>
          <p:nvPr/>
        </p:nvSpPr>
        <p:spPr>
          <a:xfrm>
            <a:off x="265176" y="905256"/>
            <a:ext cx="1572768" cy="356616"/>
          </a:xfrm>
          <a:prstGeom prst="roundRect">
            <a:avLst/>
          </a:prstGeom>
          <a:solidFill>
            <a:srgbClr val="14213D"/>
          </a:solidFill>
          <a:ln w="12700">
            <a:solidFill>
              <a:srgbClr val="14213D"/>
            </a:solidFill>
          </a:ln>
        </p:spPr>
        <p:txBody>
          <a:bodyPr lIns="72000" tIns="18000" rIns="72000" bIns="18000" anchor="ctr" wrap="square">
            <a:noAutofit/>
          </a:bodyPr>
          <a:lstStyle/>
          <a:p>
            <a:pPr algn="ctr"/>
            <a:endParaRPr lang="en-US" sz="1050"/>
            <a:r>
              <a:rPr lang="en-US" sz="1050" b="1">
                <a:solidFill>
                  <a:srgbClr val="FFFFFF"/>
                </a:solidFill>
                <a:latin typeface="Aptos"/>
              </a:rPr>
              <a:t>Event queue</a:t>
            </a:r>
          </a:p>
        </p:txBody>
      </p:sp>
      <p:sp>
        <p:nvSpPr>
          <p:cNvPr id="601" name="Sequence 601"/>
          <p:cNvSpPr/>
          <p:nvPr/>
        </p:nvSpPr>
        <p:spPr>
          <a:xfrm>
            <a:off x="2583180" y="905256"/>
            <a:ext cx="1508760" cy="356616"/>
          </a:xfrm>
          <a:prstGeom prst="roundRect">
            <a:avLst/>
          </a:prstGeom>
          <a:solidFill>
            <a:srgbClr val="14213D"/>
          </a:solidFill>
          <a:ln w="12700">
            <a:solidFill>
              <a:srgbClr val="14213D"/>
            </a:solidFill>
          </a:ln>
        </p:spPr>
        <p:txBody>
          <a:bodyPr lIns="72000" tIns="18000" rIns="72000" bIns="18000" anchor="ctr" wrap="square">
            <a:noAutofit/>
          </a:bodyPr>
          <a:lstStyle/>
          <a:p>
            <a:pPr algn="ctr"/>
            <a:endParaRPr lang="en-US" sz="1050"/>
            <a:r>
              <a:rPr lang="en-US" sz="1050" b="1">
                <a:solidFill>
                  <a:srgbClr val="FFFFFF"/>
                </a:solidFill>
                <a:latin typeface="Aptos"/>
              </a:rPr>
              <a:t>Simulator</a:t>
            </a:r>
          </a:p>
        </p:txBody>
      </p:sp>
      <p:sp>
        <p:nvSpPr>
          <p:cNvPr id="602" name="Sequence 602"/>
          <p:cNvSpPr/>
          <p:nvPr/>
        </p:nvSpPr>
        <p:spPr>
          <a:xfrm>
            <a:off x="4828032" y="905256"/>
            <a:ext cx="1591056" cy="356616"/>
          </a:xfrm>
          <a:prstGeom prst="roundRect">
            <a:avLst/>
          </a:prstGeom>
          <a:solidFill>
            <a:srgbClr val="14213D"/>
          </a:solidFill>
          <a:ln w="12700">
            <a:solidFill>
              <a:srgbClr val="14213D"/>
            </a:solidFill>
          </a:ln>
        </p:spPr>
        <p:txBody>
          <a:bodyPr lIns="72000" tIns="18000" rIns="72000" bIns="18000" anchor="ctr" wrap="square">
            <a:noAutofit/>
          </a:bodyPr>
          <a:lstStyle/>
          <a:p>
            <a:pPr algn="ctr"/>
            <a:endParaRPr lang="en-US" sz="1050"/>
            <a:r>
              <a:rPr lang="en-US" sz="1050" b="1">
                <a:solidFill>
                  <a:srgbClr val="FFFFFF"/>
                </a:solidFill>
                <a:latin typeface="Aptos"/>
              </a:rPr>
              <a:t>Waiting list</a:t>
            </a:r>
          </a:p>
        </p:txBody>
      </p:sp>
      <p:sp>
        <p:nvSpPr>
          <p:cNvPr id="603" name="Sequence 603"/>
          <p:cNvSpPr/>
          <p:nvPr/>
        </p:nvSpPr>
        <p:spPr>
          <a:xfrm>
            <a:off x="7168896" y="905256"/>
            <a:ext cx="1481328" cy="356616"/>
          </a:xfrm>
          <a:prstGeom prst="roundRect">
            <a:avLst/>
          </a:prstGeom>
          <a:solidFill>
            <a:srgbClr val="14213D"/>
          </a:solidFill>
          <a:ln w="12700">
            <a:solidFill>
              <a:srgbClr val="14213D"/>
            </a:solidFill>
          </a:ln>
        </p:spPr>
        <p:txBody>
          <a:bodyPr lIns="72000" tIns="18000" rIns="72000" bIns="18000" anchor="ctr" wrap="square">
            <a:noAutofit/>
          </a:bodyPr>
          <a:lstStyle/>
          <a:p>
            <a:pPr algn="ctr"/>
            <a:endParaRPr lang="en-US" sz="1050"/>
            <a:r>
              <a:rPr lang="en-US" sz="1050" b="1">
                <a:solidFill>
                  <a:srgbClr val="FFFFFF"/>
                </a:solidFill>
                <a:latin typeface="Aptos"/>
              </a:rPr>
              <a:t>Machine</a:t>
            </a:r>
          </a:p>
        </p:txBody>
      </p:sp>
      <p:sp>
        <p:nvSpPr>
          <p:cNvPr id="604" name="Sequence 604"/>
          <p:cNvSpPr/>
          <p:nvPr/>
        </p:nvSpPr>
        <p:spPr>
          <a:xfrm>
            <a:off x="9454896" y="905256"/>
            <a:ext cx="1481328" cy="356616"/>
          </a:xfrm>
          <a:prstGeom prst="roundRect">
            <a:avLst/>
          </a:prstGeom>
          <a:solidFill>
            <a:srgbClr val="14213D"/>
          </a:solidFill>
          <a:ln w="12700">
            <a:solidFill>
              <a:srgbClr val="14213D"/>
            </a:solidFill>
          </a:ln>
        </p:spPr>
        <p:txBody>
          <a:bodyPr lIns="72000" tIns="18000" rIns="72000" bIns="18000" anchor="ctr" wrap="square">
            <a:noAutofit/>
          </a:bodyPr>
          <a:lstStyle/>
          <a:p>
            <a:pPr algn="ctr"/>
            <a:endParaRPr lang="en-US" sz="1050"/>
            <a:r>
              <a:rPr lang="en-US" sz="1050" b="1">
                <a:solidFill>
                  <a:srgbClr val="FFFFFF"/>
                </a:solidFill>
                <a:latin typeface="Aptos"/>
              </a:rPr>
              <a:t>Adjuster</a:t>
            </a:r>
          </a:p>
        </p:txBody>
      </p:sp>
      <p:cxnSp>
        <p:nvCxnSpPr>
          <p:cNvPr id="605" name="Connector 605"/>
          <p:cNvCxnSpPr/>
          <p:nvPr/>
        </p:nvCxnSpPr>
        <p:spPr>
          <a:xfrm>
            <a:off x="1051560" y="1225296"/>
            <a:ext cx="1" cy="3931920"/>
          </a:xfrm>
          <a:prstGeom prst="line">
            <a:avLst/>
          </a:prstGeom>
          <a:ln w="12700">
            <a:prstDash val="dash"/>
            <a:solidFill>
              <a:srgbClr val="C6BFAF"/>
            </a:solidFill>
          </a:ln>
        </p:spPr>
      </p:cxnSp>
      <p:cxnSp>
        <p:nvCxnSpPr>
          <p:cNvPr id="606" name="Connector 606"/>
          <p:cNvCxnSpPr/>
          <p:nvPr/>
        </p:nvCxnSpPr>
        <p:spPr>
          <a:xfrm>
            <a:off x="3337560" y="1225296"/>
            <a:ext cx="1" cy="3931920"/>
          </a:xfrm>
          <a:prstGeom prst="line">
            <a:avLst/>
          </a:prstGeom>
          <a:ln w="12700">
            <a:prstDash val="dash"/>
            <a:solidFill>
              <a:srgbClr val="C6BFAF"/>
            </a:solidFill>
          </a:ln>
        </p:spPr>
      </p:cxnSp>
      <p:cxnSp>
        <p:nvCxnSpPr>
          <p:cNvPr id="607" name="Connector 607"/>
          <p:cNvCxnSpPr/>
          <p:nvPr/>
        </p:nvCxnSpPr>
        <p:spPr>
          <a:xfrm>
            <a:off x="5623560" y="1225296"/>
            <a:ext cx="1" cy="3931920"/>
          </a:xfrm>
          <a:prstGeom prst="line">
            <a:avLst/>
          </a:prstGeom>
          <a:ln w="12700">
            <a:prstDash val="dash"/>
            <a:solidFill>
              <a:srgbClr val="C6BFAF"/>
            </a:solidFill>
          </a:ln>
        </p:spPr>
      </p:cxnSp>
      <p:cxnSp>
        <p:nvCxnSpPr>
          <p:cNvPr id="608" name="Connector 608"/>
          <p:cNvCxnSpPr/>
          <p:nvPr/>
        </p:nvCxnSpPr>
        <p:spPr>
          <a:xfrm>
            <a:off x="7909560" y="1225296"/>
            <a:ext cx="1" cy="3931920"/>
          </a:xfrm>
          <a:prstGeom prst="line">
            <a:avLst/>
          </a:prstGeom>
          <a:ln w="12700">
            <a:prstDash val="dash"/>
            <a:solidFill>
              <a:srgbClr val="C6BFAF"/>
            </a:solidFill>
          </a:ln>
        </p:spPr>
      </p:cxnSp>
      <p:cxnSp>
        <p:nvCxnSpPr>
          <p:cNvPr id="609" name="Connector 609"/>
          <p:cNvCxnSpPr/>
          <p:nvPr/>
        </p:nvCxnSpPr>
        <p:spPr>
          <a:xfrm>
            <a:off x="10195560" y="1225296"/>
            <a:ext cx="1" cy="3931920"/>
          </a:xfrm>
          <a:prstGeom prst="line">
            <a:avLst/>
          </a:prstGeom>
          <a:ln w="12700">
            <a:prstDash val="dash"/>
            <a:solidFill>
              <a:srgbClr val="C6BFAF"/>
            </a:solidFill>
          </a:ln>
        </p:spPr>
      </p:cxnSp>
      <p:sp>
        <p:nvSpPr>
          <p:cNvPr id="610" name="Sequence 610"/>
          <p:cNvSpPr/>
          <p:nvPr/>
        </p:nvSpPr>
        <p:spPr>
          <a:xfrm>
            <a:off x="1051560" y="1252728"/>
            <a:ext cx="2286000" cy="246888"/>
          </a:xfrm>
          <a:prstGeom prst="rect">
            <a:avLst/>
          </a:prstGeom>
          <a:noFill/>
          <a:ln w="0">
            <a:noFill/>
          </a:ln>
        </p:spPr>
        <p:txBody>
          <a:bodyPr lIns="72000" tIns="18000" rIns="72000" bIns="18000" anchor="ctr" wrap="square">
            <a:noAutofit/>
          </a:bodyPr>
          <a:lstStyle/>
          <a:p>
            <a:pPr algn="ctr"/>
            <a:endParaRPr lang="en-US" sz="990"/>
            <a:r>
              <a:rPr lang="en-US" sz="990">
                <a:solidFill>
                  <a:srgbClr val="343434"/>
                </a:solidFill>
                <a:latin typeface="Aptos"/>
              </a:rPr>
              <a:t>FAILURE(machine, time)</a:t>
            </a:r>
          </a:p>
        </p:txBody>
      </p:sp>
      <p:cxnSp>
        <p:nvCxnSpPr>
          <p:cNvPr id="611" name="Connector 611"/>
          <p:cNvCxnSpPr/>
          <p:nvPr/>
        </p:nvCxnSpPr>
        <p:spPr>
          <a:xfrm>
            <a:off x="1051560" y="1444752"/>
            <a:ext cx="2286000" cy="1"/>
          </a:xfrm>
          <a:prstGeom prst="line">
            <a:avLst/>
          </a:prstGeom>
          <a:ln w="19050">
            <a:solidFill>
              <a:srgbClr val="F28C28"/>
            </a:solidFill>
            <a:tailEnd type="triangle"/>
            <a:headEnd type="none"/>
          </a:ln>
        </p:spPr>
      </p:cxnSp>
      <p:sp>
        <p:nvSpPr>
          <p:cNvPr id="612" name="Sequence 612"/>
          <p:cNvSpPr/>
          <p:nvPr/>
        </p:nvSpPr>
        <p:spPr>
          <a:xfrm>
            <a:off x="3337560" y="1618488"/>
            <a:ext cx="4572000" cy="246888"/>
          </a:xfrm>
          <a:prstGeom prst="rect">
            <a:avLst/>
          </a:prstGeom>
          <a:noFill/>
          <a:ln w="0">
            <a:noFill/>
          </a:ln>
        </p:spPr>
        <p:txBody>
          <a:bodyPr lIns="72000" tIns="18000" rIns="72000" bIns="18000" anchor="ctr" wrap="square">
            <a:noAutofit/>
          </a:bodyPr>
          <a:lstStyle/>
          <a:p>
            <a:pPr algn="ctr"/>
            <a:endParaRPr lang="en-US" sz="990"/>
            <a:r>
              <a:rPr lang="en-US" sz="990">
                <a:solidFill>
                  <a:srgbClr val="343434"/>
                </a:solidFill>
                <a:latin typeface="Aptos"/>
              </a:rPr>
              <a:t>Stop uptime; mark FAILED; count failure</a:t>
            </a:r>
          </a:p>
        </p:txBody>
      </p:sp>
      <p:cxnSp>
        <p:nvCxnSpPr>
          <p:cNvPr id="613" name="Connector 613"/>
          <p:cNvCxnSpPr/>
          <p:nvPr/>
        </p:nvCxnSpPr>
        <p:spPr>
          <a:xfrm>
            <a:off x="3337560" y="1810512"/>
            <a:ext cx="4572000" cy="1"/>
          </a:xfrm>
          <a:prstGeom prst="line">
            <a:avLst/>
          </a:prstGeom>
          <a:ln w="19050">
            <a:solidFill>
              <a:srgbClr val="F28C28"/>
            </a:solidFill>
            <a:tailEnd type="triangle"/>
            <a:headEnd type="none"/>
          </a:ln>
        </p:spPr>
      </p:cxnSp>
      <p:sp>
        <p:nvSpPr>
          <p:cNvPr id="614" name="Sequence 614"/>
          <p:cNvSpPr/>
          <p:nvPr/>
        </p:nvSpPr>
        <p:spPr>
          <a:xfrm>
            <a:off x="3337560" y="1984248"/>
            <a:ext cx="6858000" cy="246888"/>
          </a:xfrm>
          <a:prstGeom prst="rect">
            <a:avLst/>
          </a:prstGeom>
          <a:noFill/>
          <a:ln w="0">
            <a:noFill/>
          </a:ln>
        </p:spPr>
        <p:txBody>
          <a:bodyPr lIns="72000" tIns="18000" rIns="72000" bIns="18000" anchor="ctr" wrap="square">
            <a:noAutofit/>
          </a:bodyPr>
          <a:lstStyle/>
          <a:p>
            <a:pPr algn="ctr"/>
            <a:endParaRPr lang="en-US" sz="990"/>
            <a:r>
              <a:rPr lang="en-US" sz="990">
                <a:solidFill>
                  <a:srgbClr val="343434"/>
                </a:solidFill>
                <a:latin typeface="Aptos"/>
              </a:rPr>
              <a:t>Find idle adjusters with the required skill</a:t>
            </a:r>
          </a:p>
        </p:txBody>
      </p:sp>
      <p:cxnSp>
        <p:nvCxnSpPr>
          <p:cNvPr id="615" name="Connector 615"/>
          <p:cNvCxnSpPr/>
          <p:nvPr/>
        </p:nvCxnSpPr>
        <p:spPr>
          <a:xfrm>
            <a:off x="3337560" y="2176272"/>
            <a:ext cx="6858000" cy="1"/>
          </a:xfrm>
          <a:prstGeom prst="line">
            <a:avLst/>
          </a:prstGeom>
          <a:ln w="19050">
            <a:solidFill>
              <a:srgbClr val="F28C28"/>
            </a:solidFill>
            <a:tailEnd type="triangle"/>
            <a:headEnd type="none"/>
          </a:ln>
        </p:spPr>
      </p:cxnSp>
      <p:sp>
        <p:nvSpPr>
          <p:cNvPr id="616" name="Sequence 616"/>
          <p:cNvSpPr/>
          <p:nvPr/>
        </p:nvSpPr>
        <p:spPr>
          <a:xfrm>
            <a:off x="438912" y="2359152"/>
            <a:ext cx="11247120" cy="1993392"/>
          </a:xfrm>
          <a:prstGeom prst="rect">
            <a:avLst/>
          </a:prstGeom>
          <a:noFill/>
          <a:ln w="12700">
            <a:solidFill>
              <a:srgbClr val="C6A46B"/>
            </a:solidFill>
          </a:ln>
        </p:spPr>
        <p:txBody>
          <a:bodyPr lIns="72000" tIns="18000" rIns="72000" bIns="18000" anchor="ctr" wrap="square">
            <a:noAutofit/>
          </a:bodyPr>
          <a:lstStyle/>
          <a:p>
            <a:pPr algn="ctr"/>
            <a:endParaRPr lang="en-US" sz="1"/>
            <a:r>
              <a:rPr lang="en-US" sz="1">
                <a:solidFill>
                  <a:srgbClr val="243044"/>
                </a:solidFill>
                <a:latin typeface="Aptos"/>
              </a:rPr>
              <a:t/>
            </a:r>
          </a:p>
        </p:txBody>
      </p:sp>
      <p:sp>
        <p:nvSpPr>
          <p:cNvPr id="617" name="Sequence 617"/>
          <p:cNvSpPr/>
          <p:nvPr/>
        </p:nvSpPr>
        <p:spPr>
          <a:xfrm>
            <a:off x="2304288" y="2395728"/>
            <a:ext cx="7635240" cy="256032"/>
          </a:xfrm>
          <a:prstGeom prst="rect">
            <a:avLst/>
          </a:prstGeom>
          <a:solidFill>
            <a:srgbClr val="FFF1DD"/>
          </a:solidFill>
          <a:ln w="12700">
            <a:solidFill>
              <a:srgbClr val="C6A46B"/>
            </a:solidFill>
          </a:ln>
        </p:spPr>
        <p:txBody>
          <a:bodyPr lIns="72000" tIns="18000" rIns="72000" bIns="18000" anchor="ctr" wrap="square">
            <a:noAutofit/>
          </a:bodyPr>
          <a:lstStyle/>
          <a:p>
            <a:pPr algn="left"/>
            <a:endParaRPr lang="en-US" sz="940"/>
            <a:r>
              <a:rPr lang="en-US" sz="940" b="1">
                <a:solidFill>
                  <a:srgbClr val="243044"/>
                </a:solidFill>
                <a:latin typeface="Aptos"/>
              </a:rPr>
              <a:t>alt [compatible idle adjuster]</a:t>
            </a:r>
          </a:p>
        </p:txBody>
      </p:sp>
      <p:cxnSp>
        <p:nvCxnSpPr>
          <p:cNvPr id="618" name="Connector 618"/>
          <p:cNvCxnSpPr/>
          <p:nvPr/>
        </p:nvCxnSpPr>
        <p:spPr>
          <a:xfrm>
            <a:off x="438912" y="3639312"/>
            <a:ext cx="11247120" cy="1"/>
          </a:xfrm>
          <a:prstGeom prst="line">
            <a:avLst/>
          </a:prstGeom>
          <a:ln w="12700">
            <a:solidFill>
              <a:srgbClr val="C6A46B"/>
            </a:solidFill>
          </a:ln>
        </p:spPr>
      </p:cxnSp>
      <p:sp>
        <p:nvSpPr>
          <p:cNvPr id="619" name="Sequence 619"/>
          <p:cNvSpPr/>
          <p:nvPr/>
        </p:nvSpPr>
        <p:spPr>
          <a:xfrm>
            <a:off x="2304288" y="3639312"/>
            <a:ext cx="7635240" cy="256032"/>
          </a:xfrm>
          <a:prstGeom prst="rect">
            <a:avLst/>
          </a:prstGeom>
          <a:solidFill>
            <a:srgbClr val="FFF1DD"/>
          </a:solidFill>
          <a:ln w="12700">
            <a:solidFill>
              <a:srgbClr val="C6A46B"/>
            </a:solidFill>
          </a:ln>
        </p:spPr>
        <p:txBody>
          <a:bodyPr lIns="72000" tIns="18000" rIns="72000" bIns="18000" anchor="ctr" wrap="square">
            <a:noAutofit/>
          </a:bodyPr>
          <a:lstStyle/>
          <a:p>
            <a:pPr algn="left"/>
            <a:endParaRPr lang="en-US" sz="940"/>
            <a:r>
              <a:rPr lang="en-US" sz="940" b="1">
                <a:solidFill>
                  <a:srgbClr val="243044"/>
                </a:solidFill>
                <a:latin typeface="Aptos"/>
              </a:rPr>
              <a:t>else [none available]</a:t>
            </a:r>
          </a:p>
        </p:txBody>
      </p:sp>
      <p:sp>
        <p:nvSpPr>
          <p:cNvPr id="620" name="Sequence 620"/>
          <p:cNvSpPr/>
          <p:nvPr/>
        </p:nvSpPr>
        <p:spPr>
          <a:xfrm>
            <a:off x="3337560" y="2551176"/>
            <a:ext cx="6858000" cy="246888"/>
          </a:xfrm>
          <a:prstGeom prst="rect">
            <a:avLst/>
          </a:prstGeom>
          <a:noFill/>
          <a:ln w="0">
            <a:noFill/>
          </a:ln>
        </p:spPr>
        <p:txBody>
          <a:bodyPr lIns="72000" tIns="18000" rIns="72000" bIns="18000" anchor="ctr" wrap="square">
            <a:noAutofit/>
          </a:bodyPr>
          <a:lstStyle/>
          <a:p>
            <a:pPr algn="ctr"/>
            <a:endParaRPr lang="en-US" sz="850"/>
            <a:r>
              <a:rPr lang="en-US" sz="850">
                <a:solidFill>
                  <a:srgbClr val="343434"/>
                </a:solidFill>
                <a:latin typeface="Aptos"/>
              </a:rPr>
              <a:t>Choose fewest skills; ID breaks ties</a:t>
            </a:r>
          </a:p>
        </p:txBody>
      </p:sp>
      <p:cxnSp>
        <p:nvCxnSpPr>
          <p:cNvPr id="621" name="Connector 621"/>
          <p:cNvCxnSpPr/>
          <p:nvPr/>
        </p:nvCxnSpPr>
        <p:spPr>
          <a:xfrm>
            <a:off x="3337560" y="2743200"/>
            <a:ext cx="6858000" cy="1"/>
          </a:xfrm>
          <a:prstGeom prst="line">
            <a:avLst/>
          </a:prstGeom>
          <a:ln w="19050">
            <a:solidFill>
              <a:srgbClr val="F28C28"/>
            </a:solidFill>
            <a:tailEnd type="triangle"/>
            <a:headEnd type="none"/>
          </a:ln>
        </p:spPr>
      </p:cxnSp>
      <p:sp>
        <p:nvSpPr>
          <p:cNvPr id="622" name="Sequence 622"/>
          <p:cNvSpPr/>
          <p:nvPr/>
        </p:nvSpPr>
        <p:spPr>
          <a:xfrm>
            <a:off x="3337560" y="2843784"/>
            <a:ext cx="4572000" cy="246888"/>
          </a:xfrm>
          <a:prstGeom prst="rect">
            <a:avLst/>
          </a:prstGeom>
          <a:noFill/>
          <a:ln w="0">
            <a:noFill/>
          </a:ln>
        </p:spPr>
        <p:txBody>
          <a:bodyPr lIns="72000" tIns="18000" rIns="72000" bIns="18000" anchor="ctr" wrap="square">
            <a:noAutofit/>
          </a:bodyPr>
          <a:lstStyle/>
          <a:p>
            <a:pPr algn="ctr"/>
            <a:endParaRPr lang="en-US" sz="900"/>
            <a:r>
              <a:rPr lang="en-US" sz="900">
                <a:solidFill>
                  <a:srgbClr val="343434"/>
                </a:solidFill>
                <a:latin typeface="Aptos"/>
              </a:rPr>
              <a:t>Machine REPAIR; adjuster BUSY</a:t>
            </a:r>
          </a:p>
        </p:txBody>
      </p:sp>
      <p:cxnSp>
        <p:nvCxnSpPr>
          <p:cNvPr id="623" name="Connector 623"/>
          <p:cNvCxnSpPr/>
          <p:nvPr/>
        </p:nvCxnSpPr>
        <p:spPr>
          <a:xfrm>
            <a:off x="3337560" y="3035808"/>
            <a:ext cx="4572000" cy="1"/>
          </a:xfrm>
          <a:prstGeom prst="line">
            <a:avLst/>
          </a:prstGeom>
          <a:ln w="19050">
            <a:solidFill>
              <a:srgbClr val="F28C28"/>
            </a:solidFill>
            <a:tailEnd type="triangle"/>
            <a:headEnd type="none"/>
          </a:ln>
        </p:spPr>
      </p:cxnSp>
      <p:sp>
        <p:nvSpPr>
          <p:cNvPr id="624" name="Sequence 624"/>
          <p:cNvSpPr/>
          <p:nvPr/>
        </p:nvSpPr>
        <p:spPr>
          <a:xfrm>
            <a:off x="1051560" y="3136392"/>
            <a:ext cx="2286000" cy="246888"/>
          </a:xfrm>
          <a:prstGeom prst="rect">
            <a:avLst/>
          </a:prstGeom>
          <a:noFill/>
          <a:ln w="0">
            <a:noFill/>
          </a:ln>
        </p:spPr>
        <p:txBody>
          <a:bodyPr lIns="72000" tIns="18000" rIns="72000" bIns="18000" anchor="ctr" wrap="square">
            <a:noAutofit/>
          </a:bodyPr>
          <a:lstStyle/>
          <a:p>
            <a:pPr algn="ctr"/>
            <a:endParaRPr lang="en-US" sz="900"/>
            <a:r>
              <a:rPr lang="en-US" sz="900">
                <a:solidFill>
                  <a:srgbClr val="343434"/>
                </a:solidFill>
                <a:latin typeface="Aptos"/>
              </a:rPr>
              <a:t>Schedule REPAIR_DONE</a:t>
            </a:r>
          </a:p>
        </p:txBody>
      </p:sp>
      <p:cxnSp>
        <p:nvCxnSpPr>
          <p:cNvPr id="625" name="Connector 625"/>
          <p:cNvCxnSpPr/>
          <p:nvPr/>
        </p:nvCxnSpPr>
        <p:spPr>
          <a:xfrm flipH="1">
            <a:off x="1051560" y="3328416"/>
            <a:ext cx="2286000" cy="1"/>
          </a:xfrm>
          <a:prstGeom prst="line">
            <a:avLst/>
          </a:prstGeom>
          <a:ln w="19050">
            <a:solidFill>
              <a:srgbClr val="F28C28"/>
            </a:solidFill>
            <a:tailEnd type="triangle"/>
            <a:headEnd type="none"/>
          </a:ln>
        </p:spPr>
      </p:cxnSp>
      <p:sp>
        <p:nvSpPr>
          <p:cNvPr id="626" name="Sequence 626"/>
          <p:cNvSpPr/>
          <p:nvPr/>
        </p:nvSpPr>
        <p:spPr>
          <a:xfrm>
            <a:off x="3337560" y="3721608"/>
            <a:ext cx="4572000" cy="246888"/>
          </a:xfrm>
          <a:prstGeom prst="rect">
            <a:avLst/>
          </a:prstGeom>
          <a:noFill/>
          <a:ln w="0">
            <a:noFill/>
          </a:ln>
        </p:spPr>
        <p:txBody>
          <a:bodyPr lIns="72000" tIns="18000" rIns="72000" bIns="18000" anchor="ctr" wrap="square">
            <a:noAutofit/>
          </a:bodyPr>
          <a:lstStyle/>
          <a:p>
            <a:pPr algn="ctr"/>
            <a:endParaRPr lang="en-US" sz="900"/>
            <a:r>
              <a:rPr lang="en-US" sz="900">
                <a:solidFill>
                  <a:srgbClr val="343434"/>
                </a:solidFill>
                <a:latin typeface="Aptos"/>
              </a:rPr>
              <a:t>Mark machine WAITING</a:t>
            </a:r>
          </a:p>
        </p:txBody>
      </p:sp>
      <p:cxnSp>
        <p:nvCxnSpPr>
          <p:cNvPr id="627" name="Connector 627"/>
          <p:cNvCxnSpPr/>
          <p:nvPr/>
        </p:nvCxnSpPr>
        <p:spPr>
          <a:xfrm>
            <a:off x="3337560" y="3913632"/>
            <a:ext cx="4572000" cy="1"/>
          </a:xfrm>
          <a:prstGeom prst="line">
            <a:avLst/>
          </a:prstGeom>
          <a:ln w="19050">
            <a:solidFill>
              <a:srgbClr val="F28C28"/>
            </a:solidFill>
            <a:tailEnd type="triangle"/>
            <a:headEnd type="none"/>
          </a:ln>
        </p:spPr>
      </p:cxnSp>
      <p:sp>
        <p:nvSpPr>
          <p:cNvPr id="628" name="Sequence 628"/>
          <p:cNvSpPr/>
          <p:nvPr/>
        </p:nvSpPr>
        <p:spPr>
          <a:xfrm>
            <a:off x="3337560" y="4032504"/>
            <a:ext cx="2286000" cy="246888"/>
          </a:xfrm>
          <a:prstGeom prst="rect">
            <a:avLst/>
          </a:prstGeom>
          <a:noFill/>
          <a:ln w="0">
            <a:noFill/>
          </a:ln>
        </p:spPr>
        <p:txBody>
          <a:bodyPr lIns="72000" tIns="18000" rIns="72000" bIns="18000" anchor="ctr" wrap="square">
            <a:noAutofit/>
          </a:bodyPr>
          <a:lstStyle/>
          <a:p>
            <a:pPr algn="ctr"/>
            <a:endParaRPr lang="en-US" sz="900"/>
            <a:r>
              <a:rPr lang="en-US" sz="900">
                <a:solidFill>
                  <a:srgbClr val="343434"/>
                </a:solidFill>
                <a:latin typeface="Aptos"/>
              </a:rPr>
              <a:t>Append to waiting list</a:t>
            </a:r>
          </a:p>
        </p:txBody>
      </p:sp>
      <p:cxnSp>
        <p:nvCxnSpPr>
          <p:cNvPr id="629" name="Connector 629"/>
          <p:cNvCxnSpPr/>
          <p:nvPr/>
        </p:nvCxnSpPr>
        <p:spPr>
          <a:xfrm>
            <a:off x="3337560" y="4224528"/>
            <a:ext cx="2286000" cy="1"/>
          </a:xfrm>
          <a:prstGeom prst="line">
            <a:avLst/>
          </a:prstGeom>
          <a:ln w="19050">
            <a:solidFill>
              <a:srgbClr val="F28C28"/>
            </a:solidFill>
            <a:tailEnd type="triangle"/>
            <a:headEnd type="none"/>
          </a:ln>
        </p:spPr>
      </p:cxnSp>
      <p:sp>
        <p:nvSpPr>
          <p:cNvPr id="630" name="Sequence 630"/>
          <p:cNvSpPr/>
          <p:nvPr/>
        </p:nvSpPr>
        <p:spPr>
          <a:xfrm>
            <a:off x="1051560" y="4343400"/>
            <a:ext cx="2286000" cy="246888"/>
          </a:xfrm>
          <a:prstGeom prst="rect">
            <a:avLst/>
          </a:prstGeom>
          <a:noFill/>
          <a:ln w="0">
            <a:noFill/>
          </a:ln>
        </p:spPr>
        <p:txBody>
          <a:bodyPr lIns="72000" tIns="18000" rIns="72000" bIns="18000" anchor="ctr" wrap="square">
            <a:noAutofit/>
          </a:bodyPr>
          <a:lstStyle/>
          <a:p>
            <a:pPr algn="ctr"/>
            <a:endParaRPr lang="en-US" sz="900"/>
            <a:r>
              <a:rPr lang="en-US" sz="900">
                <a:solidFill>
                  <a:srgbClr val="343434"/>
                </a:solidFill>
                <a:latin typeface="Aptos"/>
              </a:rPr>
              <a:t>On any REPAIR_DONE</a:t>
            </a:r>
          </a:p>
        </p:txBody>
      </p:sp>
      <p:cxnSp>
        <p:nvCxnSpPr>
          <p:cNvPr id="631" name="Connector 631"/>
          <p:cNvCxnSpPr/>
          <p:nvPr/>
        </p:nvCxnSpPr>
        <p:spPr>
          <a:xfrm>
            <a:off x="1051560" y="4535424"/>
            <a:ext cx="2286000" cy="1"/>
          </a:xfrm>
          <a:prstGeom prst="line">
            <a:avLst/>
          </a:prstGeom>
          <a:ln w="19050">
            <a:solidFill>
              <a:srgbClr val="F28C28"/>
            </a:solidFill>
            <a:tailEnd type="triangle"/>
            <a:headEnd type="none"/>
          </a:ln>
        </p:spPr>
      </p:cxnSp>
      <p:sp>
        <p:nvSpPr>
          <p:cNvPr id="632" name="Sequence 632"/>
          <p:cNvSpPr/>
          <p:nvPr/>
        </p:nvSpPr>
        <p:spPr>
          <a:xfrm>
            <a:off x="3337560" y="4636008"/>
            <a:ext cx="6858000" cy="246888"/>
          </a:xfrm>
          <a:prstGeom prst="rect">
            <a:avLst/>
          </a:prstGeom>
          <a:noFill/>
          <a:ln w="0">
            <a:noFill/>
          </a:ln>
        </p:spPr>
        <p:txBody>
          <a:bodyPr lIns="72000" tIns="18000" rIns="72000" bIns="18000" anchor="ctr" wrap="square">
            <a:noAutofit/>
          </a:bodyPr>
          <a:lstStyle/>
          <a:p>
            <a:pPr algn="ctr"/>
            <a:endParaRPr lang="en-US" sz="850"/>
            <a:r>
              <a:rPr lang="en-US" sz="850">
                <a:solidFill>
                  <a:srgbClr val="343434"/>
                </a:solidFill>
                <a:latin typeface="Aptos"/>
              </a:rPr>
              <a:t>Finish repair; credit busy time; set IDLE</a:t>
            </a:r>
          </a:p>
        </p:txBody>
      </p:sp>
      <p:cxnSp>
        <p:nvCxnSpPr>
          <p:cNvPr id="633" name="Connector 633"/>
          <p:cNvCxnSpPr/>
          <p:nvPr/>
        </p:nvCxnSpPr>
        <p:spPr>
          <a:xfrm>
            <a:off x="3337560" y="4828032"/>
            <a:ext cx="6858000" cy="1"/>
          </a:xfrm>
          <a:prstGeom prst="line">
            <a:avLst/>
          </a:prstGeom>
          <a:ln w="19050">
            <a:solidFill>
              <a:srgbClr val="F28C28"/>
            </a:solidFill>
            <a:tailEnd type="triangle"/>
            <a:headEnd type="none"/>
          </a:ln>
        </p:spPr>
      </p:cxnSp>
      <p:sp>
        <p:nvSpPr>
          <p:cNvPr id="634" name="Sequence 634"/>
          <p:cNvSpPr/>
          <p:nvPr/>
        </p:nvSpPr>
        <p:spPr>
          <a:xfrm>
            <a:off x="3337560" y="4928616"/>
            <a:ext cx="4572000" cy="246888"/>
          </a:xfrm>
          <a:prstGeom prst="rect">
            <a:avLst/>
          </a:prstGeom>
          <a:noFill/>
          <a:ln w="0">
            <a:noFill/>
          </a:ln>
        </p:spPr>
        <p:txBody>
          <a:bodyPr lIns="72000" tIns="18000" rIns="72000" bIns="18000" anchor="ctr" wrap="square">
            <a:noAutofit/>
          </a:bodyPr>
          <a:lstStyle/>
          <a:p>
            <a:pPr algn="ctr"/>
            <a:endParaRPr lang="en-US" sz="850"/>
            <a:r>
              <a:rPr lang="en-US" sz="850">
                <a:solidFill>
                  <a:srgbClr val="343434"/>
                </a:solidFill>
                <a:latin typeface="Aptos"/>
              </a:rPr>
              <a:t>Resume; schedule next Gaussian failure</a:t>
            </a:r>
          </a:p>
        </p:txBody>
      </p:sp>
      <p:cxnSp>
        <p:nvCxnSpPr>
          <p:cNvPr id="635" name="Connector 635"/>
          <p:cNvCxnSpPr/>
          <p:nvPr/>
        </p:nvCxnSpPr>
        <p:spPr>
          <a:xfrm>
            <a:off x="3337560" y="5120640"/>
            <a:ext cx="4572000" cy="1"/>
          </a:xfrm>
          <a:prstGeom prst="line">
            <a:avLst/>
          </a:prstGeom>
          <a:ln w="19050">
            <a:solidFill>
              <a:srgbClr val="F28C28"/>
            </a:solidFill>
            <a:tailEnd type="triangle"/>
            <a:headEnd type="none"/>
          </a:ln>
        </p:spPr>
      </p:cxnSp>
      <p:sp>
        <p:nvSpPr>
          <p:cNvPr id="636" name="Sequence 636"/>
          <p:cNvSpPr/>
          <p:nvPr/>
        </p:nvSpPr>
        <p:spPr>
          <a:xfrm>
            <a:off x="758952" y="5751576"/>
            <a:ext cx="10652760" cy="265176"/>
          </a:xfrm>
          <a:prstGeom prst="rect">
            <a:avLst/>
          </a:prstGeom>
          <a:noFill/>
          <a:ln w="0">
            <a:noFill/>
          </a:ln>
        </p:spPr>
        <p:txBody>
          <a:bodyPr lIns="72000" tIns="18000" rIns="72000" bIns="18000" anchor="ctr" wrap="square">
            <a:noAutofit/>
          </a:bodyPr>
          <a:lstStyle/>
          <a:p>
            <a:pPr algn="ctr"/>
            <a:endParaRPr lang="en-US" sz="880"/>
            <a:r>
              <a:rPr lang="en-US" sz="880">
                <a:solidFill>
                  <a:srgbClr val="5B5B5B"/>
                </a:solidFill>
                <a:latin typeface="Aptos"/>
              </a:rPr>
              <a:t>Dispatch scans the waiting list in order and assigns the first compatible machine.</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559"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DFD Level 0: Context Diagram</a:t>
            </a:r>
            <a:endParaRPr lang="en-IN" sz="3000" b="0" u="none" strike="noStrike">
              <a:solidFill>
                <a:srgbClr val="000000"/>
              </a:solidFill>
              <a:effectLst/>
              <a:uFillTx/>
              <a:latin typeface="Arial"/>
            </a:endParaRPr>
          </a:p>
        </p:txBody>
      </p:sp>
      <p:sp>
        <p:nvSpPr>
          <p:cNvPr id="560"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21</a:t>
            </a:r>
            <a:endParaRPr lang="en-IN" sz="1100" b="0" u="none" strike="noStrike">
              <a:solidFill>
                <a:srgbClr val="000000"/>
              </a:solidFill>
              <a:effectLst/>
              <a:uFillTx/>
              <a:latin typeface="Arial"/>
            </a:endParaRPr>
          </a:p>
        </p:txBody>
      </p:sp>
      <p:sp>
        <p:nvSpPr>
          <p:cNvPr id="561" name="Shape 2"/>
          <p:cNvSpPr/>
          <p:nvPr/>
        </p:nvSpPr>
        <p:spPr>
          <a:xfrm>
            <a:off x="548640" y="2468880"/>
            <a:ext cx="1645560" cy="2194200"/>
          </a:xfrm>
          <a:prstGeom prst="roundRect">
            <a:avLst>
              <a:gd name="adj" fmla="val 4444"/>
            </a:avLst>
          </a:prstGeom>
          <a:solidFill>
            <a:srgbClr val="14213D"/>
          </a:solidFill>
          <a:ln w="15875">
            <a:solidFill>
              <a:srgbClr val="14213D"/>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62" name="Text 3"/>
          <p:cNvSpPr/>
          <p:nvPr/>
        </p:nvSpPr>
        <p:spPr>
          <a:xfrm>
            <a:off x="640080" y="2468880"/>
            <a:ext cx="1462680" cy="2194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Analyst</a:t>
            </a:r>
            <a:endParaRPr lang="en-IN" sz="1400" b="0" u="none" strike="noStrike">
              <a:solidFill>
                <a:srgbClr val="000000"/>
              </a:solidFill>
              <a:effectLst/>
              <a:uFillTx/>
              <a:latin typeface="Arial"/>
            </a:endParaRPr>
          </a:p>
        </p:txBody>
      </p:sp>
      <p:sp>
        <p:nvSpPr>
          <p:cNvPr id="563" name="Shape 4"/>
          <p:cNvSpPr/>
          <p:nvPr/>
        </p:nvSpPr>
        <p:spPr>
          <a:xfrm>
            <a:off x="5120640" y="2194560"/>
            <a:ext cx="3840120" cy="255996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64" name="Text 5"/>
          <p:cNvSpPr/>
          <p:nvPr/>
        </p:nvSpPr>
        <p:spPr>
          <a:xfrm>
            <a:off x="5212080" y="2194560"/>
            <a:ext cx="3657240" cy="2559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4213D"/>
                </a:solidFill>
                <a:effectLst/>
                <a:uFillTx/>
                <a:latin typeface="Calibri"/>
                <a:ea typeface="Calibri"/>
              </a:rPr>
              <a:t>0</a:t>
            </a:r>
            <a:endParaRPr lang="en-IN"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4213D"/>
                </a:solidFill>
                <a:effectLst/>
                <a:uFillTx/>
                <a:latin typeface="Calibri"/>
                <a:ea typeface="Calibri"/>
              </a:rPr>
              <a:t>Factory Adjuster</a:t>
            </a:r>
            <a:endParaRPr lang="en-IN"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14213D"/>
                </a:solidFill>
                <a:effectLst/>
                <a:uFillTx/>
                <a:latin typeface="Calibri"/>
                <a:ea typeface="Calibri"/>
              </a:rPr>
              <a:t>Simulation</a:t>
            </a:r>
            <a:endParaRPr lang="en-IN" sz="1600" b="0" u="none" strike="noStrike">
              <a:solidFill>
                <a:srgbClr val="000000"/>
              </a:solidFill>
              <a:effectLst/>
              <a:uFillTx/>
              <a:latin typeface="Arial"/>
            </a:endParaRPr>
          </a:p>
        </p:txBody>
      </p:sp>
      <p:sp>
        <p:nvSpPr>
          <p:cNvPr id="565" name="Shape 6"/>
          <p:cNvSpPr/>
          <p:nvPr/>
        </p:nvSpPr>
        <p:spPr>
          <a:xfrm>
            <a:off x="10058400" y="3108960"/>
            <a:ext cx="1554120" cy="731160"/>
          </a:xfrm>
          <a:prstGeom prst="roundRect">
            <a:avLst>
              <a:gd name="adj" fmla="val 10000"/>
            </a:avLst>
          </a:prstGeom>
          <a:solidFill>
            <a:srgbClr val="14213D"/>
          </a:solidFill>
          <a:ln w="15875">
            <a:solidFill>
              <a:srgbClr val="14213D"/>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66" name="Text 7"/>
          <p:cNvSpPr/>
          <p:nvPr/>
        </p:nvSpPr>
        <p:spPr>
          <a:xfrm>
            <a:off x="10149840" y="3108960"/>
            <a:ext cx="137124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MongoDB</a:t>
            </a:r>
            <a:endParaRPr lang="en-IN" sz="1400" b="0" u="none" strike="noStrike">
              <a:solidFill>
                <a:srgbClr val="000000"/>
              </a:solidFill>
              <a:effectLst/>
              <a:uFillTx/>
              <a:latin typeface="Arial"/>
            </a:endParaRPr>
          </a:p>
        </p:txBody>
      </p:sp>
      <p:sp>
        <p:nvSpPr>
          <p:cNvPr id="567" name="Shape 8"/>
          <p:cNvSpPr/>
          <p:nvPr/>
        </p:nvSpPr>
        <p:spPr>
          <a:xfrm>
            <a:off x="2194560" y="2999160"/>
            <a:ext cx="29260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68" name="Text 9"/>
          <p:cNvSpPr/>
          <p:nvPr/>
        </p:nvSpPr>
        <p:spPr>
          <a:xfrm>
            <a:off x="2286000" y="2724840"/>
            <a:ext cx="27428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Machine groups, adjusters, duration, seed</a:t>
            </a:r>
            <a:endParaRPr lang="en-IN" sz="1100" b="0" u="none" strike="noStrike">
              <a:solidFill>
                <a:srgbClr val="000000"/>
              </a:solidFill>
              <a:effectLst/>
              <a:uFillTx/>
              <a:latin typeface="Arial"/>
            </a:endParaRPr>
          </a:p>
        </p:txBody>
      </p:sp>
      <p:sp>
        <p:nvSpPr>
          <p:cNvPr id="569" name="Shape 10"/>
          <p:cNvSpPr/>
          <p:nvPr/>
        </p:nvSpPr>
        <p:spPr>
          <a:xfrm>
            <a:off x="2194560" y="3410640"/>
            <a:ext cx="29260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70" name="Text 11"/>
          <p:cNvSpPr/>
          <p:nvPr/>
        </p:nvSpPr>
        <p:spPr>
          <a:xfrm>
            <a:off x="2286000" y="3136320"/>
            <a:ext cx="27428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Experiment factors (API)</a:t>
            </a:r>
            <a:endParaRPr lang="en-IN" sz="1100" b="0" u="none" strike="noStrike">
              <a:solidFill>
                <a:srgbClr val="000000"/>
              </a:solidFill>
              <a:effectLst/>
              <a:uFillTx/>
              <a:latin typeface="Arial"/>
            </a:endParaRPr>
          </a:p>
        </p:txBody>
      </p:sp>
      <p:sp>
        <p:nvSpPr>
          <p:cNvPr id="571" name="Shape 12"/>
          <p:cNvSpPr/>
          <p:nvPr/>
        </p:nvSpPr>
        <p:spPr>
          <a:xfrm flipH="1">
            <a:off x="2194560" y="3822120"/>
            <a:ext cx="29260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72" name="Text 13"/>
          <p:cNvSpPr/>
          <p:nvPr/>
        </p:nvSpPr>
        <p:spPr>
          <a:xfrm>
            <a:off x="2286000" y="3547800"/>
            <a:ext cx="27428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Results and metrics</a:t>
            </a:r>
            <a:endParaRPr lang="en-IN" sz="1100" b="0" u="none" strike="noStrike">
              <a:solidFill>
                <a:srgbClr val="000000"/>
              </a:solidFill>
              <a:effectLst/>
              <a:uFillTx/>
              <a:latin typeface="Arial"/>
            </a:endParaRPr>
          </a:p>
        </p:txBody>
      </p:sp>
      <p:sp>
        <p:nvSpPr>
          <p:cNvPr id="573" name="Shape 14"/>
          <p:cNvSpPr/>
          <p:nvPr/>
        </p:nvSpPr>
        <p:spPr>
          <a:xfrm flipH="1">
            <a:off x="2194560" y="4233600"/>
            <a:ext cx="29260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74" name="Text 15"/>
          <p:cNvSpPr/>
          <p:nvPr/>
        </p:nvSpPr>
        <p:spPr>
          <a:xfrm>
            <a:off x="2286000" y="3959280"/>
            <a:ext cx="27428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Validation error</a:t>
            </a:r>
            <a:endParaRPr lang="en-IN" sz="1100" b="0" u="none" strike="noStrike">
              <a:solidFill>
                <a:srgbClr val="000000"/>
              </a:solidFill>
              <a:effectLst/>
              <a:uFillTx/>
              <a:latin typeface="Arial"/>
            </a:endParaRPr>
          </a:p>
        </p:txBody>
      </p:sp>
      <p:sp>
        <p:nvSpPr>
          <p:cNvPr id="575" name="Shape 16"/>
          <p:cNvSpPr/>
          <p:nvPr/>
        </p:nvSpPr>
        <p:spPr>
          <a:xfrm flipH="1">
            <a:off x="2194560" y="4645080"/>
            <a:ext cx="29260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76" name="Text 17"/>
          <p:cNvSpPr/>
          <p:nvPr/>
        </p:nvSpPr>
        <p:spPr>
          <a:xfrm>
            <a:off x="2286000" y="4370760"/>
            <a:ext cx="274284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database_warning</a:t>
            </a:r>
            <a:endParaRPr lang="en-IN" sz="1100" b="0" u="none" strike="noStrike">
              <a:solidFill>
                <a:srgbClr val="000000"/>
              </a:solidFill>
              <a:effectLst/>
              <a:uFillTx/>
              <a:latin typeface="Arial"/>
            </a:endParaRPr>
          </a:p>
        </p:txBody>
      </p:sp>
      <p:sp>
        <p:nvSpPr>
          <p:cNvPr id="577" name="Shape 18"/>
          <p:cNvSpPr/>
          <p:nvPr/>
        </p:nvSpPr>
        <p:spPr>
          <a:xfrm>
            <a:off x="8961120" y="3291840"/>
            <a:ext cx="10972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78" name="Text 19"/>
          <p:cNvSpPr/>
          <p:nvPr/>
        </p:nvSpPr>
        <p:spPr>
          <a:xfrm>
            <a:off x="8869680" y="301752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Run input, output</a:t>
            </a:r>
            <a:endParaRPr lang="en-IN" sz="1100" b="0" u="none" strike="noStrike">
              <a:solidFill>
                <a:srgbClr val="000000"/>
              </a:solidFill>
              <a:effectLst/>
              <a:uFillTx/>
              <a:latin typeface="Arial"/>
            </a:endParaRPr>
          </a:p>
        </p:txBody>
      </p:sp>
      <p:sp>
        <p:nvSpPr>
          <p:cNvPr id="579" name="Shape 20"/>
          <p:cNvSpPr/>
          <p:nvPr/>
        </p:nvSpPr>
        <p:spPr>
          <a:xfrm flipH="1">
            <a:off x="8961120" y="3703320"/>
            <a:ext cx="109728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580" name="Text 21"/>
          <p:cNvSpPr/>
          <p:nvPr/>
        </p:nvSpPr>
        <p:spPr>
          <a:xfrm>
            <a:off x="8961120" y="3749040"/>
            <a:ext cx="109692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2B2B2B"/>
                </a:solidFill>
                <a:effectLst/>
                <a:uFillTx/>
                <a:latin typeface="Calibri"/>
                <a:ea typeface="Calibri"/>
              </a:rPr>
              <a:t>Ack / error</a:t>
            </a:r>
            <a:endParaRPr lang="en-IN" sz="1100" b="0" u="none" strike="noStrike">
              <a:solidFill>
                <a:srgbClr val="000000"/>
              </a:solidFill>
              <a:effectLst/>
              <a:uFillTx/>
              <a:latin typeface="Arial"/>
            </a:endParaRPr>
          </a:p>
        </p:txBody>
      </p:sp>
      <p:sp>
        <p:nvSpPr>
          <p:cNvPr id="581" name="Shape 22"/>
          <p:cNvSpPr/>
          <p:nvPr/>
        </p:nvSpPr>
        <p:spPr>
          <a:xfrm>
            <a:off x="548640" y="539496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82" name="Text 23"/>
          <p:cNvSpPr/>
          <p:nvPr/>
        </p:nvSpPr>
        <p:spPr>
          <a:xfrm>
            <a:off x="685800" y="539496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Boxes are external parties, the circle is the whole system, arrows are data. Level 1 opens the circle.</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583"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DFD Level 1: Main Processes</a:t>
            </a:r>
            <a:endParaRPr lang="en-IN" sz="3000" b="0" u="none" strike="noStrike">
              <a:solidFill>
                <a:srgbClr val="000000"/>
              </a:solidFill>
              <a:effectLst/>
              <a:uFillTx/>
              <a:latin typeface="Arial"/>
            </a:endParaRPr>
          </a:p>
        </p:txBody>
      </p:sp>
      <p:sp>
        <p:nvSpPr>
          <p:cNvPr id="584"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22</a:t>
            </a:r>
            <a:endParaRPr lang="en-IN" sz="1100" b="0" u="none" strike="noStrike">
              <a:solidFill>
                <a:srgbClr val="000000"/>
              </a:solidFill>
              <a:effectLst/>
              <a:uFillTx/>
              <a:latin typeface="Arial"/>
            </a:endParaRPr>
          </a:p>
        </p:txBody>
      </p:sp>
      <p:sp>
        <p:nvSpPr>
          <p:cNvPr id="585" name="Shape 2"/>
          <p:cNvSpPr/>
          <p:nvPr/>
        </p:nvSpPr>
        <p:spPr>
          <a:xfrm>
            <a:off x="548640" y="2743200"/>
            <a:ext cx="1462680" cy="1462680"/>
          </a:xfrm>
          <a:prstGeom prst="roundRect">
            <a:avLst>
              <a:gd name="adj" fmla="val 5000"/>
            </a:avLst>
          </a:prstGeom>
          <a:solidFill>
            <a:srgbClr val="14213D"/>
          </a:solidFill>
          <a:ln w="15875">
            <a:solidFill>
              <a:srgbClr val="14213D"/>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86" name="Text 3"/>
          <p:cNvSpPr/>
          <p:nvPr/>
        </p:nvSpPr>
        <p:spPr>
          <a:xfrm>
            <a:off x="640080" y="2743200"/>
            <a:ext cx="1279800" cy="1462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Analyst</a:t>
            </a:r>
            <a:endParaRPr lang="en-IN" sz="1400" b="0" u="none" strike="noStrike">
              <a:solidFill>
                <a:srgbClr val="000000"/>
              </a:solidFill>
              <a:effectLst/>
              <a:uFillTx/>
              <a:latin typeface="Arial"/>
            </a:endParaRPr>
          </a:p>
        </p:txBody>
      </p:sp>
      <p:sp>
        <p:nvSpPr>
          <p:cNvPr id="587" name="Shape 4"/>
          <p:cNvSpPr/>
          <p:nvPr/>
        </p:nvSpPr>
        <p:spPr>
          <a:xfrm>
            <a:off x="3657600" y="1280160"/>
            <a:ext cx="3291480" cy="77688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88" name="Text 5"/>
          <p:cNvSpPr/>
          <p:nvPr/>
        </p:nvSpPr>
        <p:spPr>
          <a:xfrm>
            <a:off x="3749040" y="1280160"/>
            <a:ext cx="310860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1.0 Validate and build scenario</a:t>
            </a:r>
            <a:endParaRPr lang="en-IN" sz="1300" b="0" u="none" strike="noStrike">
              <a:solidFill>
                <a:srgbClr val="000000"/>
              </a:solidFill>
              <a:effectLst/>
              <a:uFillTx/>
              <a:latin typeface="Arial"/>
            </a:endParaRPr>
          </a:p>
        </p:txBody>
      </p:sp>
      <p:sp>
        <p:nvSpPr>
          <p:cNvPr id="589" name="Shape 6"/>
          <p:cNvSpPr/>
          <p:nvPr/>
        </p:nvSpPr>
        <p:spPr>
          <a:xfrm>
            <a:off x="3657600" y="2514600"/>
            <a:ext cx="3291480" cy="77688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90" name="Text 7"/>
          <p:cNvSpPr/>
          <p:nvPr/>
        </p:nvSpPr>
        <p:spPr>
          <a:xfrm>
            <a:off x="3749040" y="2514600"/>
            <a:ext cx="310860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2.0 Simulate events and dispatch</a:t>
            </a:r>
            <a:endParaRPr lang="en-IN" sz="1300" b="0" u="none" strike="noStrike">
              <a:solidFill>
                <a:srgbClr val="000000"/>
              </a:solidFill>
              <a:effectLst/>
              <a:uFillTx/>
              <a:latin typeface="Arial"/>
            </a:endParaRPr>
          </a:p>
        </p:txBody>
      </p:sp>
      <p:sp>
        <p:nvSpPr>
          <p:cNvPr id="591" name="Shape 8"/>
          <p:cNvSpPr/>
          <p:nvPr/>
        </p:nvSpPr>
        <p:spPr>
          <a:xfrm>
            <a:off x="3657600" y="3749040"/>
            <a:ext cx="3291480" cy="77688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92" name="Text 9"/>
          <p:cNvSpPr/>
          <p:nvPr/>
        </p:nvSpPr>
        <p:spPr>
          <a:xfrm>
            <a:off x="3749040" y="3749040"/>
            <a:ext cx="310860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3.0 Compute metrics, save run</a:t>
            </a:r>
            <a:endParaRPr lang="en-IN" sz="1300" b="0" u="none" strike="noStrike">
              <a:solidFill>
                <a:srgbClr val="000000"/>
              </a:solidFill>
              <a:effectLst/>
              <a:uFillTx/>
              <a:latin typeface="Arial"/>
            </a:endParaRPr>
          </a:p>
        </p:txBody>
      </p:sp>
      <p:sp>
        <p:nvSpPr>
          <p:cNvPr id="593" name="Shape 10"/>
          <p:cNvSpPr/>
          <p:nvPr/>
        </p:nvSpPr>
        <p:spPr>
          <a:xfrm>
            <a:off x="3657600" y="4983480"/>
            <a:ext cx="3291480" cy="77688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94" name="Text 11"/>
          <p:cNvSpPr/>
          <p:nvPr/>
        </p:nvSpPr>
        <p:spPr>
          <a:xfrm>
            <a:off x="3749040" y="4983480"/>
            <a:ext cx="310860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4.0 Run experiments (API)</a:t>
            </a:r>
            <a:endParaRPr lang="en-IN" sz="1300" b="0" u="none" strike="noStrike">
              <a:solidFill>
                <a:srgbClr val="000000"/>
              </a:solidFill>
              <a:effectLst/>
              <a:uFillTx/>
              <a:latin typeface="Arial"/>
            </a:endParaRPr>
          </a:p>
        </p:txBody>
      </p:sp>
      <p:sp>
        <p:nvSpPr>
          <p:cNvPr id="595" name="Shape 12"/>
          <p:cNvSpPr/>
          <p:nvPr/>
        </p:nvSpPr>
        <p:spPr>
          <a:xfrm>
            <a:off x="8869680" y="1828800"/>
            <a:ext cx="2742840" cy="548280"/>
          </a:xfrm>
          <a:prstGeom prst="roundRect">
            <a:avLst>
              <a:gd name="adj" fmla="val 13333"/>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96" name="Text 13"/>
          <p:cNvSpPr/>
          <p:nvPr/>
        </p:nvSpPr>
        <p:spPr>
          <a:xfrm>
            <a:off x="8961120" y="1828800"/>
            <a:ext cx="255996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213D"/>
                </a:solidFill>
                <a:effectLst/>
                <a:uFillTx/>
                <a:latin typeface="Calibri"/>
                <a:ea typeface="Calibri"/>
              </a:rPr>
              <a:t>D1 Scenario</a:t>
            </a:r>
            <a:endParaRPr lang="en-IN" sz="1200" b="0" u="none" strike="noStrike">
              <a:solidFill>
                <a:srgbClr val="000000"/>
              </a:solidFill>
              <a:effectLst/>
              <a:uFillTx/>
              <a:latin typeface="Arial"/>
            </a:endParaRPr>
          </a:p>
        </p:txBody>
      </p:sp>
      <p:sp>
        <p:nvSpPr>
          <p:cNvPr id="597" name="Shape 14"/>
          <p:cNvSpPr/>
          <p:nvPr/>
        </p:nvSpPr>
        <p:spPr>
          <a:xfrm>
            <a:off x="8869680" y="2880360"/>
            <a:ext cx="2742840" cy="548280"/>
          </a:xfrm>
          <a:prstGeom prst="roundRect">
            <a:avLst>
              <a:gd name="adj" fmla="val 13333"/>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598" name="Text 15"/>
          <p:cNvSpPr/>
          <p:nvPr/>
        </p:nvSpPr>
        <p:spPr>
          <a:xfrm>
            <a:off x="8961120" y="2880360"/>
            <a:ext cx="255996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213D"/>
                </a:solidFill>
                <a:effectLst/>
                <a:uFillTx/>
                <a:latin typeface="Calibri"/>
                <a:ea typeface="Calibri"/>
              </a:rPr>
              <a:t>D2 Simulation state</a:t>
            </a:r>
            <a:endParaRPr lang="en-IN" sz="1200" b="0" u="none" strike="noStrike">
              <a:solidFill>
                <a:srgbClr val="000000"/>
              </a:solidFill>
              <a:effectLst/>
              <a:uFillTx/>
              <a:latin typeface="Arial"/>
            </a:endParaRPr>
          </a:p>
        </p:txBody>
      </p:sp>
      <p:sp>
        <p:nvSpPr>
          <p:cNvPr id="599" name="Shape 16"/>
          <p:cNvSpPr/>
          <p:nvPr/>
        </p:nvSpPr>
        <p:spPr>
          <a:xfrm>
            <a:off x="8869680" y="4023360"/>
            <a:ext cx="2742840" cy="548280"/>
          </a:xfrm>
          <a:prstGeom prst="roundRect">
            <a:avLst>
              <a:gd name="adj" fmla="val 13333"/>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0" name="Text 17"/>
          <p:cNvSpPr/>
          <p:nvPr/>
        </p:nvSpPr>
        <p:spPr>
          <a:xfrm>
            <a:off x="8961120" y="4023360"/>
            <a:ext cx="255996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4213D"/>
                </a:solidFill>
                <a:effectLst/>
                <a:uFillTx/>
                <a:latin typeface="Calibri"/>
                <a:ea typeface="Calibri"/>
              </a:rPr>
              <a:t>D3 simulation_runs (MongoDB)</a:t>
            </a:r>
            <a:endParaRPr lang="en-IN" sz="1200" b="0" u="none" strike="noStrike">
              <a:solidFill>
                <a:srgbClr val="000000"/>
              </a:solidFill>
              <a:effectLst/>
              <a:uFillTx/>
              <a:latin typeface="Arial"/>
            </a:endParaRPr>
          </a:p>
        </p:txBody>
      </p:sp>
      <p:sp>
        <p:nvSpPr>
          <p:cNvPr id="601" name="Shape 18"/>
          <p:cNvSpPr/>
          <p:nvPr/>
        </p:nvSpPr>
        <p:spPr>
          <a:xfrm flipV="1">
            <a:off x="2011680" y="1737360"/>
            <a:ext cx="1645920" cy="118872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2" name="Shape 19"/>
          <p:cNvSpPr/>
          <p:nvPr/>
        </p:nvSpPr>
        <p:spPr>
          <a:xfrm flipH="1" flipV="1">
            <a:off x="2011680" y="3703320"/>
            <a:ext cx="1645920" cy="45720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3" name="Shape 20"/>
          <p:cNvSpPr/>
          <p:nvPr/>
        </p:nvSpPr>
        <p:spPr>
          <a:xfrm>
            <a:off x="2011680" y="4114800"/>
            <a:ext cx="1645920" cy="100584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4" name="Shape 21"/>
          <p:cNvSpPr/>
          <p:nvPr/>
        </p:nvSpPr>
        <p:spPr>
          <a:xfrm flipH="1" flipV="1">
            <a:off x="2011680" y="4206240"/>
            <a:ext cx="1645920" cy="123444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5" name="Shape 22"/>
          <p:cNvSpPr/>
          <p:nvPr/>
        </p:nvSpPr>
        <p:spPr>
          <a:xfrm>
            <a:off x="6949440" y="1645920"/>
            <a:ext cx="1920240" cy="41148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6" name="Shape 23"/>
          <p:cNvSpPr/>
          <p:nvPr/>
        </p:nvSpPr>
        <p:spPr>
          <a:xfrm flipH="1">
            <a:off x="6949440" y="2240280"/>
            <a:ext cx="1920240" cy="54864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7" name="Shape 24"/>
          <p:cNvSpPr/>
          <p:nvPr/>
        </p:nvSpPr>
        <p:spPr>
          <a:xfrm>
            <a:off x="6949440" y="3017520"/>
            <a:ext cx="1920240" cy="13716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8" name="Shape 25"/>
          <p:cNvSpPr/>
          <p:nvPr/>
        </p:nvSpPr>
        <p:spPr>
          <a:xfrm flipH="1">
            <a:off x="6949440" y="3337560"/>
            <a:ext cx="1920240" cy="64008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09" name="Shape 26"/>
          <p:cNvSpPr/>
          <p:nvPr/>
        </p:nvSpPr>
        <p:spPr>
          <a:xfrm>
            <a:off x="6949440" y="4206240"/>
            <a:ext cx="1920240" cy="13716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10" name="Shape 27"/>
          <p:cNvSpPr/>
          <p:nvPr/>
        </p:nvSpPr>
        <p:spPr>
          <a:xfrm>
            <a:off x="548640" y="585216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11" name="Text 28"/>
          <p:cNvSpPr/>
          <p:nvPr/>
        </p:nvSpPr>
        <p:spPr>
          <a:xfrm>
            <a:off x="685800" y="585216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1.0 validates · 2.0 runs failures, queue, repairs · 3.0 metrics and best-effort save · 4.0 factor combinations and optimum. Stores are indicative.</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612"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DFD Level 2: Process 2.0 (Simulation)</a:t>
            </a:r>
            <a:endParaRPr lang="en-IN" sz="3000" b="0" u="none" strike="noStrike">
              <a:solidFill>
                <a:srgbClr val="000000"/>
              </a:solidFill>
              <a:effectLst/>
              <a:uFillTx/>
              <a:latin typeface="Arial"/>
            </a:endParaRPr>
          </a:p>
        </p:txBody>
      </p:sp>
      <p:sp>
        <p:nvSpPr>
          <p:cNvPr id="613"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23</a:t>
            </a:r>
            <a:endParaRPr lang="en-IN" sz="1100" b="0" u="none" strike="noStrike">
              <a:solidFill>
                <a:srgbClr val="000000"/>
              </a:solidFill>
              <a:effectLst/>
              <a:uFillTx/>
              <a:latin typeface="Arial"/>
            </a:endParaRPr>
          </a:p>
        </p:txBody>
      </p:sp>
      <p:sp>
        <p:nvSpPr>
          <p:cNvPr id="614" name="Shape 2"/>
          <p:cNvSpPr/>
          <p:nvPr/>
        </p:nvSpPr>
        <p:spPr>
          <a:xfrm>
            <a:off x="914400" y="210312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15" name="Text 3"/>
          <p:cNvSpPr/>
          <p:nvPr/>
        </p:nvSpPr>
        <p:spPr>
          <a:xfrm>
            <a:off x="1005840" y="210312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2.1 Schedule failure (positive Gaussian interval)</a:t>
            </a:r>
            <a:endParaRPr lang="en-IN" sz="1300" b="0" u="none" strike="noStrike">
              <a:solidFill>
                <a:srgbClr val="000000"/>
              </a:solidFill>
              <a:effectLst/>
              <a:uFillTx/>
              <a:latin typeface="Arial"/>
            </a:endParaRPr>
          </a:p>
        </p:txBody>
      </p:sp>
      <p:sp>
        <p:nvSpPr>
          <p:cNvPr id="616" name="Shape 4"/>
          <p:cNvSpPr/>
          <p:nvPr/>
        </p:nvSpPr>
        <p:spPr>
          <a:xfrm>
            <a:off x="4636080" y="210312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17" name="Text 5"/>
          <p:cNvSpPr/>
          <p:nvPr/>
        </p:nvSpPr>
        <p:spPr>
          <a:xfrm>
            <a:off x="4727520" y="210312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2.2 Close running interval; increment failures</a:t>
            </a:r>
            <a:endParaRPr lang="en-IN" sz="1300" b="0" u="none" strike="noStrike">
              <a:solidFill>
                <a:srgbClr val="000000"/>
              </a:solidFill>
              <a:effectLst/>
              <a:uFillTx/>
              <a:latin typeface="Arial"/>
            </a:endParaRPr>
          </a:p>
        </p:txBody>
      </p:sp>
      <p:sp>
        <p:nvSpPr>
          <p:cNvPr id="618" name="Shape 6"/>
          <p:cNvSpPr/>
          <p:nvPr/>
        </p:nvSpPr>
        <p:spPr>
          <a:xfrm>
            <a:off x="8366760" y="210312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19" name="Text 7"/>
          <p:cNvSpPr/>
          <p:nvPr/>
        </p:nvSpPr>
        <p:spPr>
          <a:xfrm>
            <a:off x="8458200" y="210312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2.3 Select least-skilled eligible adjuster; else mark WAITING</a:t>
            </a:r>
            <a:endParaRPr lang="en-IN" sz="1300" b="0" u="none" strike="noStrike">
              <a:solidFill>
                <a:srgbClr val="000000"/>
              </a:solidFill>
              <a:effectLst/>
              <a:uFillTx/>
              <a:latin typeface="Arial"/>
            </a:endParaRPr>
          </a:p>
        </p:txBody>
      </p:sp>
      <p:sp>
        <p:nvSpPr>
          <p:cNvPr id="620" name="Shape 8"/>
          <p:cNvSpPr/>
          <p:nvPr/>
        </p:nvSpPr>
        <p:spPr>
          <a:xfrm>
            <a:off x="8366760" y="374904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21" name="Text 9"/>
          <p:cNvSpPr/>
          <p:nvPr/>
        </p:nvSpPr>
        <p:spPr>
          <a:xfrm>
            <a:off x="8458200" y="374904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2.4 Repair for fixed repair time</a:t>
            </a:r>
            <a:endParaRPr lang="en-IN" sz="1300" b="0" u="none" strike="noStrike">
              <a:solidFill>
                <a:srgbClr val="000000"/>
              </a:solidFill>
              <a:effectLst/>
              <a:uFillTx/>
              <a:latin typeface="Arial"/>
            </a:endParaRPr>
          </a:p>
        </p:txBody>
      </p:sp>
      <p:sp>
        <p:nvSpPr>
          <p:cNvPr id="622" name="Shape 10"/>
          <p:cNvSpPr/>
          <p:nvPr/>
        </p:nvSpPr>
        <p:spPr>
          <a:xfrm>
            <a:off x="4636080" y="374904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23" name="Text 11"/>
          <p:cNvSpPr/>
          <p:nvPr/>
        </p:nvSpPr>
        <p:spPr>
          <a:xfrm>
            <a:off x="4727520" y="374904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2.5 End repair; free adjuster; resume machine; schedule next failure</a:t>
            </a:r>
            <a:endParaRPr lang="en-IN" sz="1300" b="0" u="none" strike="noStrike">
              <a:solidFill>
                <a:srgbClr val="000000"/>
              </a:solidFill>
              <a:effectLst/>
              <a:uFillTx/>
              <a:latin typeface="Arial"/>
            </a:endParaRPr>
          </a:p>
        </p:txBody>
      </p:sp>
      <p:sp>
        <p:nvSpPr>
          <p:cNvPr id="624" name="Shape 12"/>
          <p:cNvSpPr/>
          <p:nvPr/>
        </p:nvSpPr>
        <p:spPr>
          <a:xfrm>
            <a:off x="914400" y="374904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25" name="Text 13"/>
          <p:cNvSpPr/>
          <p:nvPr/>
        </p:nvSpPr>
        <p:spPr>
          <a:xfrm>
            <a:off x="1005840" y="374904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2.6 Dispatch compatible waiting work</a:t>
            </a:r>
            <a:endParaRPr lang="en-IN" sz="1300" b="0" u="none" strike="noStrike">
              <a:solidFill>
                <a:srgbClr val="000000"/>
              </a:solidFill>
              <a:effectLst/>
              <a:uFillTx/>
              <a:latin typeface="Arial"/>
            </a:endParaRPr>
          </a:p>
        </p:txBody>
      </p:sp>
      <p:sp>
        <p:nvSpPr>
          <p:cNvPr id="626" name="Shape 14"/>
          <p:cNvSpPr/>
          <p:nvPr/>
        </p:nvSpPr>
        <p:spPr>
          <a:xfrm>
            <a:off x="3840480" y="2560320"/>
            <a:ext cx="79524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27" name="Shape 15"/>
          <p:cNvSpPr/>
          <p:nvPr/>
        </p:nvSpPr>
        <p:spPr>
          <a:xfrm>
            <a:off x="7561800" y="2560320"/>
            <a:ext cx="8049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28" name="Shape 16"/>
          <p:cNvSpPr/>
          <p:nvPr/>
        </p:nvSpPr>
        <p:spPr>
          <a:xfrm>
            <a:off x="9829800" y="3017520"/>
            <a:ext cx="360" cy="73152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29" name="Shape 17"/>
          <p:cNvSpPr/>
          <p:nvPr/>
        </p:nvSpPr>
        <p:spPr>
          <a:xfrm flipH="1">
            <a:off x="7561800" y="4206240"/>
            <a:ext cx="8049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30" name="Shape 18"/>
          <p:cNvSpPr/>
          <p:nvPr/>
        </p:nvSpPr>
        <p:spPr>
          <a:xfrm flipH="1">
            <a:off x="3840480" y="4206240"/>
            <a:ext cx="79524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31" name="Shape 19"/>
          <p:cNvSpPr/>
          <p:nvPr/>
        </p:nvSpPr>
        <p:spPr>
          <a:xfrm flipV="1">
            <a:off x="2377440" y="3017520"/>
            <a:ext cx="360" cy="73152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32" name="Text 20"/>
          <p:cNvSpPr/>
          <p:nvPr/>
        </p:nvSpPr>
        <p:spPr>
          <a:xfrm>
            <a:off x="2468880" y="3246120"/>
            <a:ext cx="14626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next event</a:t>
            </a:r>
            <a:endParaRPr lang="en-IN" sz="1200" b="0" u="none" strike="noStrike">
              <a:solidFill>
                <a:srgbClr val="000000"/>
              </a:solidFill>
              <a:effectLst/>
              <a:uFillTx/>
              <a:latin typeface="Arial"/>
            </a:endParaRPr>
          </a:p>
        </p:txBody>
      </p:sp>
      <p:sp>
        <p:nvSpPr>
          <p:cNvPr id="633" name="Shape 21"/>
          <p:cNvSpPr/>
          <p:nvPr/>
        </p:nvSpPr>
        <p:spPr>
          <a:xfrm>
            <a:off x="1188720" y="1234440"/>
            <a:ext cx="237708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34" name="Text 22"/>
          <p:cNvSpPr/>
          <p:nvPr/>
        </p:nvSpPr>
        <p:spPr>
          <a:xfrm>
            <a:off x="1280160" y="1234440"/>
            <a:ext cx="21942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D1 Scenario</a:t>
            </a:r>
            <a:endParaRPr lang="en-IN" sz="1300" b="0" u="none" strike="noStrike">
              <a:solidFill>
                <a:srgbClr val="000000"/>
              </a:solidFill>
              <a:effectLst/>
              <a:uFillTx/>
              <a:latin typeface="Arial"/>
            </a:endParaRPr>
          </a:p>
        </p:txBody>
      </p:sp>
      <p:sp>
        <p:nvSpPr>
          <p:cNvPr id="635" name="Shape 23"/>
          <p:cNvSpPr/>
          <p:nvPr/>
        </p:nvSpPr>
        <p:spPr>
          <a:xfrm>
            <a:off x="2377440" y="1691640"/>
            <a:ext cx="360" cy="41148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36" name="Shape 24"/>
          <p:cNvSpPr/>
          <p:nvPr/>
        </p:nvSpPr>
        <p:spPr>
          <a:xfrm>
            <a:off x="4910400" y="5120640"/>
            <a:ext cx="237708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37" name="Text 25"/>
          <p:cNvSpPr/>
          <p:nvPr/>
        </p:nvSpPr>
        <p:spPr>
          <a:xfrm>
            <a:off x="5001840" y="5120640"/>
            <a:ext cx="21942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D2 Simulation state</a:t>
            </a:r>
            <a:endParaRPr lang="en-IN" sz="1300" b="0" u="none" strike="noStrike">
              <a:solidFill>
                <a:srgbClr val="000000"/>
              </a:solidFill>
              <a:effectLst/>
              <a:uFillTx/>
              <a:latin typeface="Arial"/>
            </a:endParaRPr>
          </a:p>
        </p:txBody>
      </p:sp>
      <p:sp>
        <p:nvSpPr>
          <p:cNvPr id="638" name="Shape 26"/>
          <p:cNvSpPr/>
          <p:nvPr/>
        </p:nvSpPr>
        <p:spPr>
          <a:xfrm>
            <a:off x="6098760" y="4663440"/>
            <a:ext cx="360" cy="45720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39" name="Shape 27"/>
          <p:cNvSpPr/>
          <p:nvPr/>
        </p:nvSpPr>
        <p:spPr>
          <a:xfrm>
            <a:off x="548640" y="580644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40" name="Text 28"/>
          <p:cNvSpPr/>
          <p:nvPr/>
        </p:nvSpPr>
        <p:spPr>
          <a:xfrm>
            <a:off x="685800" y="580644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Top row left to right, down, then bottom row right to left; the loop returns to the next event.</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641"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DFD Level 2: Process 4.0 (Experiment)</a:t>
            </a:r>
            <a:endParaRPr lang="en-IN" sz="3000" b="0" u="none" strike="noStrike">
              <a:solidFill>
                <a:srgbClr val="000000"/>
              </a:solidFill>
              <a:effectLst/>
              <a:uFillTx/>
              <a:latin typeface="Arial"/>
            </a:endParaRPr>
          </a:p>
        </p:txBody>
      </p:sp>
      <p:sp>
        <p:nvSpPr>
          <p:cNvPr id="642"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24</a:t>
            </a:r>
            <a:endParaRPr lang="en-IN" sz="1100" b="0" u="none" strike="noStrike">
              <a:solidFill>
                <a:srgbClr val="000000"/>
              </a:solidFill>
              <a:effectLst/>
              <a:uFillTx/>
              <a:latin typeface="Arial"/>
            </a:endParaRPr>
          </a:p>
        </p:txBody>
      </p:sp>
      <p:sp>
        <p:nvSpPr>
          <p:cNvPr id="643" name="Shape 2"/>
          <p:cNvSpPr/>
          <p:nvPr/>
        </p:nvSpPr>
        <p:spPr>
          <a:xfrm>
            <a:off x="914400" y="210312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44" name="Text 3"/>
          <p:cNvSpPr/>
          <p:nvPr/>
        </p:nvSpPr>
        <p:spPr>
          <a:xfrm>
            <a:off x="1005840" y="210312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4.1 Build factor combinations</a:t>
            </a:r>
            <a:endParaRPr lang="en-IN" sz="1300" b="0" u="none" strike="noStrike">
              <a:solidFill>
                <a:srgbClr val="000000"/>
              </a:solidFill>
              <a:effectLst/>
              <a:uFillTx/>
              <a:latin typeface="Arial"/>
            </a:endParaRPr>
          </a:p>
        </p:txBody>
      </p:sp>
      <p:sp>
        <p:nvSpPr>
          <p:cNvPr id="645" name="Shape 4"/>
          <p:cNvSpPr/>
          <p:nvPr/>
        </p:nvSpPr>
        <p:spPr>
          <a:xfrm>
            <a:off x="4636080" y="210312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46" name="Text 5"/>
          <p:cNvSpPr/>
          <p:nvPr/>
        </p:nvSpPr>
        <p:spPr>
          <a:xfrm>
            <a:off x="4727520" y="210312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4.2 Apply machine-count and MTTF multipliers</a:t>
            </a:r>
            <a:endParaRPr lang="en-IN" sz="1300" b="0" u="none" strike="noStrike">
              <a:solidFill>
                <a:srgbClr val="000000"/>
              </a:solidFill>
              <a:effectLst/>
              <a:uFillTx/>
              <a:latin typeface="Arial"/>
            </a:endParaRPr>
          </a:p>
        </p:txBody>
      </p:sp>
      <p:sp>
        <p:nvSpPr>
          <p:cNvPr id="647" name="Shape 6"/>
          <p:cNvSpPr/>
          <p:nvPr/>
        </p:nvSpPr>
        <p:spPr>
          <a:xfrm>
            <a:off x="8366760" y="210312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48" name="Text 7"/>
          <p:cNvSpPr/>
          <p:nvPr/>
        </p:nvSpPr>
        <p:spPr>
          <a:xfrm>
            <a:off x="8458200" y="210312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4.3 Run seeded replications</a:t>
            </a:r>
            <a:endParaRPr lang="en-IN" sz="1300" b="0" u="none" strike="noStrike">
              <a:solidFill>
                <a:srgbClr val="000000"/>
              </a:solidFill>
              <a:effectLst/>
              <a:uFillTx/>
              <a:latin typeface="Arial"/>
            </a:endParaRPr>
          </a:p>
        </p:txBody>
      </p:sp>
      <p:sp>
        <p:nvSpPr>
          <p:cNvPr id="649" name="Shape 8"/>
          <p:cNvSpPr/>
          <p:nvPr/>
        </p:nvSpPr>
        <p:spPr>
          <a:xfrm>
            <a:off x="8366760" y="374904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50" name="Text 9"/>
          <p:cNvSpPr/>
          <p:nvPr/>
        </p:nvSpPr>
        <p:spPr>
          <a:xfrm>
            <a:off x="8458200" y="374904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4.4 Summarize repeated runs with uncertainty</a:t>
            </a:r>
            <a:endParaRPr lang="en-IN" sz="1300" b="0" u="none" strike="noStrike">
              <a:solidFill>
                <a:srgbClr val="000000"/>
              </a:solidFill>
              <a:effectLst/>
              <a:uFillTx/>
              <a:latin typeface="Arial"/>
            </a:endParaRPr>
          </a:p>
        </p:txBody>
      </p:sp>
      <p:sp>
        <p:nvSpPr>
          <p:cNvPr id="651" name="Shape 10"/>
          <p:cNvSpPr/>
          <p:nvPr/>
        </p:nvSpPr>
        <p:spPr>
          <a:xfrm>
            <a:off x="4636080" y="374904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52" name="Text 11"/>
          <p:cNvSpPr/>
          <p:nvPr/>
        </p:nvSpPr>
        <p:spPr>
          <a:xfrm>
            <a:off x="4727520" y="374904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4.5 Check fixed utilization/waiting thresholds</a:t>
            </a:r>
            <a:endParaRPr lang="en-IN" sz="1300" b="0" u="none" strike="noStrike">
              <a:solidFill>
                <a:srgbClr val="000000"/>
              </a:solidFill>
              <a:effectLst/>
              <a:uFillTx/>
              <a:latin typeface="Arial"/>
            </a:endParaRPr>
          </a:p>
        </p:txBody>
      </p:sp>
      <p:sp>
        <p:nvSpPr>
          <p:cNvPr id="653" name="Shape 12"/>
          <p:cNvSpPr/>
          <p:nvPr/>
        </p:nvSpPr>
        <p:spPr>
          <a:xfrm>
            <a:off x="914400" y="3749040"/>
            <a:ext cx="2925720" cy="914040"/>
          </a:xfrm>
          <a:prstGeom prst="ellipse">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54" name="Text 13"/>
          <p:cNvSpPr/>
          <p:nvPr/>
        </p:nvSpPr>
        <p:spPr>
          <a:xfrm>
            <a:off x="1005840" y="3749040"/>
            <a:ext cx="274284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2B2B2B"/>
                </a:solidFill>
                <a:effectLst/>
                <a:uFillTx/>
                <a:latin typeface="Calibri"/>
                <a:ea typeface="Calibri"/>
              </a:rPr>
              <a:t>4.6 Select lowest adjuster count (else highest machine utilization)</a:t>
            </a:r>
            <a:endParaRPr lang="en-IN" sz="1300" b="0" u="none" strike="noStrike">
              <a:solidFill>
                <a:srgbClr val="000000"/>
              </a:solidFill>
              <a:effectLst/>
              <a:uFillTx/>
              <a:latin typeface="Arial"/>
            </a:endParaRPr>
          </a:p>
        </p:txBody>
      </p:sp>
      <p:sp>
        <p:nvSpPr>
          <p:cNvPr id="655" name="Shape 14"/>
          <p:cNvSpPr/>
          <p:nvPr/>
        </p:nvSpPr>
        <p:spPr>
          <a:xfrm>
            <a:off x="3840480" y="2560320"/>
            <a:ext cx="79524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56" name="Shape 15"/>
          <p:cNvSpPr/>
          <p:nvPr/>
        </p:nvSpPr>
        <p:spPr>
          <a:xfrm>
            <a:off x="7561800" y="2560320"/>
            <a:ext cx="8049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57" name="Shape 16"/>
          <p:cNvSpPr/>
          <p:nvPr/>
        </p:nvSpPr>
        <p:spPr>
          <a:xfrm>
            <a:off x="9829800" y="3017520"/>
            <a:ext cx="360" cy="73152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58" name="Shape 17"/>
          <p:cNvSpPr/>
          <p:nvPr/>
        </p:nvSpPr>
        <p:spPr>
          <a:xfrm flipH="1">
            <a:off x="7561800" y="4206240"/>
            <a:ext cx="80496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59" name="Shape 18"/>
          <p:cNvSpPr/>
          <p:nvPr/>
        </p:nvSpPr>
        <p:spPr>
          <a:xfrm flipH="1">
            <a:off x="3840480" y="4206240"/>
            <a:ext cx="795240" cy="360"/>
          </a:xfrm>
          <a:prstGeom prst="line">
            <a:avLst/>
          </a:prstGeom>
          <a:ln w="28575">
            <a:solidFill>
              <a:srgbClr val="F28C28"/>
            </a:solidFill>
            <a:round/>
            <a:tailEnd len="med" type="triangle" w="med"/>
          </a:ln>
        </p:spPr>
        <p:style>
          <a:lnRef idx="0"/>
          <a:fillRef idx="0"/>
          <a:effectRef idx="0"/>
          <a:fontRef idx="minor"/>
        </p:style>
        <p:txBody>
          <a:bodyPr lIns="90000" tIns="-44640" rIns="90000" bIns="-44640" anchor="t">
            <a:noAutofit/>
          </a:bodyPr>
          <a:p>
            <a:endParaRPr lang="en-IN" sz="1800" b="0" u="none" strike="noStrike">
              <a:solidFill>
                <a:schemeClr val="dk1"/>
              </a:solidFill>
              <a:effectLst/>
              <a:uFillTx/>
              <a:latin typeface="Calibri"/>
            </a:endParaRPr>
          </a:p>
        </p:txBody>
      </p:sp>
      <p:sp>
        <p:nvSpPr>
          <p:cNvPr id="660" name="Shape 19"/>
          <p:cNvSpPr/>
          <p:nvPr/>
        </p:nvSpPr>
        <p:spPr>
          <a:xfrm>
            <a:off x="1188720" y="1234440"/>
            <a:ext cx="237708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61" name="Text 20"/>
          <p:cNvSpPr/>
          <p:nvPr/>
        </p:nvSpPr>
        <p:spPr>
          <a:xfrm>
            <a:off x="1280160" y="1234440"/>
            <a:ext cx="21942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D1 Scenario</a:t>
            </a:r>
            <a:endParaRPr lang="en-IN" sz="1300" b="0" u="none" strike="noStrike">
              <a:solidFill>
                <a:srgbClr val="000000"/>
              </a:solidFill>
              <a:effectLst/>
              <a:uFillTx/>
              <a:latin typeface="Arial"/>
            </a:endParaRPr>
          </a:p>
        </p:txBody>
      </p:sp>
      <p:sp>
        <p:nvSpPr>
          <p:cNvPr id="662" name="Shape 21"/>
          <p:cNvSpPr/>
          <p:nvPr/>
        </p:nvSpPr>
        <p:spPr>
          <a:xfrm>
            <a:off x="2377440" y="1691640"/>
            <a:ext cx="360" cy="41148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63" name="Shape 22"/>
          <p:cNvSpPr/>
          <p:nvPr/>
        </p:nvSpPr>
        <p:spPr>
          <a:xfrm>
            <a:off x="1188720" y="5120640"/>
            <a:ext cx="2377080" cy="456840"/>
          </a:xfrm>
          <a:prstGeom prst="roundRect">
            <a:avLst>
              <a:gd name="adj" fmla="val 16000"/>
            </a:avLst>
          </a:prstGeom>
          <a:solidFill>
            <a:srgbClr val="FFF1DD"/>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64" name="Text 23"/>
          <p:cNvSpPr/>
          <p:nvPr/>
        </p:nvSpPr>
        <p:spPr>
          <a:xfrm>
            <a:off x="1280160" y="5120640"/>
            <a:ext cx="219420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4213D"/>
                </a:solidFill>
                <a:effectLst/>
                <a:uFillTx/>
                <a:latin typeface="Calibri"/>
                <a:ea typeface="Calibri"/>
              </a:rPr>
              <a:t>Row summaries and selected optimum</a:t>
            </a:r>
            <a:endParaRPr lang="en-IN" sz="1300" b="0" u="none" strike="noStrike">
              <a:solidFill>
                <a:srgbClr val="000000"/>
              </a:solidFill>
              <a:effectLst/>
              <a:uFillTx/>
              <a:latin typeface="Arial"/>
            </a:endParaRPr>
          </a:p>
        </p:txBody>
      </p:sp>
      <p:sp>
        <p:nvSpPr>
          <p:cNvPr id="665" name="Shape 24"/>
          <p:cNvSpPr/>
          <p:nvPr/>
        </p:nvSpPr>
        <p:spPr>
          <a:xfrm>
            <a:off x="2377440" y="4663440"/>
            <a:ext cx="360" cy="457200"/>
          </a:xfrm>
          <a:prstGeom prst="line">
            <a:avLst/>
          </a:prstGeom>
          <a:ln w="28575">
            <a:solidFill>
              <a:srgbClr val="F28C28"/>
            </a:solidFill>
            <a:round/>
            <a:tailEnd len="med" type="triangle" w="me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66" name="Shape 25"/>
          <p:cNvSpPr/>
          <p:nvPr/>
        </p:nvSpPr>
        <p:spPr>
          <a:xfrm>
            <a:off x="548640" y="5806440"/>
            <a:ext cx="11063880" cy="548280"/>
          </a:xfrm>
          <a:prstGeom prst="rect">
            <a:avLst/>
          </a:prstGeom>
          <a:solidFill>
            <a:srgbClr val="FFF1DD"/>
          </a:solidFill>
          <a:ln w="12700">
            <a:solidFill>
              <a:srgbClr val="E3D9BF"/>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67" name="Text 26"/>
          <p:cNvSpPr/>
          <p:nvPr/>
        </p:nvSpPr>
        <p:spPr>
          <a:xfrm>
            <a:off x="685800" y="5806440"/>
            <a:ext cx="107895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28C28"/>
                </a:solidFill>
                <a:effectLst/>
                <a:uFillTx/>
                <a:latin typeface="Calibri"/>
                <a:ea typeface="Calibri"/>
              </a:rPr>
              <a:t>How to read: </a:t>
            </a:r>
            <a:r>
              <a:rPr lang="en-US" sz="1300" b="0" u="none" strike="noStrike">
                <a:solidFill>
                  <a:srgbClr val="2B2B2B"/>
                </a:solidFill>
                <a:effectLst/>
                <a:uFillTx/>
                <a:latin typeface="Calibri"/>
                <a:ea typeface="Calibri"/>
              </a:rPr>
              <a:t>Top row builds and runs the grid; bottom row summarizes, checks thresholds and selects the optimum.</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668"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Test Cases</a:t>
            </a:r>
            <a:endParaRPr lang="en-IN" sz="3000" b="0" u="none" strike="noStrike">
              <a:solidFill>
                <a:srgbClr val="000000"/>
              </a:solidFill>
              <a:effectLst/>
              <a:uFillTx/>
              <a:latin typeface="Arial"/>
            </a:endParaRPr>
          </a:p>
        </p:txBody>
      </p:sp>
      <p:sp>
        <p:nvSpPr>
          <p:cNvPr id="669"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25</a:t>
            </a:r>
            <a:endParaRPr lang="en-IN" sz="1100" b="0" u="none" strike="noStrike">
              <a:solidFill>
                <a:srgbClr val="000000"/>
              </a:solidFill>
              <a:effectLst/>
              <a:uFillTx/>
              <a:latin typeface="Arial"/>
            </a:endParaRPr>
          </a:p>
        </p:txBody>
      </p:sp>
      <p:sp>
        <p:nvSpPr>
          <p:cNvPr id="670" name="Text 2"/>
          <p:cNvSpPr/>
          <p:nvPr/>
        </p:nvSpPr>
        <p:spPr>
          <a:xfrm>
            <a:off x="548640" y="118872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28C28"/>
                </a:solidFill>
                <a:effectLst/>
                <a:uFillTx/>
                <a:latin typeface="Georgia"/>
                <a:ea typeface="Georgia"/>
              </a:rPr>
              <a:t>Simulation behavior</a:t>
            </a:r>
            <a:endParaRPr lang="en-IN" sz="1600" b="0" u="none" strike="noStrike">
              <a:solidFill>
                <a:srgbClr val="000000"/>
              </a:solidFill>
              <a:effectLst/>
              <a:uFillTx/>
              <a:latin typeface="Arial"/>
            </a:endParaRPr>
          </a:p>
        </p:txBody>
      </p:sp>
      <p:graphicFrame>
        <p:nvGraphicFramePr>
          <p:cNvPr id="671" name="Table 0"/>
          <p:cNvGraphicFramePr/>
          <p:nvPr/>
        </p:nvGraphicFramePr>
        <p:xfrm>
          <a:off x="548640" y="1554480"/>
          <a:ext cx="11063880" cy="2194560"/>
        </p:xfrm>
        <a:graphic>
          <a:graphicData uri="http://schemas.openxmlformats.org/drawingml/2006/table">
            <a:tbl>
              <a:tblPr/>
              <a:tblGrid>
                <a:gridCol w="548640"/>
                <a:gridCol w="5120640"/>
                <a:gridCol w="5394960"/>
              </a:tblGrid>
              <a:tr h="365760">
                <a:tc>
                  <a:txBody>
                    <a:bodyPr lIns="109440" tIns="0" rIns="10944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a:t>
                      </a:r>
                      <a:endParaRPr lang="en-IN" sz="12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Scenario</a:t>
                      </a:r>
                      <a:endParaRPr lang="en-IN" sz="12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Expected result</a:t>
                      </a:r>
                      <a:endParaRPr lang="en-IN" sz="12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1</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Valid request with a fixed seed</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Deterministic metrics for a fixed seed</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2</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Failure with a compatible idle adjuster</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Starts repair immediately</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3</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Failure without a compatible idle adjuster</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Machine enters the wait list</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4</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Repair completion</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Adjuster idle, machine resumes, next failure scheduled</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5</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Invalid warm-up or missing skills</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Clear client error (HTTP 4xx)</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bl>
          </a:graphicData>
        </a:graphic>
      </p:graphicFrame>
      <p:sp>
        <p:nvSpPr>
          <p:cNvPr id="672" name="Text 3"/>
          <p:cNvSpPr/>
          <p:nvPr/>
        </p:nvSpPr>
        <p:spPr>
          <a:xfrm>
            <a:off x="548640" y="384048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28C28"/>
                </a:solidFill>
                <a:effectLst/>
                <a:uFillTx/>
                <a:latin typeface="Georgia"/>
                <a:ea typeface="Georgia"/>
              </a:rPr>
              <a:t>API, UI and persistence</a:t>
            </a:r>
            <a:endParaRPr lang="en-IN" sz="1600" b="0" u="none" strike="noStrike">
              <a:solidFill>
                <a:srgbClr val="000000"/>
              </a:solidFill>
              <a:effectLst/>
              <a:uFillTx/>
              <a:latin typeface="Arial"/>
            </a:endParaRPr>
          </a:p>
        </p:txBody>
      </p:sp>
      <p:graphicFrame>
        <p:nvGraphicFramePr>
          <p:cNvPr id="673" name="Table 1"/>
          <p:cNvGraphicFramePr/>
          <p:nvPr/>
        </p:nvGraphicFramePr>
        <p:xfrm>
          <a:off x="548640" y="4206240"/>
          <a:ext cx="11063880" cy="1828800"/>
        </p:xfrm>
        <a:graphic>
          <a:graphicData uri="http://schemas.openxmlformats.org/drawingml/2006/table">
            <a:tbl>
              <a:tblPr/>
              <a:tblGrid>
                <a:gridCol w="1463040"/>
                <a:gridCol w="4206240"/>
                <a:gridCol w="5394960"/>
              </a:tblGrid>
              <a:tr h="365760">
                <a:tc>
                  <a:txBody>
                    <a:bodyPr lIns="109440" tIns="0" rIns="10944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Layer</a:t>
                      </a:r>
                      <a:endParaRPr lang="en-IN" sz="12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Scenario</a:t>
                      </a:r>
                      <a:endParaRPr lang="en-IN" sz="12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c>
                  <a:txBody>
                    <a:bodyPr lIns="109440" tIns="0" rIns="10944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Expected result</a:t>
                      </a:r>
                      <a:endParaRPr lang="en-IN" sz="1200" b="0" u="none" strike="noStrike">
                        <a:solidFill>
                          <a:srgbClr val="FFFFFF"/>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14213D"/>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API</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Database outage during save</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Preserves the computed simulation result and includes a warning</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API</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POST /experiment</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Each factor combination, confidence bounds and optimum</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UI</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Run with no machine groups</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Run button disabled</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FFFFF"/>
                    </a:solidFill>
                  </a:tcPr>
                </a:tc>
              </a:tr>
              <a:tr h="365760">
                <a:tc>
                  <a:txBody>
                    <a:bodyPr lIns="109440" tIns="0" rIns="109440" bIns="0" anchor="ctr">
                      <a:noAutofit/>
                    </a:bodyPr>
                    <a:p>
                      <a:pPr defTabSz="914400">
                        <a:lnSpc>
                          <a:spcPct val="100000"/>
                        </a:lnSpc>
                        <a:tabLst>
                          <a:tab pos="0" algn="l"/>
                        </a:tabLst>
                      </a:pPr>
                      <a:r>
                        <a:rPr lang="en-US" sz="1200" b="1" u="none" strike="noStrike">
                          <a:solidFill>
                            <a:srgbClr val="14213D"/>
                          </a:solidFill>
                          <a:effectLst/>
                          <a:uFillTx/>
                          <a:latin typeface="Calibri"/>
                          <a:ea typeface="Calibri"/>
                        </a:rPr>
                        <a:t>UI</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Duplicate adjuster ID</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c>
                  <a:txBody>
                    <a:bodyPr lIns="109440" tIns="0" rIns="109440" bIns="0" anchor="ctr">
                      <a:noAutofit/>
                    </a:bodyPr>
                    <a:p>
                      <a:pPr defTabSz="914400">
                        <a:lnSpc>
                          <a:spcPct val="100000"/>
                        </a:lnSpc>
                        <a:tabLst>
                          <a:tab pos="0" algn="l"/>
                        </a:tabLst>
                      </a:pPr>
                      <a:r>
                        <a:rPr lang="en-US" sz="1200" b="0" u="none" strike="noStrike">
                          <a:solidFill>
                            <a:srgbClr val="2B2B2B"/>
                          </a:solidFill>
                          <a:effectLst/>
                          <a:uFillTx/>
                          <a:latin typeface="Calibri"/>
                          <a:ea typeface="Calibri"/>
                        </a:rPr>
                        <a:t>Blocked by the UI check</a:t>
                      </a:r>
                      <a:endParaRPr lang="en-IN" sz="1200" b="0" u="none" strike="noStrike">
                        <a:solidFill>
                          <a:srgbClr val="000000"/>
                        </a:solidFill>
                        <a:effectLst/>
                        <a:uFillTx/>
                        <a:latin typeface="Arial"/>
                      </a:endParaRPr>
                    </a:p>
                  </a:txBody>
                  <a:tcPr anchor="ctr" marL="109440" marR="109440" marT="0" marB="0">
                    <a:lnL w="12240">
                      <a:solidFill>
                        <a:srgbClr val="E3D9BF"/>
                      </a:solidFill>
                      <a:prstDash val="solid"/>
                    </a:lnL>
                    <a:lnR w="12240">
                      <a:solidFill>
                        <a:srgbClr val="E3D9BF"/>
                      </a:solidFill>
                      <a:prstDash val="solid"/>
                    </a:lnR>
                    <a:lnT w="12240">
                      <a:solidFill>
                        <a:srgbClr val="E3D9BF"/>
                      </a:solidFill>
                      <a:prstDash val="solid"/>
                    </a:lnT>
                    <a:lnB w="12240">
                      <a:solidFill>
                        <a:srgbClr val="E3D9BF"/>
                      </a:solidFill>
                      <a:prstDash val="solid"/>
                    </a:lnB>
                    <a:solidFill>
                      <a:srgbClr val="FBF7EC"/>
                    </a:solidFill>
                  </a:tcPr>
                </a:tc>
              </a:tr>
            </a:tbl>
          </a:graphicData>
        </a:graphic>
      </p:graphicFrame>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1E3"/>
        </a:solidFill>
      </p:bgPr>
    </p:bg>
    <p:spTree>
      <p:nvGrpSpPr>
        <p:cNvPr id="1" name=""/>
        <p:cNvGrpSpPr/>
        <p:nvPr/>
      </p:nvGrpSpPr>
      <p:grpSpPr>
        <a:xfrm>
          <a:off x="0" y="0"/>
          <a:ext cx="0" cy="0"/>
          <a:chOff x="0" y="0"/>
          <a:chExt cx="0" cy="0"/>
        </a:xfrm>
      </p:grpSpPr>
      <p:sp>
        <p:nvSpPr>
          <p:cNvPr id="674" name="Text 0"/>
          <p:cNvSpPr/>
          <p:nvPr/>
        </p:nvSpPr>
        <p:spPr>
          <a:xfrm>
            <a:off x="548640" y="320040"/>
            <a:ext cx="110638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4213D"/>
                </a:solidFill>
                <a:effectLst/>
                <a:uFillTx/>
                <a:latin typeface="Georgia"/>
                <a:ea typeface="Georgia"/>
              </a:rPr>
              <a:t>Current Limitations and Future Scope</a:t>
            </a:r>
            <a:endParaRPr lang="en-IN" sz="3000" b="0" u="none" strike="noStrike">
              <a:solidFill>
                <a:srgbClr val="000000"/>
              </a:solidFill>
              <a:effectLst/>
              <a:uFillTx/>
              <a:latin typeface="Arial"/>
            </a:endParaRPr>
          </a:p>
        </p:txBody>
      </p:sp>
      <p:sp>
        <p:nvSpPr>
          <p:cNvPr id="675" name="Text 1"/>
          <p:cNvSpPr/>
          <p:nvPr/>
        </p:nvSpPr>
        <p:spPr>
          <a:xfrm>
            <a:off x="548640" y="6400800"/>
            <a:ext cx="110638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0" u="none" strike="noStrike">
                <a:solidFill>
                  <a:srgbClr val="6B6B6B"/>
                </a:solidFill>
                <a:effectLst/>
                <a:uFillTx/>
                <a:latin typeface="Calibri"/>
                <a:ea typeface="Calibri"/>
              </a:rPr>
              <a:t>Factory Adjuster Simulation  |  26</a:t>
            </a:r>
            <a:endParaRPr lang="en-IN" sz="1100" b="0" u="none" strike="noStrike">
              <a:solidFill>
                <a:srgbClr val="000000"/>
              </a:solidFill>
              <a:effectLst/>
              <a:uFillTx/>
              <a:latin typeface="Arial"/>
            </a:endParaRPr>
          </a:p>
        </p:txBody>
      </p:sp>
      <p:sp>
        <p:nvSpPr>
          <p:cNvPr id="676" name="Shape 2"/>
          <p:cNvSpPr/>
          <p:nvPr/>
        </p:nvSpPr>
        <p:spPr>
          <a:xfrm>
            <a:off x="548640" y="1280160"/>
            <a:ext cx="5440320" cy="1279800"/>
          </a:xfrm>
          <a:prstGeom prst="roundRect">
            <a:avLst>
              <a:gd name="adj" fmla="val 5714"/>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77" name="Text 3"/>
          <p:cNvSpPr/>
          <p:nvPr/>
        </p:nvSpPr>
        <p:spPr>
          <a:xfrm>
            <a:off x="777240" y="138996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Horizon accounting</a:t>
            </a:r>
            <a:endParaRPr lang="en-IN" sz="1600" b="0" u="none" strike="noStrike">
              <a:solidFill>
                <a:srgbClr val="000000"/>
              </a:solidFill>
              <a:effectLst/>
              <a:uFillTx/>
              <a:latin typeface="Arial"/>
            </a:endParaRPr>
          </a:p>
        </p:txBody>
      </p:sp>
      <p:sp>
        <p:nvSpPr>
          <p:cNvPr id="678" name="Text 4"/>
          <p:cNvSpPr/>
          <p:nvPr/>
        </p:nvSpPr>
        <p:spPr>
          <a:xfrm>
            <a:off x="777240" y="1828800"/>
            <a:ext cx="49374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Appears to omit running and busy time for intervals still in progress at the horizon. Next: close each running interval at duration; credit in-progress repair/busy intervals only through duration.</a:t>
            </a:r>
            <a:endParaRPr lang="en-IN" sz="1300" b="0" u="none" strike="noStrike">
              <a:solidFill>
                <a:srgbClr val="000000"/>
              </a:solidFill>
              <a:effectLst/>
              <a:uFillTx/>
              <a:latin typeface="Arial"/>
            </a:endParaRPr>
          </a:p>
        </p:txBody>
      </p:sp>
      <p:sp>
        <p:nvSpPr>
          <p:cNvPr id="679" name="Shape 5"/>
          <p:cNvSpPr/>
          <p:nvPr/>
        </p:nvSpPr>
        <p:spPr>
          <a:xfrm>
            <a:off x="6172200" y="1280160"/>
            <a:ext cx="5440320" cy="1279800"/>
          </a:xfrm>
          <a:prstGeom prst="roundRect">
            <a:avLst>
              <a:gd name="adj" fmla="val 5714"/>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80" name="Text 6"/>
          <p:cNvSpPr/>
          <p:nvPr/>
        </p:nvSpPr>
        <p:spPr>
          <a:xfrm>
            <a:off x="6400800" y="138996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Warm-up</a:t>
            </a:r>
            <a:endParaRPr lang="en-IN" sz="1600" b="0" u="none" strike="noStrike">
              <a:solidFill>
                <a:srgbClr val="000000"/>
              </a:solidFill>
              <a:effectLst/>
              <a:uFillTx/>
              <a:latin typeface="Arial"/>
            </a:endParaRPr>
          </a:p>
        </p:txBody>
      </p:sp>
      <p:sp>
        <p:nvSpPr>
          <p:cNvPr id="681" name="Text 7"/>
          <p:cNvSpPr/>
          <p:nvPr/>
        </p:nvSpPr>
        <p:spPr>
          <a:xfrm>
            <a:off x="6400800" y="1828800"/>
            <a:ext cx="49374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Not applied consistently to newly started intervals. Next: clip every measured interval to [warmup, duration].</a:t>
            </a:r>
            <a:endParaRPr lang="en-IN" sz="1300" b="0" u="none" strike="noStrike">
              <a:solidFill>
                <a:srgbClr val="000000"/>
              </a:solidFill>
              <a:effectLst/>
              <a:uFillTx/>
              <a:latin typeface="Arial"/>
            </a:endParaRPr>
          </a:p>
        </p:txBody>
      </p:sp>
      <p:sp>
        <p:nvSpPr>
          <p:cNvPr id="682" name="Shape 8"/>
          <p:cNvSpPr/>
          <p:nvPr/>
        </p:nvSpPr>
        <p:spPr>
          <a:xfrm>
            <a:off x="548640" y="2697480"/>
            <a:ext cx="5440320" cy="1279800"/>
          </a:xfrm>
          <a:prstGeom prst="roundRect">
            <a:avLst>
              <a:gd name="adj" fmla="val 5714"/>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83" name="Text 9"/>
          <p:cNvSpPr/>
          <p:nvPr/>
        </p:nvSpPr>
        <p:spPr>
          <a:xfrm>
            <a:off x="777240" y="280728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Dispatch model</a:t>
            </a:r>
            <a:endParaRPr lang="en-IN" sz="1600" b="0" u="none" strike="noStrike">
              <a:solidFill>
                <a:srgbClr val="000000"/>
              </a:solidFill>
              <a:effectLst/>
              <a:uFillTx/>
              <a:latin typeface="Arial"/>
            </a:endParaRPr>
          </a:p>
        </p:txBody>
      </p:sp>
      <p:sp>
        <p:nvSpPr>
          <p:cNvPr id="684" name="Text 10"/>
          <p:cNvSpPr/>
          <p:nvPr/>
        </p:nvSpPr>
        <p:spPr>
          <a:xfrm>
            <a:off x="777240" y="3246120"/>
            <a:ext cx="49374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Separate waiting list and adjuster status; single-queue invariant not implemented literally. Next: document the compatible FIFO policy or match the single-queue rule.</a:t>
            </a:r>
            <a:endParaRPr lang="en-IN" sz="1300" b="0" u="none" strike="noStrike">
              <a:solidFill>
                <a:srgbClr val="000000"/>
              </a:solidFill>
              <a:effectLst/>
              <a:uFillTx/>
              <a:latin typeface="Arial"/>
            </a:endParaRPr>
          </a:p>
        </p:txBody>
      </p:sp>
      <p:sp>
        <p:nvSpPr>
          <p:cNvPr id="685" name="Shape 11"/>
          <p:cNvSpPr/>
          <p:nvPr/>
        </p:nvSpPr>
        <p:spPr>
          <a:xfrm>
            <a:off x="6172200" y="2697480"/>
            <a:ext cx="5440320" cy="1279800"/>
          </a:xfrm>
          <a:prstGeom prst="roundRect">
            <a:avLst>
              <a:gd name="adj" fmla="val 5714"/>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86" name="Text 12"/>
          <p:cNvSpPr/>
          <p:nvPr/>
        </p:nvSpPr>
        <p:spPr>
          <a:xfrm>
            <a:off x="6400800" y="280728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skill_capacity</a:t>
            </a:r>
            <a:endParaRPr lang="en-IN" sz="1600" b="0" u="none" strike="noStrike">
              <a:solidFill>
                <a:srgbClr val="000000"/>
              </a:solidFill>
              <a:effectLst/>
              <a:uFillTx/>
              <a:latin typeface="Arial"/>
            </a:endParaRPr>
          </a:p>
        </p:txBody>
      </p:sp>
      <p:sp>
        <p:nvSpPr>
          <p:cNvPr id="687" name="Text 13"/>
          <p:cNvSpPr/>
          <p:nvPr/>
        </p:nvSpPr>
        <p:spPr>
          <a:xfrm>
            <a:off x="6400800" y="3246120"/>
            <a:ext cx="49374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Accepted and persisted but has no effect on assignment. Next: define it (concurrent jobs or proficiency) and implement it, or remove it.</a:t>
            </a:r>
            <a:endParaRPr lang="en-IN" sz="1300" b="0" u="none" strike="noStrike">
              <a:solidFill>
                <a:srgbClr val="000000"/>
              </a:solidFill>
              <a:effectLst/>
              <a:uFillTx/>
              <a:latin typeface="Arial"/>
            </a:endParaRPr>
          </a:p>
        </p:txBody>
      </p:sp>
      <p:sp>
        <p:nvSpPr>
          <p:cNvPr id="688" name="Shape 14"/>
          <p:cNvSpPr/>
          <p:nvPr/>
        </p:nvSpPr>
        <p:spPr>
          <a:xfrm>
            <a:off x="548640" y="4114800"/>
            <a:ext cx="5440320" cy="1279800"/>
          </a:xfrm>
          <a:prstGeom prst="roundRect">
            <a:avLst>
              <a:gd name="adj" fmla="val 5714"/>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89" name="Text 15"/>
          <p:cNvSpPr/>
          <p:nvPr/>
        </p:nvSpPr>
        <p:spPr>
          <a:xfrm>
            <a:off x="777240" y="422460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UI coverage</a:t>
            </a:r>
            <a:endParaRPr lang="en-IN" sz="1600" b="0" u="none" strike="noStrike">
              <a:solidFill>
                <a:srgbClr val="000000"/>
              </a:solidFill>
              <a:effectLst/>
              <a:uFillTx/>
              <a:latin typeface="Arial"/>
            </a:endParaRPr>
          </a:p>
        </p:txBody>
      </p:sp>
      <p:sp>
        <p:nvSpPr>
          <p:cNvPr id="690" name="Text 16"/>
          <p:cNvSpPr/>
          <p:nvPr/>
        </p:nvSpPr>
        <p:spPr>
          <a:xfrm>
            <a:off x="777240" y="4663440"/>
            <a:ext cx="49374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Experiment configuration is available through the API but not exposed in the UI. Next: expose warm-up, replications, experiment factors and thresholds.</a:t>
            </a:r>
            <a:endParaRPr lang="en-IN" sz="1300" b="0" u="none" strike="noStrike">
              <a:solidFill>
                <a:srgbClr val="000000"/>
              </a:solidFill>
              <a:effectLst/>
              <a:uFillTx/>
              <a:latin typeface="Arial"/>
            </a:endParaRPr>
          </a:p>
        </p:txBody>
      </p:sp>
      <p:sp>
        <p:nvSpPr>
          <p:cNvPr id="691" name="Shape 17"/>
          <p:cNvSpPr/>
          <p:nvPr/>
        </p:nvSpPr>
        <p:spPr>
          <a:xfrm>
            <a:off x="6172200" y="4114800"/>
            <a:ext cx="5440320" cy="1279800"/>
          </a:xfrm>
          <a:prstGeom prst="roundRect">
            <a:avLst>
              <a:gd name="adj" fmla="val 5714"/>
            </a:avLst>
          </a:prstGeom>
          <a:solidFill>
            <a:srgbClr val="FFFFFF"/>
          </a:solidFill>
          <a:ln w="15875">
            <a:solidFill>
              <a:srgbClr val="F28C28"/>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92" name="Text 18"/>
          <p:cNvSpPr/>
          <p:nvPr/>
        </p:nvSpPr>
        <p:spPr>
          <a:xfrm>
            <a:off x="6400800" y="4224600"/>
            <a:ext cx="4937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4213D"/>
                </a:solidFill>
                <a:effectLst/>
                <a:uFillTx/>
                <a:latin typeface="Georgia"/>
                <a:ea typeface="Georgia"/>
              </a:rPr>
              <a:t>API validation</a:t>
            </a:r>
            <a:endParaRPr lang="en-IN" sz="1600" b="0" u="none" strike="noStrike">
              <a:solidFill>
                <a:srgbClr val="000000"/>
              </a:solidFill>
              <a:effectLst/>
              <a:uFillTx/>
              <a:latin typeface="Arial"/>
            </a:endParaRPr>
          </a:p>
        </p:txBody>
      </p:sp>
      <p:sp>
        <p:nvSpPr>
          <p:cNvPr id="693" name="Text 19"/>
          <p:cNvSpPr/>
          <p:nvPr/>
        </p:nvSpPr>
        <p:spPr>
          <a:xfrm>
            <a:off x="6400800" y="4663440"/>
            <a:ext cx="49374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2B2B"/>
                </a:solidFill>
                <a:effectLst/>
                <a:uFillTx/>
                <a:latin typeface="Calibri"/>
                <a:ea typeface="Calibri"/>
              </a:rPr>
              <a:t>Empty machine lists, duplicate IDs and category/skill mismatches are not rejected. Next: validate categories, IDs and experiment bounds.</a:t>
            </a:r>
            <a:endParaRPr lang="en-IN" sz="1300" b="0" u="none" strike="noStrike">
              <a:solidFill>
                <a:srgbClr val="000000"/>
              </a:solidFill>
              <a:effectLst/>
              <a:uFillTx/>
              <a:latin typeface="Arial"/>
            </a:endParaRPr>
          </a:p>
        </p:txBody>
      </p:sp>
      <p:sp>
        <p:nvSpPr>
          <p:cNvPr id="694" name="Shape 20"/>
          <p:cNvSpPr/>
          <p:nvPr/>
        </p:nvSpPr>
        <p:spPr>
          <a:xfrm>
            <a:off x="548640" y="5577840"/>
            <a:ext cx="11063880" cy="685440"/>
          </a:xfrm>
          <a:prstGeom prst="roundRect">
            <a:avLst>
              <a:gd name="adj" fmla="val 10667"/>
            </a:avLst>
          </a:prstGeom>
          <a:solidFill>
            <a:srgbClr val="14213D"/>
          </a:solidFill>
          <a:ln w="15875">
            <a:solidFill>
              <a:srgbClr val="14213D"/>
            </a:solidFill>
            <a:round/>
          </a:ln>
        </p:spPr>
        <p:style>
          <a:lnRef idx="0"/>
          <a:fillRef idx="0"/>
          <a:effectRef idx="0"/>
          <a:fontRef idx="minor"/>
        </p:style>
        <p:txBody>
          <a:bodyPr lIns="90000" tIns="45000" rIns="90000" bIns="45000" anchor="t">
            <a:noAutofit/>
          </a:bodyPr>
          <a:p>
            <a:endParaRPr lang="en-IN" sz="1800" b="0" u="none" strike="noStrike">
              <a:solidFill>
                <a:schemeClr val="dk1"/>
              </a:solidFill>
              <a:effectLst/>
              <a:uFillTx/>
              <a:latin typeface="Calibri"/>
            </a:endParaRPr>
          </a:p>
        </p:txBody>
      </p:sp>
      <p:sp>
        <p:nvSpPr>
          <p:cNvPr id="695" name="Text 21"/>
          <p:cNvSpPr/>
          <p:nvPr/>
        </p:nvSpPr>
        <p:spPr>
          <a:xfrm>
            <a:off x="640080" y="5577840"/>
            <a:ext cx="1088100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Calibri"/>
                <a:ea typeface="Calibri"/>
              </a:rPr>
              <a:t>Also planned: configurable experiment thresholds with a distinct “no feasible staffing level” result, automated tests, and clearer metrics terminology.</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696" name="Text 0"/>
          <p:cNvSpPr/>
          <p:nvPr/>
        </p:nvSpPr>
        <p:spPr>
          <a:xfrm>
            <a:off x="0" y="2377440"/>
            <a:ext cx="1218852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400" b="1" u="none" strike="noStrike">
                <a:solidFill>
                  <a:srgbClr val="F28C28"/>
                </a:solidFill>
                <a:effectLst/>
                <a:uFillTx/>
                <a:latin typeface="Georgia"/>
                <a:ea typeface="Georgia"/>
              </a:rPr>
              <a:t>Thank You</a:t>
            </a:r>
            <a:endParaRPr lang="en-IN" sz="5400" b="0" u="none" strike="noStrike">
              <a:solidFill>
                <a:srgbClr val="FFFFFF"/>
              </a:solidFill>
              <a:effectLst/>
              <a:uFillTx/>
              <a:latin typeface="Arial"/>
            </a:endParaRPr>
          </a:p>
        </p:txBody>
      </p:sp>
      <p:sp>
        <p:nvSpPr>
          <p:cNvPr id="697" name="Text 1"/>
          <p:cNvSpPr/>
          <p:nvPr/>
        </p:nvSpPr>
        <p:spPr>
          <a:xfrm>
            <a:off x="0" y="3566160"/>
            <a:ext cx="121885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u="none" strike="noStrike">
                <a:solidFill>
                  <a:srgbClr val="FFFFFF"/>
                </a:solidFill>
                <a:effectLst/>
                <a:uFillTx/>
                <a:latin typeface="Calibri"/>
                <a:ea typeface="Calibri"/>
              </a:rPr>
              <a:t>Questions?</a:t>
            </a:r>
            <a:endParaRPr lang="en-IN" sz="2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docProps/app.xml><?xml version="1.0" encoding="utf-8"?>
<Properties xmlns="http://schemas.openxmlformats.org/officeDocument/2006/extended-properties" xmlns:vt="http://schemas.openxmlformats.org/officeDocument/2006/docPropsVTypes">
  <Template/>
  <TotalTime>46</TotalTime>
  <Application>LibreOffice/26.2.6.3$Linux_X86_64 LibreOffice_project/620$Build-3</Application>
  <AppVersion>15.0000</AppVersion>
  <Words>3547</Words>
  <Paragraphs>559</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2026-09-29T20:25:29Z</dcterms:created>
  <dc:creator>PptxGenJS</dc:creator>
  <dc:description/>
  <dc:language>en-IN</dc:language>
  <cp:lastModifiedBy/>
  <dcterms:modified xsi:type="dcterms:W3CDTF">2026-09-30T08:25:21Z</dcterms:modified>
  <cp:revision>6</cp:revision>
  <dc:subject>PptxGenJS Presentation</dc:subject>
  <dc:title>Factory Adjuster Simulation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27</vt:i4>
  </property>
  <property fmtid="{D5CDD505-2E9C-101B-9397-08002B2CF9AE}" pid="3" name="PresentationFormat">
    <vt:lpwstr>Widescreen</vt:lpwstr>
  </property>
  <property fmtid="{D5CDD505-2E9C-101B-9397-08002B2CF9AE}" pid="4" name="Slides">
    <vt:i4>27</vt:i4>
  </property>
</Properties>
</file>